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8bb28567e14fd7" /><Relationship Type="http://schemas.openxmlformats.org/officeDocument/2006/relationships/extended-properties" Target="/docProps/app.xml" Id="R5126bf2bc7ab47b4" /><Relationship Type="http://schemas.openxmlformats.org/officeDocument/2006/relationships/officeDocument" Target="/ppt/presentation.xml" Id="Rde8956a947964c65" /></Relationships>
</file>

<file path=ppt/presentation.xml><?xml version="1.0" encoding="utf-8"?>
<p:presentation xmlns:p="http://schemas.openxmlformats.org/presentationml/2006/main">
  <p:sldMasterIdLst>
    <p:sldMasterId xmlns:r="http://schemas.openxmlformats.org/officeDocument/2006/relationships" id="2147483648" r:id="Rccad5b464aae4555"/>
  </p:sldMasterIdLst>
  <p:notesMasterIdLst>
    <p:notesMasterId xmlns:r="http://schemas.openxmlformats.org/officeDocument/2006/relationships" r:id="Rd6dc333df4b3445c"/>
  </p:notesMasterIdLst>
  <p:sldIdLst>
    <p:sldId xmlns:r="http://schemas.openxmlformats.org/officeDocument/2006/relationships" id="256" r:id="Re0396537530944b0"/>
    <p:sldId xmlns:r="http://schemas.openxmlformats.org/officeDocument/2006/relationships" id="257" r:id="R5a60a30c273d4ed1"/>
    <p:sldId xmlns:r="http://schemas.openxmlformats.org/officeDocument/2006/relationships" id="258" r:id="Re2ac6040136a41b7"/>
    <p:sldId xmlns:r="http://schemas.openxmlformats.org/officeDocument/2006/relationships" id="259" r:id="R64153e023f744d97"/>
    <p:sldId xmlns:r="http://schemas.openxmlformats.org/officeDocument/2006/relationships" id="260" r:id="R3aed09a290514d43"/>
    <p:sldId xmlns:r="http://schemas.openxmlformats.org/officeDocument/2006/relationships" id="261" r:id="R8206b9702c074cc3"/>
    <p:sldId xmlns:r="http://schemas.openxmlformats.org/officeDocument/2006/relationships" id="262" r:id="Rc02669d194994d7d"/>
    <p:sldId xmlns:r="http://schemas.openxmlformats.org/officeDocument/2006/relationships" id="263" r:id="R3c3941760e414141"/>
    <p:sldId xmlns:r="http://schemas.openxmlformats.org/officeDocument/2006/relationships" id="264" r:id="R8a672a8055044737"/>
    <p:sldId xmlns:r="http://schemas.openxmlformats.org/officeDocument/2006/relationships" id="265" r:id="R77549e5cf55f45da"/>
    <p:sldId xmlns:r="http://schemas.openxmlformats.org/officeDocument/2006/relationships" id="266" r:id="Rd059cf3a2ae946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6e85869369439b" /><Relationship Type="http://schemas.openxmlformats.org/officeDocument/2006/relationships/slideMaster" Target="/ppt/slideMasters/slideMaster1.xml" Id="Rccad5b464aae4555" /><Relationship Type="http://schemas.openxmlformats.org/officeDocument/2006/relationships/notesMaster" Target="/ppt/notesMasters/notesMaster1.xml" Id="Rd6dc333df4b3445c" /><Relationship Type="http://schemas.openxmlformats.org/officeDocument/2006/relationships/presProps" Target="/ppt/presProps.xml" Id="Rcf9ac628766a404e" /><Relationship Type="http://schemas.openxmlformats.org/officeDocument/2006/relationships/tableStyles" Target="/ppt/tableStyles.xml" Id="Rc6149f8ae301454e" /><Relationship Type="http://schemas.openxmlformats.org/officeDocument/2006/relationships/slide" Target="/ppt/slides/slide1.xml" Id="Re0396537530944b0" /><Relationship Type="http://schemas.openxmlformats.org/officeDocument/2006/relationships/slide" Target="/ppt/slides/slide2.xml" Id="R5a60a30c273d4ed1" /><Relationship Type="http://schemas.openxmlformats.org/officeDocument/2006/relationships/slide" Target="/ppt/slides/slide3.xml" Id="Re2ac6040136a41b7" /><Relationship Type="http://schemas.openxmlformats.org/officeDocument/2006/relationships/slide" Target="/ppt/slides/slide4.xml" Id="R64153e023f744d97" /><Relationship Type="http://schemas.openxmlformats.org/officeDocument/2006/relationships/slide" Target="/ppt/slides/slide5.xml" Id="R3aed09a290514d43" /><Relationship Type="http://schemas.openxmlformats.org/officeDocument/2006/relationships/slide" Target="/ppt/slides/slide6.xml" Id="R8206b9702c074cc3" /><Relationship Type="http://schemas.openxmlformats.org/officeDocument/2006/relationships/slide" Target="/ppt/slides/slide7.xml" Id="Rc02669d194994d7d" /><Relationship Type="http://schemas.openxmlformats.org/officeDocument/2006/relationships/slide" Target="/ppt/slides/slide8.xml" Id="R3c3941760e414141" /><Relationship Type="http://schemas.openxmlformats.org/officeDocument/2006/relationships/slide" Target="/ppt/slides/slide9.xml" Id="R8a672a8055044737" /><Relationship Type="http://schemas.openxmlformats.org/officeDocument/2006/relationships/slide" Target="/ppt/slides/slide10.xml" Id="R77549e5cf55f45da" /><Relationship Type="http://schemas.openxmlformats.org/officeDocument/2006/relationships/slide" Target="/ppt/slides/slide11.xml" Id="Rd059cf3a2ae946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8474003ca34d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a2200b0f7740b1" /><Relationship Type="http://schemas.openxmlformats.org/officeDocument/2006/relationships/notesMaster" Target="/ppt/notesMasters/notesMaster1.xml" Id="R10814e301ee149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c28cde010c467b" /><Relationship Type="http://schemas.openxmlformats.org/officeDocument/2006/relationships/notesMaster" Target="/ppt/notesMasters/notesMaster1.xml" Id="Re37e874e4a5b44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1c5a9e393f458a" /><Relationship Type="http://schemas.openxmlformats.org/officeDocument/2006/relationships/notesMaster" Target="/ppt/notesMasters/notesMaster1.xml" Id="Rb0890d1d19874c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1729b1a41441dc" /><Relationship Type="http://schemas.openxmlformats.org/officeDocument/2006/relationships/notesMaster" Target="/ppt/notesMasters/notesMaster1.xml" Id="Rb997d810e89b46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3f002036784fc2" /><Relationship Type="http://schemas.openxmlformats.org/officeDocument/2006/relationships/notesMaster" Target="/ppt/notesMasters/notesMaster1.xml" Id="R32b79389b7e843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725bae36544e7" /><Relationship Type="http://schemas.openxmlformats.org/officeDocument/2006/relationships/notesMaster" Target="/ppt/notesMasters/notesMaster1.xml" Id="Rd6fdcf5c24aa4a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c8f79afe55429a" /><Relationship Type="http://schemas.openxmlformats.org/officeDocument/2006/relationships/notesMaster" Target="/ppt/notesMasters/notesMaster1.xml" Id="R1fdb6dae4993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7fc1544407426d" /><Relationship Type="http://schemas.openxmlformats.org/officeDocument/2006/relationships/notesMaster" Target="/ppt/notesMasters/notesMaster1.xml" Id="Rfc37b35fd5da46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8cd43210cf4855" /><Relationship Type="http://schemas.openxmlformats.org/officeDocument/2006/relationships/notesMaster" Target="/ppt/notesMasters/notesMaster1.xml" Id="Rdf03169ea13c49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a0a70a21044908" /><Relationship Type="http://schemas.openxmlformats.org/officeDocument/2006/relationships/notesMaster" Target="/ppt/notesMasters/notesMaster1.xml" Id="Rf265daab3ca541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4d33a3c183425e" /><Relationship Type="http://schemas.openxmlformats.org/officeDocument/2006/relationships/notesMaster" Target="/ppt/notesMasters/notesMaster1.xml" Id="R2c2b3f5f304b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Trusted automation can carry an attacker’s change farther than the attacker could move alone.</a:t>
            </a:r>
          </a:p>
          <a:p xmlns:a="http://schemas.openxmlformats.org/drawingml/2006/main">
            <a:r>
              <a:t/>
            </a:r>
          </a:p>
          <a:p xmlns:a="http://schemas.openxmlformats.org/drawingml/2006/main">
            <a:r>
              <a:t>SUGGESTED OPENING</a:t>
            </a:r>
          </a:p>
          <a:p xmlns:a="http://schemas.openxmlformats.org/drawingml/2006/main">
            <a:r>
              <a:t>Most software reaches us through automation. A developer proposes a change, machines test it, package it, and often deploy it. That speed depends on trust. This session looks at what happens when someone changes the instructions inside that trusted process.</a:t>
            </a:r>
          </a:p>
          <a:p xmlns:a="http://schemas.openxmlformats.org/drawingml/2006/main">
            <a:r>
              <a:t/>
            </a:r>
          </a:p>
          <a:p xmlns:a="http://schemas.openxmlformats.org/drawingml/2006/main">
            <a:r>
              <a:t>ANALOGY</a:t>
            </a:r>
          </a:p>
          <a:p xmlns:a="http://schemas.openxmlformats.org/drawingml/2006/main">
            <a:r>
              <a:t>A factory can produce the wrong product while every machine works perfectly if somebody changes the approved recipe.</a:t>
            </a:r>
          </a:p>
          <a:p xmlns:a="http://schemas.openxmlformats.org/drawingml/2006/main">
            <a:r>
              <a:t/>
            </a:r>
          </a:p>
          <a:p xmlns:a="http://schemas.openxmlformats.org/drawingml/2006/main">
            <a:r>
              <a:t>PRESENTER CONTEXT</a:t>
            </a:r>
          </a:p>
          <a:p xmlns:a="http://schemas.openxmlformats.org/drawingml/2006/main">
            <a:r>
              <a:t>The session uses a local lab and fake values. The attack paths matter more than the payloads.</a:t>
            </a:r>
          </a:p>
          <a:p xmlns:a="http://schemas.openxmlformats.org/drawingml/2006/main">
            <a:r>
              <a:t/>
            </a:r>
          </a:p>
          <a:p xmlns:a="http://schemas.openxmlformats.org/drawingml/2006/main">
            <a:r>
              <a:t>AVOID</a:t>
            </a:r>
          </a:p>
          <a:p xmlns:a="http://schemas.openxmlformats.org/drawingml/2006/main">
            <a:r>
              <a:t>Do not imply that every code change reaches production automatically. Review rules, triggers, and approval gates differ between organizations.</a:t>
            </a:r>
          </a:p>
          <a:p xmlns:a="http://schemas.openxmlformats.org/drawingml/2006/main">
            <a:r>
              <a:t/>
            </a:r>
          </a:p>
          <a:p xmlns:a="http://schemas.openxmlformats.org/drawingml/2006/main">
            <a:r>
              <a:t>TRANSITION</a:t>
            </a:r>
          </a:p>
          <a:p xmlns:a="http://schemas.openxmlformats.org/drawingml/2006/main">
            <a:r>
              <a:t>Before looking at the attack, we need a shared picture of how software normally becomes a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A running application comes from a chain of people, recorded changes, automated checks, a release artifact, and deployment.</a:t>
            </a:r>
          </a:p>
          <a:p xmlns:a="http://schemas.openxmlformats.org/drawingml/2006/main">
            <a:r>
              <a:t/>
            </a:r>
          </a:p>
          <a:p xmlns:a="http://schemas.openxmlformats.org/drawingml/2006/main">
            <a:r>
              <a:t>TALK TRACK</a:t>
            </a:r>
          </a:p>
          <a:p xmlns:a="http://schemas.openxmlformats.org/drawingml/2006/main">
            <a:r>
              <a:t>A developer changes code and records the change in Git. A review may happen before it joins the main version. The pipeline builds and checks it. The result becomes a release artifact, which is the exact package intended for delivery. Deployment moves that package into an environment where it runs.</a:t>
            </a:r>
          </a:p>
          <a:p xmlns:a="http://schemas.openxmlformats.org/drawingml/2006/main">
            <a:r>
              <a:t/>
            </a:r>
          </a:p>
          <a:p xmlns:a="http://schemas.openxmlformats.org/drawingml/2006/main">
            <a:r>
              <a:t>DEFINITIONS</a:t>
            </a:r>
          </a:p>
          <a:p xmlns:a="http://schemas.openxmlformats.org/drawingml/2006/main">
            <a:r>
              <a:t>Git is the shared history of code and changes. CI/CD is the automated path that checks, packages, and delivers a change. SSDLC means security work throughout development and delivery, not one final scan.</a:t>
            </a:r>
          </a:p>
          <a:p xmlns:a="http://schemas.openxmlformats.org/drawingml/2006/main">
            <a:r>
              <a:t/>
            </a:r>
          </a:p>
          <a:p xmlns:a="http://schemas.openxmlformats.org/drawingml/2006/main">
            <a:r>
              <a:t>ANALOGY</a:t>
            </a:r>
          </a:p>
          <a:p xmlns:a="http://schemas.openxmlformats.org/drawingml/2006/main">
            <a:r>
              <a:t>Git resembles a shared document history where every accepted edit has an author and a version. The difference is that the repository may also contain instructions for an automated factory.</a:t>
            </a:r>
          </a:p>
          <a:p xmlns:a="http://schemas.openxmlformats.org/drawingml/2006/main">
            <a:r>
              <a:t/>
            </a:r>
          </a:p>
          <a:p xmlns:a="http://schemas.openxmlformats.org/drawingml/2006/main">
            <a:r>
              <a:t>TECHNICAL DETAIL</a:t>
            </a:r>
          </a:p>
          <a:p xmlns:a="http://schemas.openxmlformats.org/drawingml/2006/main">
            <a:r>
              <a:t>CI usually covers integration, build, and test. CD may mean delivery or deployment depending on the organization. Some environments deploy automatically after checks, while others require approval.</a:t>
            </a:r>
          </a:p>
          <a:p xmlns:a="http://schemas.openxmlformats.org/drawingml/2006/main">
            <a:r>
              <a:t/>
            </a:r>
          </a:p>
          <a:p xmlns:a="http://schemas.openxmlformats.org/drawingml/2006/main">
            <a:r>
              <a:t>AVOID</a:t>
            </a:r>
          </a:p>
          <a:p xmlns:a="http://schemas.openxmlformats.org/drawingml/2006/main">
            <a:r>
              <a:t>Do not suggest deployment always belongs to the same tool as the build. Treat it as a separate stage and trust boundary.</a:t>
            </a:r>
          </a:p>
          <a:p xmlns:a="http://schemas.openxmlformats.org/drawingml/2006/main">
            <a:r>
              <a:t/>
            </a:r>
          </a:p>
          <a:p xmlns:a="http://schemas.openxmlformats.org/drawingml/2006/main">
            <a:r>
              <a:t>TRANSITION</a:t>
            </a:r>
          </a:p>
          <a:p xmlns:a="http://schemas.openxmlformats.org/drawingml/2006/main">
            <a:r>
              <a:t>Automation can perform this work only because we give it instructions and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The pipeline follows repository-controlled instructions while using access supplied by the organization.</a:t>
            </a:r>
          </a:p>
          <a:p xmlns:a="http://schemas.openxmlformats.org/drawingml/2006/main">
            <a:r>
              <a:t/>
            </a:r>
          </a:p>
          <a:p xmlns:a="http://schemas.openxmlformats.org/drawingml/2006/main">
            <a:r>
              <a:t>TALK TRACK</a:t>
            </a:r>
          </a:p>
          <a:p xmlns:a="http://schemas.openxmlformats.org/drawingml/2006/main">
            <a:r>
              <a:t>This file describes one automated job. The secret itself does not sit in the repository. The file refers to a name, and the CI system supplies the stored value when the job runs. The legitimate deployment step needs a non-human identity so the target accepts the release.</a:t>
            </a:r>
          </a:p>
          <a:p xmlns:a="http://schemas.openxmlformats.org/drawingml/2006/main">
            <a:r>
              <a:t/>
            </a:r>
          </a:p>
          <a:p xmlns:a="http://schemas.openxmlformats.org/drawingml/2006/main">
            <a:r>
              <a:t>ANALOGY</a:t>
            </a:r>
          </a:p>
          <a:p xmlns:a="http://schemas.openxmlformats.org/drawingml/2006/main">
            <a:r>
              <a:t>An employee badge may be legitimate, but the task performed with it still matters. The same applies to a pipeline identity.</a:t>
            </a:r>
          </a:p>
          <a:p xmlns:a="http://schemas.openxmlformats.org/drawingml/2006/main">
            <a:r>
              <a:t/>
            </a:r>
          </a:p>
          <a:p xmlns:a="http://schemas.openxmlformats.org/drawingml/2006/main">
            <a:r>
              <a:t>TECHNICAL DETAIL</a:t>
            </a:r>
          </a:p>
          <a:p xmlns:a="http://schemas.openxmlformats.org/drawingml/2006/main">
            <a:r>
              <a:t>Organizations may call the non-human identity a service account or service principal. The exact secret mechanism differs by CI platform. Environment protection, branch rules, and job permissions can limit when values become available.</a:t>
            </a:r>
          </a:p>
          <a:p xmlns:a="http://schemas.openxmlformats.org/drawingml/2006/main">
            <a:r>
              <a:t/>
            </a:r>
          </a:p>
          <a:p xmlns:a="http://schemas.openxmlformats.org/drawingml/2006/main">
            <a:r>
              <a:t>WHY THIS MATTERS</a:t>
            </a:r>
          </a:p>
          <a:p xmlns:a="http://schemas.openxmlformats.org/drawingml/2006/main">
            <a:r>
              <a:t>If an attacker can change the workflow, another step in the same authorized job may reference values that the legitimate step already uses.</a:t>
            </a:r>
          </a:p>
          <a:p xmlns:a="http://schemas.openxmlformats.org/drawingml/2006/main">
            <a:r>
              <a:t/>
            </a:r>
          </a:p>
          <a:p xmlns:a="http://schemas.openxmlformats.org/drawingml/2006/main">
            <a:r>
              <a:t>AVOID</a:t>
            </a:r>
          </a:p>
          <a:p xmlns:a="http://schemas.openxmlformats.org/drawingml/2006/main">
            <a:r>
              <a:t>Do not claim every job receives every secret or deployment permission. Access depends on the job, branch, environment, and organization.</a:t>
            </a:r>
          </a:p>
          <a:p xmlns:a="http://schemas.openxmlformats.org/drawingml/2006/main">
            <a:r>
              <a:t/>
            </a:r>
          </a:p>
          <a:p xmlns:a="http://schemas.openxmlformats.org/drawingml/2006/main">
            <a:r>
              <a:t>TRANSITION</a:t>
            </a:r>
          </a:p>
          <a:p xmlns:a="http://schemas.openxmlformats.org/drawingml/2006/main">
            <a:r>
              <a:t>That trust can move toward production, but the repository can also reach back toward the people who work with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A source-control foothold can move downstream toward production or back toward developers.</a:t>
            </a:r>
          </a:p>
          <a:p xmlns:a="http://schemas.openxmlformats.org/drawingml/2006/main">
            <a:r>
              <a:t/>
            </a:r>
          </a:p>
          <a:p xmlns:a="http://schemas.openxmlformats.org/drawingml/2006/main">
            <a:r>
              <a:t>TALK TRACK</a:t>
            </a:r>
          </a:p>
          <a:p xmlns:a="http://schemas.openxmlformats.org/drawingml/2006/main">
            <a:r>
              <a:t>A stolen developer account can change application code or pipeline instructions. The delivery path can carry that change toward production. The direction can also reverse. A developer may pull a normal-looking repository and later run its setup, test, or start task. That task can then act with the developer process’s access.</a:t>
            </a:r>
          </a:p>
          <a:p xmlns:a="http://schemas.openxmlformats.org/drawingml/2006/main">
            <a:r>
              <a:t/>
            </a:r>
          </a:p>
          <a:p xmlns:a="http://schemas.openxmlformats.org/drawingml/2006/main">
            <a:r>
              <a:t>TECHNICAL DETAIL</a:t>
            </a:r>
          </a:p>
          <a:p xmlns:a="http://schemas.openxmlformats.org/drawingml/2006/main">
            <a:r>
              <a:t>The two paths may form a loop. One compromised identity enables repository contamination, and a contaminated developer task may expose another identity.</a:t>
            </a:r>
          </a:p>
          <a:p xmlns:a="http://schemas.openxmlformats.org/drawingml/2006/main">
            <a:r>
              <a:t/>
            </a:r>
          </a:p>
          <a:p xmlns:a="http://schemas.openxmlformats.org/drawingml/2006/main">
            <a:r>
              <a:t>AVOID</a:t>
            </a:r>
          </a:p>
          <a:p xmlns:a="http://schemas.openxmlformats.org/drawingml/2006/main">
            <a:r>
              <a:t>Pulling a repository only downloads files in this scenario. Do not describe the pull as the execution trigger.</a:t>
            </a:r>
          </a:p>
          <a:p xmlns:a="http://schemas.openxmlformats.org/drawingml/2006/main">
            <a:r>
              <a:t/>
            </a:r>
          </a:p>
          <a:p xmlns:a="http://schemas.openxmlformats.org/drawingml/2006/main">
            <a:r>
              <a:t>TRANSITION</a:t>
            </a:r>
          </a:p>
          <a:p xmlns:a="http://schemas.openxmlformats.org/drawingml/2006/main">
            <a:r>
              <a:t>Those two directions lead to three different execution 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The execution location determines what the contaminated instructions can reach.</a:t>
            </a:r>
          </a:p>
          <a:p xmlns:a="http://schemas.openxmlformats.org/drawingml/2006/main">
            <a:r>
              <a:t/>
            </a:r>
          </a:p>
          <a:p xmlns:a="http://schemas.openxmlformats.org/drawingml/2006/main">
            <a:r>
              <a:t>TALK TRACK</a:t>
            </a:r>
          </a:p>
          <a:p xmlns:a="http://schemas.openxmlformats.org/drawingml/2006/main">
            <a:r>
              <a:t>The same repository access can lead to different consequences. In the pipeline, a changed instruction may reach values assigned to the job. In the deployed application, browser code can affect users while server code can read configuration available to the application identity. In a development task, the code acts with the developer process’s permissions.</a:t>
            </a:r>
          </a:p>
          <a:p xmlns:a="http://schemas.openxmlformats.org/drawingml/2006/main">
            <a:r>
              <a:t/>
            </a:r>
          </a:p>
          <a:p xmlns:a="http://schemas.openxmlformats.org/drawingml/2006/main">
            <a:r>
              <a:t>PRESENTER CONTEXT</a:t>
            </a:r>
          </a:p>
          <a:p xmlns:a="http://schemas.openxmlformats.org/drawingml/2006/main">
            <a:r>
              <a:t>These are the three scenarios in the take-home lab. The pipeline scenario is the live demonstration. The application and developer scenarios use short recordings.</a:t>
            </a:r>
          </a:p>
          <a:p xmlns:a="http://schemas.openxmlformats.org/drawingml/2006/main">
            <a:r>
              <a:t/>
            </a:r>
          </a:p>
          <a:p xmlns:a="http://schemas.openxmlformats.org/drawingml/2006/main">
            <a:r>
              <a:t>AVOID</a:t>
            </a:r>
          </a:p>
          <a:p xmlns:a="http://schemas.openxmlformats.org/drawingml/2006/main">
            <a:r>
              <a:t>Access comes from the execution identity. A contaminated application or developer task does not automatically receive administrator or root access.</a:t>
            </a:r>
          </a:p>
          <a:p xmlns:a="http://schemas.openxmlformats.org/drawingml/2006/main">
            <a:r>
              <a:t/>
            </a:r>
          </a:p>
          <a:p xmlns:a="http://schemas.openxmlformats.org/drawingml/2006/main">
            <a:r>
              <a:t>TRANSITION</a:t>
            </a:r>
          </a:p>
          <a:p xmlns:a="http://schemas.openxmlformats.org/drawingml/2006/main">
            <a:r>
              <a:t>The pipeline scenario shows the trust problem with the fewest moving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The runner follows a changed workflow instruction and uses access legitimately supplied to the job.</a:t>
            </a:r>
          </a:p>
          <a:p xmlns:a="http://schemas.openxmlformats.org/drawingml/2006/main">
            <a:r>
              <a:t/>
            </a:r>
          </a:p>
          <a:p xmlns:a="http://schemas.openxmlformats.org/drawingml/2006/main">
            <a:r>
              <a:t>DEMO SEQUENCE</a:t>
            </a:r>
          </a:p>
          <a:p xmlns:a="http://schemas.openxmlformats.org/drawingml/2006/main">
            <a:r>
              <a:t>1. Show the clean workflow at a high level. 2. Run or show the clean build. 3. Confirm that the collector is empty. 4. Show the small workflow change. 5. Commit and push it manually. 6. Observe the runner. 7. Show the collector event containing a fingerprint. 8. Connect the source-control identity, commit, workflow run, and event.</a:t>
            </a:r>
          </a:p>
          <a:p xmlns:a="http://schemas.openxmlformats.org/drawingml/2006/main">
            <a:r>
              <a:t/>
            </a:r>
          </a:p>
          <a:p xmlns:a="http://schemas.openxmlformats.org/drawingml/2006/main">
            <a:r>
              <a:t>TALK TRACK</a:t>
            </a:r>
          </a:p>
          <a:p xmlns:a="http://schemas.openxmlformats.org/drawingml/2006/main">
            <a:r>
              <a:t>Nothing in the build system had to break. The runner accepted a job from the trusted repository and used the access assigned to that job. The security question is whether the changed instruction should have reached this point.</a:t>
            </a:r>
          </a:p>
          <a:p xmlns:a="http://schemas.openxmlformats.org/drawingml/2006/main">
            <a:r>
              <a:t/>
            </a:r>
          </a:p>
          <a:p xmlns:a="http://schemas.openxmlformats.org/drawingml/2006/main">
            <a:r>
              <a:t>DEMO DISCIPLINE</a:t>
            </a:r>
          </a:p>
          <a:p xmlns:a="http://schemas.openxmlformats.org/drawingml/2006/main">
            <a:r>
              <a:t>Explain what changed and which identity executed it. Do not teach every YAML line. If the live path fails, troubleshoot for no more than about 30 seconds, then play the recorded fallback from the beginning.</a:t>
            </a:r>
          </a:p>
          <a:p xmlns:a="http://schemas.openxmlformats.org/drawingml/2006/main">
            <a:r>
              <a:t/>
            </a:r>
          </a:p>
          <a:p xmlns:a="http://schemas.openxmlformats.org/drawingml/2006/main">
            <a:r>
              <a:t>LAB DETAIL</a:t>
            </a:r>
          </a:p>
          <a:p xmlns:a="http://schemas.openxmlformats.org/drawingml/2006/main">
            <a:r>
              <a:t>The collector represents an attacker-controlled endpoint but shares a container with the sample application to keep the attendee environment small. It stores event details and a fingerprint only.</a:t>
            </a:r>
          </a:p>
          <a:p xmlns:a="http://schemas.openxmlformats.org/drawingml/2006/main">
            <a:r>
              <a:t/>
            </a:r>
          </a:p>
          <a:p xmlns:a="http://schemas.openxmlformats.org/drawingml/2006/main">
            <a:r>
              <a:t>TRANSITION</a:t>
            </a:r>
          </a:p>
          <a:p xmlns:a="http://schemas.openxmlformats.org/drawingml/2006/main">
            <a:r>
              <a:t>The pipeline secret is one outcome. The same trusted path can also change the application that reaches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Contamination during the build can add behavior that reviewers never saw in the source tree.</a:t>
            </a:r>
          </a:p>
          <a:p xmlns:a="http://schemas.openxmlformats.org/drawingml/2006/main">
            <a:r>
              <a:t/>
            </a:r>
          </a:p>
          <a:p xmlns:a="http://schemas.openxmlformats.org/drawingml/2006/main">
            <a:r>
              <a:t>VIDEO CUE</a:t>
            </a:r>
          </a:p>
          <a:p xmlns:a="http://schemas.openxmlformats.org/drawingml/2006/main">
            <a:r>
              <a:t>Play the short recording showing the clean reviewed source, the build-time change, a login that still succeeds, the credential-capture event, and a separate event for lab-only server configuration.</a:t>
            </a:r>
          </a:p>
          <a:p xmlns:a="http://schemas.openxmlformats.org/drawingml/2006/main">
            <a:r>
              <a:t/>
            </a:r>
          </a:p>
          <a:p xmlns:a="http://schemas.openxmlformats.org/drawingml/2006/main">
            <a:r>
              <a:t>TALK TRACK</a:t>
            </a:r>
          </a:p>
          <a:p xmlns:a="http://schemas.openxmlformats.org/drawingml/2006/main">
            <a:r>
              <a:t>The login still works, which makes the change less obvious to the user. Browser code can copy what the user enters. Server code can read configuration available to the application identity. Those are separate locations and permissions, even though both came from the same contaminated release.</a:t>
            </a:r>
          </a:p>
          <a:p xmlns:a="http://schemas.openxmlformats.org/drawingml/2006/main">
            <a:r>
              <a:t/>
            </a:r>
          </a:p>
          <a:p xmlns:a="http://schemas.openxmlformats.org/drawingml/2006/main">
            <a:r>
              <a:t>TERMINOLOGY</a:t>
            </a:r>
          </a:p>
          <a:p xmlns:a="http://schemas.openxmlformats.org/drawingml/2006/main">
            <a:r>
              <a:t>Call the browser behavior credential capture or form skimming, not a keylogger. A keylogger suggests system-wide keyboard interception, which this scenario does not perform.</a:t>
            </a:r>
          </a:p>
          <a:p xmlns:a="http://schemas.openxmlformats.org/drawingml/2006/main">
            <a:r>
              <a:t/>
            </a:r>
          </a:p>
          <a:p xmlns:a="http://schemas.openxmlformats.org/drawingml/2006/main">
            <a:r>
              <a:t>TECHNICAL DETAIL</a:t>
            </a:r>
          </a:p>
          <a:p xmlns:a="http://schemas.openxmlformats.org/drawingml/2006/main">
            <a:r>
              <a:t>Browser code cannot read server environment variables. Server code can read only the values available to the application identity. The lab produces separate events for the browser-side and server-side behavior.</a:t>
            </a:r>
          </a:p>
          <a:p xmlns:a="http://schemas.openxmlformats.org/drawingml/2006/main">
            <a:r>
              <a:t/>
            </a:r>
          </a:p>
          <a:p xmlns:a="http://schemas.openxmlformats.org/drawingml/2006/main">
            <a:r>
              <a:t>TRANSITION</a:t>
            </a:r>
          </a:p>
          <a:p xmlns:a="http://schemas.openxmlformats.org/drawingml/2006/main">
            <a:r>
              <a:t>The repository can also affect the people who build and test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A repository-controlled development task can act with the permissions of the developer process.</a:t>
            </a:r>
          </a:p>
          <a:p xmlns:a="http://schemas.openxmlformats.org/drawingml/2006/main">
            <a:r>
              <a:t/>
            </a:r>
          </a:p>
          <a:p xmlns:a="http://schemas.openxmlformats.org/drawingml/2006/main">
            <a:r>
              <a:t>VIDEO CUE</a:t>
            </a:r>
          </a:p>
          <a:p xmlns:a="http://schemas.openxmlformats.org/drawingml/2006/main">
            <a:r>
              <a:t>Show the repository pull, the empty collector, the developer running the documented task, and the resulting fingerprint event.</a:t>
            </a:r>
          </a:p>
          <a:p xmlns:a="http://schemas.openxmlformats.org/drawingml/2006/main">
            <a:r>
              <a:t/>
            </a:r>
          </a:p>
          <a:p xmlns:a="http://schemas.openxmlformats.org/drawingml/2006/main">
            <a:r>
              <a:t>TALK TRACK</a:t>
            </a:r>
          </a:p>
          <a:p xmlns:a="http://schemas.openxmlformats.org/drawingml/2006/main">
            <a:r>
              <a:t>The pull does not execute the repository. The trust decision happens later when the developer runs a familiar setup, test, or start task. At that moment the task inherits whatever the developer process can access.</a:t>
            </a:r>
          </a:p>
          <a:p xmlns:a="http://schemas.openxmlformats.org/drawingml/2006/main">
            <a:r>
              <a:t/>
            </a:r>
          </a:p>
          <a:p xmlns:a="http://schemas.openxmlformats.org/drawingml/2006/main">
            <a:r>
              <a:t>EXAMPLES FOR Q&amp;A</a:t>
            </a:r>
          </a:p>
          <a:p xmlns:a="http://schemas.openxmlformats.org/drawingml/2006/main">
            <a:r>
              <a:t>Comparable execution points include package installation scripts, IDE tasks, build tools, test commands, and development-container hooks. Their behavior depends on the tool and configuration.</a:t>
            </a:r>
          </a:p>
          <a:p xmlns:a="http://schemas.openxmlformats.org/drawingml/2006/main">
            <a:r>
              <a:t/>
            </a:r>
          </a:p>
          <a:p xmlns:a="http://schemas.openxmlformats.org/drawingml/2006/main">
            <a:r>
              <a:t>LAB BOUNDARY</a:t>
            </a:r>
          </a:p>
          <a:p xmlns:a="http://schemas.openxmlformats.org/drawingml/2006/main">
            <a:r>
              <a:t>The lab reads one named fake canary file. It does not search the developer home directory, SSH files, browser data, or cloud configuration.</a:t>
            </a:r>
          </a:p>
          <a:p xmlns:a="http://schemas.openxmlformats.org/drawingml/2006/main">
            <a:r>
              <a:t/>
            </a:r>
          </a:p>
          <a:p xmlns:a="http://schemas.openxmlformats.org/drawingml/2006/main">
            <a:r>
              <a:t>TRANSITION</a:t>
            </a:r>
          </a:p>
          <a:p xmlns:a="http://schemas.openxmlformats.org/drawingml/2006/main">
            <a:r>
              <a:t>These scenarios leave records in different places. Investigation depends on connecting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Responders need identifiers that connect the original change to the build, artifact, deployment, and resulting activity.</a:t>
            </a:r>
          </a:p>
          <a:p xmlns:a="http://schemas.openxmlformats.org/drawingml/2006/main">
            <a:r>
              <a:t/>
            </a:r>
          </a:p>
          <a:p xmlns:a="http://schemas.openxmlformats.org/drawingml/2006/main">
            <a:r>
              <a:t>TALK TRACK</a:t>
            </a:r>
          </a:p>
          <a:p xmlns:a="http://schemas.openxmlformats.org/drawingml/2006/main">
            <a:r>
              <a:t>A source-control alert alone does not tell us what reached production. A network event alone may look like ordinary build traffic. Responders need the connecting identifiers: identity, commit, workflow run, artifact fingerprint, deployment record, and the activity that followed.</a:t>
            </a:r>
          </a:p>
          <a:p xmlns:a="http://schemas.openxmlformats.org/drawingml/2006/main">
            <a:r>
              <a:t/>
            </a:r>
          </a:p>
          <a:p xmlns:a="http://schemas.openxmlformats.org/drawingml/2006/main">
            <a:r>
              <a:t>ANALOGY</a:t>
            </a:r>
          </a:p>
          <a:p xmlns:a="http://schemas.openxmlformats.org/drawingml/2006/main">
            <a:r>
              <a:t>Treat it like a product recall. Investigators need the affected batch, where it went, and who received it, not only the original factory event.</a:t>
            </a:r>
          </a:p>
          <a:p xmlns:a="http://schemas.openxmlformats.org/drawingml/2006/main">
            <a:r>
              <a:t/>
            </a:r>
          </a:p>
          <a:p xmlns:a="http://schemas.openxmlformats.org/drawingml/2006/main">
            <a:r>
              <a:t>INVESTIGATION DETAIL</a:t>
            </a:r>
          </a:p>
          <a:p xmlns:a="http://schemas.openxmlformats.org/drawingml/2006/main">
            <a:r>
              <a:t>Preserve repository and workflow history early. Use the artifact fingerprint to identify every deployment of the exact package. Then join endpoint, container, DNS, proxy, and application records as available.</a:t>
            </a:r>
          </a:p>
          <a:p xmlns:a="http://schemas.openxmlformats.org/drawingml/2006/main">
            <a:r>
              <a:t/>
            </a:r>
          </a:p>
          <a:p xmlns:a="http://schemas.openxmlformats.org/drawingml/2006/main">
            <a:r>
              <a:t>AVOID</a:t>
            </a:r>
          </a:p>
          <a:p xmlns:a="http://schemas.openxmlformats.org/drawingml/2006/main">
            <a:r>
              <a:t>Do not say endpoint tools always miss pipeline activity. Evidence may be incomplete, short-lived, or divided across systems. Coverage depends on the runner and monitoring design.</a:t>
            </a:r>
          </a:p>
          <a:p xmlns:a="http://schemas.openxmlformats.org/drawingml/2006/main">
            <a:r>
              <a:t/>
            </a:r>
          </a:p>
          <a:p xmlns:a="http://schemas.openxmlformats.org/drawingml/2006/main">
            <a:r>
              <a:t>TRANSITION</a:t>
            </a:r>
          </a:p>
          <a:p xmlns:a="http://schemas.openxmlformats.org/drawingml/2006/main">
            <a:r>
              <a:t>Once we can see the chain, we can place controls where they interrupt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Each control limits a specific trust decision or reduces the effect of a contaminated instruction.</a:t>
            </a:r>
          </a:p>
          <a:p xmlns:a="http://schemas.openxmlformats.org/drawingml/2006/main">
            <a:r>
              <a:t/>
            </a:r>
          </a:p>
          <a:p xmlns:a="http://schemas.openxmlformats.org/drawingml/2006/main">
            <a:r>
              <a:t>TALK TRACK</a:t>
            </a:r>
          </a:p>
          <a:p xmlns:a="http://schemas.openxmlformats.org/drawingml/2006/main">
            <a:r>
              <a:t>Independent review makes a hidden workflow change harder to introduce. Limited access reduces what the runner or application can reach. Artifact verification checks whether the package matches the expected build. Network policy makes unexpected destinations visible or unreachable. Connected records shorten investigation and containment.</a:t>
            </a:r>
          </a:p>
          <a:p xmlns:a="http://schemas.openxmlformats.org/drawingml/2006/main">
            <a:r>
              <a:t/>
            </a:r>
          </a:p>
          <a:p xmlns:a="http://schemas.openxmlformats.org/drawingml/2006/main">
            <a:r>
              <a:t>LEADERSHIP ANGLE</a:t>
            </a:r>
          </a:p>
          <a:p xmlns:a="http://schemas.openxmlformats.org/drawingml/2006/main">
            <a:r>
              <a:t>Useful measures include review coverage for sensitive workflow files, the percentage of important releases with verifiable source and artifact links, and the time required to identify every deployment of an affected artifact.</a:t>
            </a:r>
          </a:p>
          <a:p xmlns:a="http://schemas.openxmlformats.org/drawingml/2006/main">
            <a:r>
              <a:t/>
            </a:r>
          </a:p>
          <a:p xmlns:a="http://schemas.openxmlformats.org/drawingml/2006/main">
            <a:r>
              <a:t>OWNERSHIP</a:t>
            </a:r>
          </a:p>
          <a:p xmlns:a="http://schemas.openxmlformats.org/drawingml/2006/main">
            <a:r>
              <a:t>These controls often span development, platform engineering, identity, network security, detection engineering, and incident response. Assign an owner for each boundary and for the evidence joining them.</a:t>
            </a:r>
          </a:p>
          <a:p xmlns:a="http://schemas.openxmlformats.org/drawingml/2006/main">
            <a:r>
              <a:t/>
            </a:r>
          </a:p>
          <a:p xmlns:a="http://schemas.openxmlformats.org/drawingml/2006/main">
            <a:r>
              <a:t>AVOID</a:t>
            </a:r>
          </a:p>
          <a:p xmlns:a="http://schemas.openxmlformats.org/drawingml/2006/main">
            <a:r>
              <a:t>Do not present any single control as sufficient. The scenarios cross several trust boundaries.</a:t>
            </a:r>
          </a:p>
          <a:p xmlns:a="http://schemas.openxmlformats.org/drawingml/2006/main">
            <a:r>
              <a:t/>
            </a:r>
          </a:p>
          <a:p xmlns:a="http://schemas.openxmlformats.org/drawingml/2006/main">
            <a:r>
              <a:t>TRANSITION</a:t>
            </a:r>
          </a:p>
          <a:p xmlns:a="http://schemas.openxmlformats.org/drawingml/2006/main">
            <a:r>
              <a:t>That leaves one question that works for engineers, responders, and leadership.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POINT</a:t>
            </a:r>
          </a:p>
          <a:p xmlns:a="http://schemas.openxmlformats.org/drawingml/2006/main">
            <a:r>
              <a:t>Release traceability turns a broad supply-chain concern into a question the organization can test.</a:t>
            </a:r>
          </a:p>
          <a:p xmlns:a="http://schemas.openxmlformats.org/drawingml/2006/main">
            <a:r>
              <a:t/>
            </a:r>
          </a:p>
          <a:p xmlns:a="http://schemas.openxmlformats.org/drawingml/2006/main">
            <a:r>
              <a:t>CLOSING TALK TRACK</a:t>
            </a:r>
          </a:p>
          <a:p xmlns:a="http://schemas.openxmlformats.org/drawingml/2006/main">
            <a:r>
              <a:t>If an important release becomes suspicious tomorrow, how quickly can we connect it to the approved change, exact build, artifact, and every place it ran? The take-home lab lets you reproduce all three scenarios and examine that evidence yourself.</a:t>
            </a:r>
          </a:p>
          <a:p xmlns:a="http://schemas.openxmlformats.org/drawingml/2006/main">
            <a:r>
              <a:t/>
            </a:r>
          </a:p>
          <a:p xmlns:a="http://schemas.openxmlformats.org/drawingml/2006/main">
            <a:r>
              <a:t>LEAVE ON SCREEN</a:t>
            </a:r>
          </a:p>
          <a:p xmlns:a="http://schemas.openxmlformats.org/drawingml/2006/main">
            <a:r>
              <a:t>Keep this slide visible throughout Q&amp;A. Add the final lab location or QR code only after packaging is complete.</a:t>
            </a:r>
          </a:p>
          <a:p xmlns:a="http://schemas.openxmlformats.org/drawingml/2006/main">
            <a:r>
              <a:t/>
            </a:r>
          </a:p>
          <a:p xmlns:a="http://schemas.openxmlformats.org/drawingml/2006/main">
            <a:r>
              <a:t>Q&amp;A ROUTING</a:t>
            </a:r>
          </a:p>
          <a:p xmlns:a="http://schemas.openxmlformats.org/drawingml/2006/main">
            <a:r>
              <a:t>Engineering questions can focus on where instructions execute and which access they receive. SOC and incident-response questions can focus on evidence and scoping. Leadership questions can focus on ownership, review coverage, traceability, and response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133da6c30a45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4142dc4f2a4374" /><Relationship Type="http://schemas.openxmlformats.org/officeDocument/2006/relationships/slideLayout" Target="/ppt/slideLayouts/slideLayout1.xml" Id="R23ac75c7e3294e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ac75c7e3294e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271119c5ac4ba0" /><Relationship Type="http://schemas.openxmlformats.org/officeDocument/2006/relationships/notesSlide" Target="/ppt/notesSlides/notesSlide1.xml" Id="R95bebfbc379b44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5e6e0194804f3d" /><Relationship Type="http://schemas.openxmlformats.org/officeDocument/2006/relationships/notesSlide" Target="/ppt/notesSlides/notesSlide2.xml" Id="Ra7907dc5ae5d4e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d3a59573c64cb1" /><Relationship Type="http://schemas.openxmlformats.org/officeDocument/2006/relationships/notesSlide" Target="/ppt/notesSlides/notesSlide3.xml" Id="R58483c9728c04c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f1094875124a65" /><Relationship Type="http://schemas.openxmlformats.org/officeDocument/2006/relationships/notesSlide" Target="/ppt/notesSlides/notesSlide4.xml" Id="R3e64bbb2c26c42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52888419864bc9" /><Relationship Type="http://schemas.openxmlformats.org/officeDocument/2006/relationships/notesSlide" Target="/ppt/notesSlides/notesSlide5.xml" Id="R303ce1dfd27142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e43a9287b9420b" /><Relationship Type="http://schemas.openxmlformats.org/officeDocument/2006/relationships/notesSlide" Target="/ppt/notesSlides/notesSlide6.xml" Id="R5b4cf91da31f47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60598f9af6456c" /><Relationship Type="http://schemas.openxmlformats.org/officeDocument/2006/relationships/notesSlide" Target="/ppt/notesSlides/notesSlide7.xml" Id="Rc8db95fdd68242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3f8b6c258f4eb2" /><Relationship Type="http://schemas.openxmlformats.org/officeDocument/2006/relationships/notesSlide" Target="/ppt/notesSlides/notesSlide8.xml" Id="R1539916e84364d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58f40a00664aec" /><Relationship Type="http://schemas.openxmlformats.org/officeDocument/2006/relationships/notesSlide" Target="/ppt/notesSlides/notesSlide9.xml" Id="R2c4894a56fe94b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343948e21c41d1" /><Relationship Type="http://schemas.openxmlformats.org/officeDocument/2006/relationships/notesSlide" Target="/ppt/notesSlides/notesSlide10.xml" Id="Re09458f1d48847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03c3563a57414a" /><Relationship Type="http://schemas.openxmlformats.org/officeDocument/2006/relationships/notesSlide" Target="/ppt/notesSlides/notesSlide11.xml" Id="R7aacd6ce753f4dce" /></Relationships>
</file>

<file path=ppt/slides/slide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580646-1B85-49F6-B641-F7978687428A}"/>
              </a:ext>
            </a:extLst>
          </p:cNvPr>
          <p:cNvSpPr>
            <a:spLocks xmlns:a="http://schemas.openxmlformats.org/drawingml/2006/main" noGrp="1"/>
          </p:cNvSpPr>
          <p:nvPr/>
        </p:nvSpPr>
        <p:spPr>
          <a:xfrm xmlns:a="http://schemas.openxmlformats.org/drawingml/2006/main">
            <a:off x="742950" y="742950"/>
            <a:ext cx="781050" cy="0"/>
          </a:xfrm>
          <a:prstGeom xmlns:a="http://schemas.openxmlformats.org/drawingml/2006/main" prst="line">
            <a:avLst/>
          </a:prstGeom>
          <a:noFill xmlns:a="http://schemas.openxmlformats.org/drawingml/2006/main"/>
          <a:ln xmlns:a="http://schemas.openxmlformats.org/drawingml/2006/main" w="38100">
            <a:solidFill>
              <a:srgbClr val="C65231"/>
            </a:solidFill>
            <a:prstDash val="solid"/>
          </a:ln>
        </p:spPr>
      </p:sp>
      <p:sp>
        <p:nvSpPr>
          <p:cNvPr id="2" name="">
            <a:extLst xmlns:a="http://schemas.openxmlformats.org/drawingml/2006/main">
              <a:ext uri="{FF2B5EF4-FFF2-40B4-BE49-F238E27FC236}">
                <a16:creationId xmlns:a16="http://schemas.microsoft.com/office/drawing/2014/main" id="{13B8779D-2288-42D7-A464-1805A0F2BC81}"/>
              </a:ext>
            </a:extLst>
          </p:cNvPr>
          <p:cNvSpPr>
            <a:spLocks xmlns:a="http://schemas.openxmlformats.org/drawingml/2006/main" noGrp="1"/>
          </p:cNvSpPr>
          <p:nvPr/>
        </p:nvSpPr>
        <p:spPr>
          <a:xfrm xmlns:a="http://schemas.openxmlformats.org/drawingml/2006/main">
            <a:off x="742950" y="1714500"/>
            <a:ext cx="5905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650" b="1">
                <a:solidFill>
                  <a:srgbClr val="17212B"/>
                </a:solidFill>
                <a:latin typeface="Roboto"/>
                <a:ea typeface="Roboto"/>
                <a:cs typeface="Roboto"/>
              </a:defRPr>
            </a:pPr>
            <a:r>
              <a:rPr sz="4650" b="1">
                <a:solidFill>
                  <a:srgbClr val="17212B"/>
                </a:solidFill>
                <a:latin typeface="Roboto"/>
                <a:ea typeface="Roboto"/>
                <a:cs typeface="Roboto"/>
              </a:rPr>
              <a:t>Living Off</a:t>
            </a:r>
          </a:p>
          <a:p xmlns:a="http://schemas.openxmlformats.org/drawingml/2006/main">
            <a:pPr algn="l">
              <a:lnSpc>
                <a:spcPct val="95000"/>
              </a:lnSpc>
              <a:buNone/>
              <a:defRPr sz="4650" b="1">
                <a:solidFill>
                  <a:srgbClr val="17212B"/>
                </a:solidFill>
                <a:latin typeface="Roboto"/>
                <a:ea typeface="Roboto"/>
                <a:cs typeface="Roboto"/>
              </a:defRPr>
            </a:pPr>
            <a:r>
              <a:rPr sz="4650" b="1">
                <a:solidFill>
                  <a:srgbClr val="17212B"/>
                </a:solidFill>
                <a:latin typeface="Roboto"/>
                <a:ea typeface="Roboto"/>
                <a:cs typeface="Roboto"/>
              </a:rPr>
              <a:t>the Pipeline</a:t>
            </a:r>
          </a:p>
        </p:txBody>
      </p:sp>
      <p:sp>
        <p:nvSpPr>
          <p:cNvPr id="3" name="">
            <a:extLst xmlns:a="http://schemas.openxmlformats.org/drawingml/2006/main">
              <a:ext uri="{FF2B5EF4-FFF2-40B4-BE49-F238E27FC236}">
                <a16:creationId xmlns:a16="http://schemas.microsoft.com/office/drawing/2014/main" id="{27586B47-A2A0-4F75-BA8B-0A5ACE6248B5}"/>
              </a:ext>
            </a:extLst>
          </p:cNvPr>
          <p:cNvSpPr>
            <a:spLocks xmlns:a="http://schemas.openxmlformats.org/drawingml/2006/main" noGrp="1"/>
          </p:cNvSpPr>
          <p:nvPr/>
        </p:nvSpPr>
        <p:spPr>
          <a:xfrm xmlns:a="http://schemas.openxmlformats.org/drawingml/2006/main">
            <a:off x="7239000" y="2933700"/>
            <a:ext cx="369570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4" name="">
            <a:extLst xmlns:a="http://schemas.openxmlformats.org/drawingml/2006/main">
              <a:ext uri="{FF2B5EF4-FFF2-40B4-BE49-F238E27FC236}">
                <a16:creationId xmlns:a16="http://schemas.microsoft.com/office/drawing/2014/main" id="{992ABCDF-775D-42A2-ACA2-6A2D1793BE1C}"/>
              </a:ext>
            </a:extLst>
          </p:cNvPr>
          <p:cNvSpPr>
            <a:spLocks xmlns:a="http://schemas.openxmlformats.org/drawingml/2006/main" noGrp="1"/>
          </p:cNvSpPr>
          <p:nvPr/>
        </p:nvSpPr>
        <p:spPr>
          <a:xfrm xmlns:a="http://schemas.openxmlformats.org/drawingml/2006/main">
            <a:off x="7029450" y="2733675"/>
            <a:ext cx="400050" cy="4000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67149"/>
          </a:bodyPr>
          <a:lstStyle xmlns:a="http://schemas.openxmlformats.org/drawingml/2006/main"/>
          <a:p xmlns:a="http://schemas.openxmlformats.org/drawingml/2006/main">
            <a:pPr algn="ctr">
              <a:defRPr sz="1275" b="1">
                <a:solidFill>
                  <a:srgbClr val="255D84"/>
                </a:solidFill>
                <a:latin typeface="Roboto"/>
                <a:ea typeface="Roboto"/>
                <a:cs typeface="Roboto"/>
              </a:defRPr>
            </a:pPr>
            <a:r>
              <a:rPr sz="1275" b="1">
                <a:solidFill>
                  <a:srgbClr val="255D84"/>
                </a:solidFill>
                <a:latin typeface="Roboto"/>
                <a:ea typeface="Roboto"/>
                <a:cs typeface="Roboto"/>
              </a:rPr>
              <a:t>1</a:t>
            </a:r>
          </a:p>
        </p:txBody>
      </p:sp>
      <p:sp>
        <p:nvSpPr>
          <p:cNvPr id="5" name="">
            <a:extLst xmlns:a="http://schemas.openxmlformats.org/drawingml/2006/main">
              <a:ext uri="{FF2B5EF4-FFF2-40B4-BE49-F238E27FC236}">
                <a16:creationId xmlns:a16="http://schemas.microsoft.com/office/drawing/2014/main" id="{85DED09F-F8CF-4B9D-A20A-9268D345D7EE}"/>
              </a:ext>
            </a:extLst>
          </p:cNvPr>
          <p:cNvSpPr>
            <a:spLocks xmlns:a="http://schemas.openxmlformats.org/drawingml/2006/main" noGrp="1"/>
          </p:cNvSpPr>
          <p:nvPr/>
        </p:nvSpPr>
        <p:spPr>
          <a:xfrm xmlns:a="http://schemas.openxmlformats.org/drawingml/2006/main">
            <a:off x="7981950" y="2733675"/>
            <a:ext cx="400050" cy="4000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67149"/>
          </a:bodyPr>
          <a:lstStyle xmlns:a="http://schemas.openxmlformats.org/drawingml/2006/main"/>
          <a:p xmlns:a="http://schemas.openxmlformats.org/drawingml/2006/main">
            <a:pPr algn="ctr">
              <a:defRPr sz="1275" b="1">
                <a:solidFill>
                  <a:srgbClr val="255D84"/>
                </a:solidFill>
                <a:latin typeface="Roboto"/>
                <a:ea typeface="Roboto"/>
                <a:cs typeface="Roboto"/>
              </a:defRPr>
            </a:pPr>
            <a:r>
              <a:rPr sz="1275" b="1">
                <a:solidFill>
                  <a:srgbClr val="255D84"/>
                </a:solidFill>
                <a:latin typeface="Roboto"/>
                <a:ea typeface="Roboto"/>
                <a:cs typeface="Roboto"/>
              </a:rPr>
              <a:t>2</a:t>
            </a:r>
          </a:p>
        </p:txBody>
      </p:sp>
      <p:sp>
        <p:nvSpPr>
          <p:cNvPr id="6" name="">
            <a:extLst xmlns:a="http://schemas.openxmlformats.org/drawingml/2006/main">
              <a:ext uri="{FF2B5EF4-FFF2-40B4-BE49-F238E27FC236}">
                <a16:creationId xmlns:a16="http://schemas.microsoft.com/office/drawing/2014/main" id="{CCEF8243-BEC1-45DD-857F-2B9A49872EAC}"/>
              </a:ext>
            </a:extLst>
          </p:cNvPr>
          <p:cNvSpPr>
            <a:spLocks xmlns:a="http://schemas.openxmlformats.org/drawingml/2006/main" noGrp="1"/>
          </p:cNvSpPr>
          <p:nvPr/>
        </p:nvSpPr>
        <p:spPr>
          <a:xfrm xmlns:a="http://schemas.openxmlformats.org/drawingml/2006/main">
            <a:off x="8934450" y="2638425"/>
            <a:ext cx="590550" cy="590550"/>
          </a:xfrm>
          <a:prstGeom xmlns:a="http://schemas.openxmlformats.org/drawingml/2006/main" prst="ellipse">
            <a:avLst/>
          </a:prstGeom>
          <a:solidFill xmlns:a="http://schemas.openxmlformats.org/drawingml/2006/main">
            <a:srgbClr val="F2DED5"/>
          </a:solidFill>
          <a:ln xmlns:a="http://schemas.openxmlformats.org/drawingml/2006/main" w="19050">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C65231"/>
                </a:solidFill>
                <a:latin typeface="Roboto"/>
                <a:ea typeface="Roboto"/>
                <a:cs typeface="Roboto"/>
              </a:defRPr>
            </a:pPr>
            <a:r>
              <a:rPr sz="1350" b="1">
                <a:solidFill>
                  <a:srgbClr val="C65231"/>
                </a:solidFill>
                <a:latin typeface="Roboto"/>
                <a:ea typeface="Roboto"/>
                <a:cs typeface="Roboto"/>
              </a:rPr>
              <a:t>!</a:t>
            </a:r>
          </a:p>
        </p:txBody>
      </p:sp>
      <p:sp>
        <p:nvSpPr>
          <p:cNvPr id="7" name="">
            <a:extLst xmlns:a="http://schemas.openxmlformats.org/drawingml/2006/main">
              <a:ext uri="{FF2B5EF4-FFF2-40B4-BE49-F238E27FC236}">
                <a16:creationId xmlns:a16="http://schemas.microsoft.com/office/drawing/2014/main" id="{49BAFF2C-433E-46A4-A0E4-C1824EB816B1}"/>
              </a:ext>
            </a:extLst>
          </p:cNvPr>
          <p:cNvSpPr>
            <a:spLocks xmlns:a="http://schemas.openxmlformats.org/drawingml/2006/main" noGrp="1"/>
          </p:cNvSpPr>
          <p:nvPr/>
        </p:nvSpPr>
        <p:spPr>
          <a:xfrm xmlns:a="http://schemas.openxmlformats.org/drawingml/2006/main">
            <a:off x="10077450" y="2733675"/>
            <a:ext cx="400050" cy="4000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67149"/>
          </a:bodyPr>
          <a:lstStyle xmlns:a="http://schemas.openxmlformats.org/drawingml/2006/main"/>
          <a:p xmlns:a="http://schemas.openxmlformats.org/drawingml/2006/main">
            <a:pPr algn="ctr">
              <a:defRPr sz="1275" b="1">
                <a:solidFill>
                  <a:srgbClr val="255D84"/>
                </a:solidFill>
                <a:latin typeface="Roboto"/>
                <a:ea typeface="Roboto"/>
                <a:cs typeface="Roboto"/>
              </a:defRPr>
            </a:pPr>
            <a:r>
              <a:rPr sz="1275" b="1">
                <a:solidFill>
                  <a:srgbClr val="255D84"/>
                </a:solidFill>
                <a:latin typeface="Roboto"/>
                <a:ea typeface="Roboto"/>
                <a:cs typeface="Roboto"/>
              </a:rPr>
              <a:t>4</a:t>
            </a:r>
          </a:p>
        </p:txBody>
      </p:sp>
      <p:sp>
        <p:nvSpPr>
          <p:cNvPr id="8" name="">
            <a:extLst xmlns:a="http://schemas.openxmlformats.org/drawingml/2006/main">
              <a:ext uri="{FF2B5EF4-FFF2-40B4-BE49-F238E27FC236}">
                <a16:creationId xmlns:a16="http://schemas.microsoft.com/office/drawing/2014/main" id="{D40C5A6D-CF8D-4A7B-B610-228E6886EFDB}"/>
              </a:ext>
            </a:extLst>
          </p:cNvPr>
          <p:cNvSpPr>
            <a:spLocks xmlns:a="http://schemas.openxmlformats.org/drawingml/2006/main" noGrp="1"/>
          </p:cNvSpPr>
          <p:nvPr/>
        </p:nvSpPr>
        <p:spPr>
          <a:xfrm xmlns:a="http://schemas.openxmlformats.org/drawingml/2006/main">
            <a:off x="11029950" y="2733675"/>
            <a:ext cx="400050" cy="4000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67149"/>
          </a:bodyPr>
          <a:lstStyle xmlns:a="http://schemas.openxmlformats.org/drawingml/2006/main"/>
          <a:p xmlns:a="http://schemas.openxmlformats.org/drawingml/2006/main">
            <a:pPr algn="ctr">
              <a:defRPr sz="1275" b="1">
                <a:solidFill>
                  <a:srgbClr val="255D84"/>
                </a:solidFill>
                <a:latin typeface="Roboto"/>
                <a:ea typeface="Roboto"/>
                <a:cs typeface="Roboto"/>
              </a:defRPr>
            </a:pPr>
            <a:r>
              <a:rPr sz="1275" b="1">
                <a:solidFill>
                  <a:srgbClr val="255D84"/>
                </a:solidFill>
                <a:latin typeface="Roboto"/>
                <a:ea typeface="Roboto"/>
                <a:cs typeface="Roboto"/>
              </a:rPr>
              <a:t>5</a:t>
            </a:r>
          </a:p>
        </p:txBody>
      </p:sp>
      <p:sp>
        <p:nvSpPr>
          <p:cNvPr id="9" name="">
            <a:extLst xmlns:a="http://schemas.openxmlformats.org/drawingml/2006/main">
              <a:ext uri="{FF2B5EF4-FFF2-40B4-BE49-F238E27FC236}">
                <a16:creationId xmlns:a16="http://schemas.microsoft.com/office/drawing/2014/main" id="{6F43BA39-C106-4B70-9D6F-B62357AECADB}"/>
              </a:ext>
            </a:extLst>
          </p:cNvPr>
          <p:cNvSpPr>
            <a:spLocks xmlns:a="http://schemas.openxmlformats.org/drawingml/2006/main" noGrp="1"/>
          </p:cNvSpPr>
          <p:nvPr/>
        </p:nvSpPr>
        <p:spPr>
          <a:xfrm xmlns:a="http://schemas.openxmlformats.org/drawingml/2006/main">
            <a:off x="6896100" y="33528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0">
                <a:solidFill>
                  <a:srgbClr val="77818B"/>
                </a:solidFill>
                <a:latin typeface="Roboto"/>
                <a:ea typeface="Roboto"/>
                <a:cs typeface="Roboto"/>
              </a:defRPr>
            </a:pPr>
            <a:r>
              <a:rPr sz="975" b="0">
                <a:solidFill>
                  <a:srgbClr val="77818B"/>
                </a:solidFill>
                <a:latin typeface="Roboto"/>
                <a:ea typeface="Roboto"/>
                <a:cs typeface="Roboto"/>
              </a:rPr>
              <a:t>change</a:t>
            </a:r>
          </a:p>
        </p:txBody>
      </p:sp>
      <p:sp>
        <p:nvSpPr>
          <p:cNvPr id="10" name="">
            <a:extLst xmlns:a="http://schemas.openxmlformats.org/drawingml/2006/main">
              <a:ext uri="{FF2B5EF4-FFF2-40B4-BE49-F238E27FC236}">
                <a16:creationId xmlns:a16="http://schemas.microsoft.com/office/drawing/2014/main" id="{1442B408-C79D-4D6D-85A0-F913A4D0D685}"/>
              </a:ext>
            </a:extLst>
          </p:cNvPr>
          <p:cNvSpPr>
            <a:spLocks xmlns:a="http://schemas.openxmlformats.org/drawingml/2006/main" noGrp="1"/>
          </p:cNvSpPr>
          <p:nvPr/>
        </p:nvSpPr>
        <p:spPr>
          <a:xfrm xmlns:a="http://schemas.openxmlformats.org/drawingml/2006/main">
            <a:off x="7848600" y="33528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0">
                <a:solidFill>
                  <a:srgbClr val="77818B"/>
                </a:solidFill>
                <a:latin typeface="Roboto"/>
                <a:ea typeface="Roboto"/>
                <a:cs typeface="Roboto"/>
              </a:defRPr>
            </a:pPr>
            <a:r>
              <a:rPr sz="975" b="0">
                <a:solidFill>
                  <a:srgbClr val="77818B"/>
                </a:solidFill>
                <a:latin typeface="Roboto"/>
                <a:ea typeface="Roboto"/>
                <a:cs typeface="Roboto"/>
              </a:rPr>
              <a:t>review</a:t>
            </a:r>
          </a:p>
        </p:txBody>
      </p:sp>
      <p:sp>
        <p:nvSpPr>
          <p:cNvPr id="11" name="">
            <a:extLst xmlns:a="http://schemas.openxmlformats.org/drawingml/2006/main">
              <a:ext uri="{FF2B5EF4-FFF2-40B4-BE49-F238E27FC236}">
                <a16:creationId xmlns:a16="http://schemas.microsoft.com/office/drawing/2014/main" id="{03F0E4F9-2162-410D-AA2F-6012628F38E8}"/>
              </a:ext>
            </a:extLst>
          </p:cNvPr>
          <p:cNvSpPr>
            <a:spLocks xmlns:a="http://schemas.openxmlformats.org/drawingml/2006/main" noGrp="1"/>
          </p:cNvSpPr>
          <p:nvPr/>
        </p:nvSpPr>
        <p:spPr>
          <a:xfrm xmlns:a="http://schemas.openxmlformats.org/drawingml/2006/main">
            <a:off x="8877300" y="335280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C65231"/>
                </a:solidFill>
                <a:latin typeface="Roboto"/>
                <a:ea typeface="Roboto"/>
                <a:cs typeface="Roboto"/>
              </a:defRPr>
            </a:pPr>
            <a:r>
              <a:rPr sz="975" b="1">
                <a:solidFill>
                  <a:srgbClr val="C65231"/>
                </a:solidFill>
                <a:latin typeface="Roboto"/>
                <a:ea typeface="Roboto"/>
                <a:cs typeface="Roboto"/>
              </a:rPr>
              <a:t>pipeline</a:t>
            </a:r>
          </a:p>
        </p:txBody>
      </p:sp>
      <p:sp>
        <p:nvSpPr>
          <p:cNvPr id="12" name="">
            <a:extLst xmlns:a="http://schemas.openxmlformats.org/drawingml/2006/main">
              <a:ext uri="{FF2B5EF4-FFF2-40B4-BE49-F238E27FC236}">
                <a16:creationId xmlns:a16="http://schemas.microsoft.com/office/drawing/2014/main" id="{7A701705-5F27-473F-B412-C1A98D274D0D}"/>
              </a:ext>
            </a:extLst>
          </p:cNvPr>
          <p:cNvSpPr>
            <a:spLocks xmlns:a="http://schemas.openxmlformats.org/drawingml/2006/main" noGrp="1"/>
          </p:cNvSpPr>
          <p:nvPr/>
        </p:nvSpPr>
        <p:spPr>
          <a:xfrm xmlns:a="http://schemas.openxmlformats.org/drawingml/2006/main">
            <a:off x="9944100" y="33528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0">
                <a:solidFill>
                  <a:srgbClr val="77818B"/>
                </a:solidFill>
                <a:latin typeface="Roboto"/>
                <a:ea typeface="Roboto"/>
                <a:cs typeface="Roboto"/>
              </a:defRPr>
            </a:pPr>
            <a:r>
              <a:rPr sz="975" b="0">
                <a:solidFill>
                  <a:srgbClr val="77818B"/>
                </a:solidFill>
                <a:latin typeface="Roboto"/>
                <a:ea typeface="Roboto"/>
                <a:cs typeface="Roboto"/>
              </a:rPr>
              <a:t>deploy</a:t>
            </a:r>
          </a:p>
        </p:txBody>
      </p:sp>
      <p:sp>
        <p:nvSpPr>
          <p:cNvPr id="13" name="">
            <a:extLst xmlns:a="http://schemas.openxmlformats.org/drawingml/2006/main">
              <a:ext uri="{FF2B5EF4-FFF2-40B4-BE49-F238E27FC236}">
                <a16:creationId xmlns:a16="http://schemas.microsoft.com/office/drawing/2014/main" id="{6691170C-DB1C-4536-B103-689DDA2D6AE0}"/>
              </a:ext>
            </a:extLst>
          </p:cNvPr>
          <p:cNvSpPr>
            <a:spLocks xmlns:a="http://schemas.openxmlformats.org/drawingml/2006/main" noGrp="1"/>
          </p:cNvSpPr>
          <p:nvPr/>
        </p:nvSpPr>
        <p:spPr>
          <a:xfrm xmlns:a="http://schemas.openxmlformats.org/drawingml/2006/main">
            <a:off x="10896600" y="33528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0">
                <a:solidFill>
                  <a:srgbClr val="77818B"/>
                </a:solidFill>
                <a:latin typeface="Roboto"/>
                <a:ea typeface="Roboto"/>
                <a:cs typeface="Roboto"/>
              </a:defRPr>
            </a:pPr>
            <a:r>
              <a:rPr sz="975" b="0">
                <a:solidFill>
                  <a:srgbClr val="77818B"/>
                </a:solidFill>
                <a:latin typeface="Roboto"/>
                <a:ea typeface="Roboto"/>
                <a:cs typeface="Roboto"/>
              </a:rPr>
              <a:t>run</a:t>
            </a:r>
          </a:p>
        </p:txBody>
      </p:sp>
      <p:sp>
        <p:nvSpPr>
          <p:cNvPr id="14" name="">
            <a:extLst xmlns:a="http://schemas.openxmlformats.org/drawingml/2006/main">
              <a:ext uri="{FF2B5EF4-FFF2-40B4-BE49-F238E27FC236}">
                <a16:creationId xmlns:a16="http://schemas.microsoft.com/office/drawing/2014/main" id="{0B7D3880-5BEB-434F-90E8-8C4CB5E2B32D}"/>
              </a:ext>
            </a:extLst>
          </p:cNvPr>
          <p:cNvSpPr>
            <a:spLocks xmlns:a="http://schemas.openxmlformats.org/drawingml/2006/main" noGrp="1"/>
          </p:cNvSpPr>
          <p:nvPr/>
        </p:nvSpPr>
        <p:spPr>
          <a:xfrm xmlns:a="http://schemas.openxmlformats.org/drawingml/2006/main">
            <a:off x="762000" y="59055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17212B"/>
                </a:solidFill>
                <a:latin typeface="Roboto"/>
                <a:ea typeface="Roboto"/>
                <a:cs typeface="Roboto"/>
              </a:defRPr>
            </a:pPr>
            <a:r>
              <a:rPr sz="1275" b="1">
                <a:solidFill>
                  <a:srgbClr val="17212B"/>
                </a:solidFill>
                <a:latin typeface="Roboto"/>
                <a:ea typeface="Roboto"/>
                <a:cs typeface="Roboto"/>
              </a:rPr>
              <a:t>Yair Mentesh</a:t>
            </a:r>
          </a:p>
        </p:txBody>
      </p:sp>
      <p:sp>
        <p:nvSpPr>
          <p:cNvPr id="15" name="">
            <a:extLst xmlns:a="http://schemas.openxmlformats.org/drawingml/2006/main">
              <a:ext uri="{FF2B5EF4-FFF2-40B4-BE49-F238E27FC236}">
                <a16:creationId xmlns:a16="http://schemas.microsoft.com/office/drawing/2014/main" id="{5DCF621A-DD21-4FA5-8713-95E06C8972E9}"/>
              </a:ext>
            </a:extLst>
          </p:cNvPr>
          <p:cNvSpPr>
            <a:spLocks xmlns:a="http://schemas.openxmlformats.org/drawingml/2006/main" noGrp="1"/>
          </p:cNvSpPr>
          <p:nvPr/>
        </p:nvSpPr>
        <p:spPr>
          <a:xfrm xmlns:a="http://schemas.openxmlformats.org/drawingml/2006/main">
            <a:off x="762000" y="62007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77818B"/>
                </a:solidFill>
                <a:latin typeface="Roboto"/>
                <a:ea typeface="Roboto"/>
                <a:cs typeface="Roboto"/>
              </a:defRPr>
            </a:pPr>
            <a:r>
              <a:rPr sz="1050" b="1">
                <a:solidFill>
                  <a:srgbClr val="77818B"/>
                </a:solidFill>
                <a:latin typeface="Roboto"/>
                <a:ea typeface="Roboto"/>
                <a:cs typeface="Roboto"/>
              </a:rPr>
              <a:t>A</a:t>
            </a:r>
            <a:r>
              <a:rPr sz="1050" b="0">
                <a:solidFill>
                  <a:srgbClr val="77818B"/>
                </a:solidFill>
                <a:latin typeface="Roboto"/>
                <a:ea typeface="Roboto"/>
                <a:cs typeface="Roboto"/>
              </a:rPr>
              <a:t>dversary </a:t>
            </a:r>
            <a:r>
              <a:rPr sz="1050" b="1">
                <a:solidFill>
                  <a:srgbClr val="77818B"/>
                </a:solidFill>
                <a:latin typeface="Roboto"/>
                <a:ea typeface="Roboto"/>
                <a:cs typeface="Roboto"/>
              </a:rPr>
              <a:t>R</a:t>
            </a:r>
            <a:r>
              <a:rPr sz="1050" b="0">
                <a:solidFill>
                  <a:srgbClr val="77818B"/>
                </a:solidFill>
                <a:latin typeface="Roboto"/>
                <a:ea typeface="Roboto"/>
                <a:cs typeface="Roboto"/>
              </a:rPr>
              <a:t>ed </a:t>
            </a:r>
            <a:r>
              <a:rPr sz="1050" b="1">
                <a:solidFill>
                  <a:srgbClr val="77818B"/>
                </a:solidFill>
                <a:latin typeface="Roboto"/>
                <a:ea typeface="Roboto"/>
                <a:cs typeface="Roboto"/>
              </a:rPr>
              <a:t>T</a:t>
            </a:r>
            <a:r>
              <a:rPr sz="1050" b="0">
                <a:solidFill>
                  <a:srgbClr val="77818B"/>
                </a:solidFill>
                <a:latin typeface="Roboto"/>
                <a:ea typeface="Roboto"/>
                <a:cs typeface="Roboto"/>
              </a:rPr>
              <a:t>eam</a:t>
            </a:r>
          </a:p>
        </p:txBody>
      </p:sp>
    </p:spTree>
    <p:extLst>
      <p:ext uri="{BB962C8B-B14F-4D97-AF65-F5344CB8AC3E}">
        <p14:creationId xmlns:p14="http://schemas.microsoft.com/office/powerpoint/2010/main" val="1116448039"/>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B2786FB-2FF7-4C3D-82BA-166B1D9FCDD1}"/>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How software becomes a release</a:t>
            </a:r>
          </a:p>
        </p:txBody>
      </p:sp>
      <p:sp>
        <p:nvSpPr>
          <p:cNvPr id="2" name="">
            <a:extLst xmlns:a="http://schemas.openxmlformats.org/drawingml/2006/main">
              <a:ext uri="{FF2B5EF4-FFF2-40B4-BE49-F238E27FC236}">
                <a16:creationId xmlns:a16="http://schemas.microsoft.com/office/drawing/2014/main" id="{F7CECC24-CEA5-421B-8639-C6690827D415}"/>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The delivery path from a code change to a running application</a:t>
            </a:r>
          </a:p>
        </p:txBody>
      </p:sp>
      <p:sp>
        <p:nvSpPr>
          <p:cNvPr id="3" name="">
            <a:extLst xmlns:a="http://schemas.openxmlformats.org/drawingml/2006/main">
              <a:ext uri="{FF2B5EF4-FFF2-40B4-BE49-F238E27FC236}">
                <a16:creationId xmlns:a16="http://schemas.microsoft.com/office/drawing/2014/main" id="{9E804B71-4925-47B5-A5B0-954008C7E827}"/>
              </a:ext>
            </a:extLst>
          </p:cNvPr>
          <p:cNvSpPr>
            <a:spLocks xmlns:a="http://schemas.openxmlformats.org/drawingml/2006/main" noGrp="1"/>
          </p:cNvSpPr>
          <p:nvPr/>
        </p:nvSpPr>
        <p:spPr>
          <a:xfrm xmlns:a="http://schemas.openxmlformats.org/drawingml/2006/main">
            <a:off x="819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1</a:t>
            </a:r>
          </a:p>
        </p:txBody>
      </p:sp>
      <p:sp>
        <p:nvSpPr>
          <p:cNvPr id="4" name="">
            <a:extLst xmlns:a="http://schemas.openxmlformats.org/drawingml/2006/main">
              <a:ext uri="{FF2B5EF4-FFF2-40B4-BE49-F238E27FC236}">
                <a16:creationId xmlns:a16="http://schemas.microsoft.com/office/drawing/2014/main" id="{1E207B81-5C1D-4998-BF4B-2B079161B1A5}"/>
              </a:ext>
            </a:extLst>
          </p:cNvPr>
          <p:cNvSpPr>
            <a:spLocks xmlns:a="http://schemas.openxmlformats.org/drawingml/2006/main" noGrp="1"/>
          </p:cNvSpPr>
          <p:nvPr/>
        </p:nvSpPr>
        <p:spPr>
          <a:xfrm xmlns:a="http://schemas.openxmlformats.org/drawingml/2006/main">
            <a:off x="323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Developer</a:t>
            </a:r>
          </a:p>
        </p:txBody>
      </p:sp>
      <p:sp>
        <p:nvSpPr>
          <p:cNvPr id="5" name="">
            <a:extLst xmlns:a="http://schemas.openxmlformats.org/drawingml/2006/main">
              <a:ext uri="{FF2B5EF4-FFF2-40B4-BE49-F238E27FC236}">
                <a16:creationId xmlns:a16="http://schemas.microsoft.com/office/drawing/2014/main" id="{A00D8964-D406-4E94-A8F6-6CF7E5C7CEE7}"/>
              </a:ext>
            </a:extLst>
          </p:cNvPr>
          <p:cNvSpPr>
            <a:spLocks xmlns:a="http://schemas.openxmlformats.org/drawingml/2006/main" noGrp="1"/>
          </p:cNvSpPr>
          <p:nvPr/>
        </p:nvSpPr>
        <p:spPr>
          <a:xfrm xmlns:a="http://schemas.openxmlformats.org/drawingml/2006/main">
            <a:off x="228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changes code</a:t>
            </a:r>
          </a:p>
        </p:txBody>
      </p:sp>
      <p:sp>
        <p:nvSpPr>
          <p:cNvPr id="6" name="">
            <a:extLst xmlns:a="http://schemas.openxmlformats.org/drawingml/2006/main">
              <a:ext uri="{FF2B5EF4-FFF2-40B4-BE49-F238E27FC236}">
                <a16:creationId xmlns:a16="http://schemas.microsoft.com/office/drawing/2014/main" id="{586DFC49-2F31-4B69-AF80-A93BED37B697}"/>
              </a:ext>
            </a:extLst>
          </p:cNvPr>
          <p:cNvSpPr>
            <a:spLocks xmlns:a="http://schemas.openxmlformats.org/drawingml/2006/main" noGrp="1"/>
          </p:cNvSpPr>
          <p:nvPr/>
        </p:nvSpPr>
        <p:spPr>
          <a:xfrm xmlns:a="http://schemas.openxmlformats.org/drawingml/2006/main">
            <a:off x="2724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2</a:t>
            </a:r>
          </a:p>
        </p:txBody>
      </p:sp>
      <p:sp>
        <p:nvSpPr>
          <p:cNvPr id="7" name="">
            <a:extLst xmlns:a="http://schemas.openxmlformats.org/drawingml/2006/main">
              <a:ext uri="{FF2B5EF4-FFF2-40B4-BE49-F238E27FC236}">
                <a16:creationId xmlns:a16="http://schemas.microsoft.com/office/drawing/2014/main" id="{51E96DBF-D6D5-4A5C-BC3A-D8AF376B9B43}"/>
              </a:ext>
            </a:extLst>
          </p:cNvPr>
          <p:cNvSpPr>
            <a:spLocks xmlns:a="http://schemas.openxmlformats.org/drawingml/2006/main" noGrp="1"/>
          </p:cNvSpPr>
          <p:nvPr/>
        </p:nvSpPr>
        <p:spPr>
          <a:xfrm xmlns:a="http://schemas.openxmlformats.org/drawingml/2006/main">
            <a:off x="2228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Git review</a:t>
            </a:r>
          </a:p>
        </p:txBody>
      </p:sp>
      <p:sp>
        <p:nvSpPr>
          <p:cNvPr id="8" name="">
            <a:extLst xmlns:a="http://schemas.openxmlformats.org/drawingml/2006/main">
              <a:ext uri="{FF2B5EF4-FFF2-40B4-BE49-F238E27FC236}">
                <a16:creationId xmlns:a16="http://schemas.microsoft.com/office/drawing/2014/main" id="{2D20F4BC-3FBF-4075-A83D-77B5243F2C69}"/>
              </a:ext>
            </a:extLst>
          </p:cNvPr>
          <p:cNvSpPr>
            <a:spLocks xmlns:a="http://schemas.openxmlformats.org/drawingml/2006/main" noGrp="1"/>
          </p:cNvSpPr>
          <p:nvPr/>
        </p:nvSpPr>
        <p:spPr>
          <a:xfrm xmlns:a="http://schemas.openxmlformats.org/drawingml/2006/main">
            <a:off x="2133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records and approves</a:t>
            </a:r>
          </a:p>
        </p:txBody>
      </p:sp>
      <p:cxnSp>
        <p:nvCxnSpPr>
          <p:cNvPr id="43" name=""/>
          <p:cNvCxnSpPr>
            <a:stCxn xmlns:a="http://schemas.openxmlformats.org/drawingml/2006/main" id="3" idx="6"/>
            <a:endCxn xmlns:a="http://schemas.openxmlformats.org/drawingml/2006/main" id="6" idx="2"/>
          </p:cNvCxnSpPr>
          <p:nvPr/>
        </p:nvCxnSpPr>
        <p:spPr>
          <a:xfrm xmlns:a="http://schemas.openxmlformats.org/drawingml/2006/main">
            <a:off x="1352550" y="2533650"/>
            <a:ext cx="137160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0" name="">
            <a:extLst xmlns:a="http://schemas.openxmlformats.org/drawingml/2006/main">
              <a:ext uri="{FF2B5EF4-FFF2-40B4-BE49-F238E27FC236}">
                <a16:creationId xmlns:a16="http://schemas.microsoft.com/office/drawing/2014/main" id="{CD897495-809E-419C-B300-981BD2E34EA0}"/>
              </a:ext>
            </a:extLst>
          </p:cNvPr>
          <p:cNvSpPr>
            <a:spLocks xmlns:a="http://schemas.openxmlformats.org/drawingml/2006/main" noGrp="1"/>
          </p:cNvSpPr>
          <p:nvPr/>
        </p:nvSpPr>
        <p:spPr>
          <a:xfrm xmlns:a="http://schemas.openxmlformats.org/drawingml/2006/main">
            <a:off x="4629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3</a:t>
            </a:r>
          </a:p>
        </p:txBody>
      </p:sp>
      <p:sp>
        <p:nvSpPr>
          <p:cNvPr id="11" name="">
            <a:extLst xmlns:a="http://schemas.openxmlformats.org/drawingml/2006/main">
              <a:ext uri="{FF2B5EF4-FFF2-40B4-BE49-F238E27FC236}">
                <a16:creationId xmlns:a16="http://schemas.microsoft.com/office/drawing/2014/main" id="{00D49979-88C2-410C-8F9D-31CD4C0A133D}"/>
              </a:ext>
            </a:extLst>
          </p:cNvPr>
          <p:cNvSpPr>
            <a:spLocks xmlns:a="http://schemas.openxmlformats.org/drawingml/2006/main" noGrp="1"/>
          </p:cNvSpPr>
          <p:nvPr/>
        </p:nvSpPr>
        <p:spPr>
          <a:xfrm xmlns:a="http://schemas.openxmlformats.org/drawingml/2006/main">
            <a:off x="4133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Build</a:t>
            </a:r>
          </a:p>
        </p:txBody>
      </p:sp>
      <p:sp>
        <p:nvSpPr>
          <p:cNvPr id="12" name="">
            <a:extLst xmlns:a="http://schemas.openxmlformats.org/drawingml/2006/main">
              <a:ext uri="{FF2B5EF4-FFF2-40B4-BE49-F238E27FC236}">
                <a16:creationId xmlns:a16="http://schemas.microsoft.com/office/drawing/2014/main" id="{0D257ECE-8858-486C-8A27-5DDFEFFE5E84}"/>
              </a:ext>
            </a:extLst>
          </p:cNvPr>
          <p:cNvSpPr>
            <a:spLocks xmlns:a="http://schemas.openxmlformats.org/drawingml/2006/main" noGrp="1"/>
          </p:cNvSpPr>
          <p:nvPr/>
        </p:nvSpPr>
        <p:spPr>
          <a:xfrm xmlns:a="http://schemas.openxmlformats.org/drawingml/2006/main">
            <a:off x="4038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checks and packages</a:t>
            </a:r>
          </a:p>
        </p:txBody>
      </p:sp>
      <p:cxnSp>
        <p:nvCxnSpPr>
          <p:cNvPr id="47" name=""/>
          <p:cNvCxnSpPr>
            <a:stCxn xmlns:a="http://schemas.openxmlformats.org/drawingml/2006/main" id="6" idx="6"/>
            <a:endCxn xmlns:a="http://schemas.openxmlformats.org/drawingml/2006/main" id="10" idx="2"/>
          </p:cNvCxnSpPr>
          <p:nvPr/>
        </p:nvCxnSpPr>
        <p:spPr>
          <a:xfrm xmlns:a="http://schemas.openxmlformats.org/drawingml/2006/main">
            <a:off x="3257550" y="2533650"/>
            <a:ext cx="137160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4" name="">
            <a:extLst xmlns:a="http://schemas.openxmlformats.org/drawingml/2006/main">
              <a:ext uri="{FF2B5EF4-FFF2-40B4-BE49-F238E27FC236}">
                <a16:creationId xmlns:a16="http://schemas.microsoft.com/office/drawing/2014/main" id="{4F49B058-6A59-4F76-AF5E-B70FACF32497}"/>
              </a:ext>
            </a:extLst>
          </p:cNvPr>
          <p:cNvSpPr>
            <a:spLocks xmlns:a="http://schemas.openxmlformats.org/drawingml/2006/main" noGrp="1"/>
          </p:cNvSpPr>
          <p:nvPr/>
        </p:nvSpPr>
        <p:spPr>
          <a:xfrm xmlns:a="http://schemas.openxmlformats.org/drawingml/2006/main">
            <a:off x="6534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4</a:t>
            </a:r>
          </a:p>
        </p:txBody>
      </p:sp>
      <p:sp>
        <p:nvSpPr>
          <p:cNvPr id="15" name="">
            <a:extLst xmlns:a="http://schemas.openxmlformats.org/drawingml/2006/main">
              <a:ext uri="{FF2B5EF4-FFF2-40B4-BE49-F238E27FC236}">
                <a16:creationId xmlns:a16="http://schemas.microsoft.com/office/drawing/2014/main" id="{0D039321-2C93-419C-A477-996FFA47C8B7}"/>
              </a:ext>
            </a:extLst>
          </p:cNvPr>
          <p:cNvSpPr>
            <a:spLocks xmlns:a="http://schemas.openxmlformats.org/drawingml/2006/main" noGrp="1"/>
          </p:cNvSpPr>
          <p:nvPr/>
        </p:nvSpPr>
        <p:spPr>
          <a:xfrm xmlns:a="http://schemas.openxmlformats.org/drawingml/2006/main">
            <a:off x="6038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Release artifact</a:t>
            </a:r>
          </a:p>
        </p:txBody>
      </p:sp>
      <p:sp>
        <p:nvSpPr>
          <p:cNvPr id="16" name="">
            <a:extLst xmlns:a="http://schemas.openxmlformats.org/drawingml/2006/main">
              <a:ext uri="{FF2B5EF4-FFF2-40B4-BE49-F238E27FC236}">
                <a16:creationId xmlns:a16="http://schemas.microsoft.com/office/drawing/2014/main" id="{36D69DB6-8E9A-4E79-BFDB-7EA827CAAB3E}"/>
              </a:ext>
            </a:extLst>
          </p:cNvPr>
          <p:cNvSpPr>
            <a:spLocks xmlns:a="http://schemas.openxmlformats.org/drawingml/2006/main" noGrp="1"/>
          </p:cNvSpPr>
          <p:nvPr/>
        </p:nvSpPr>
        <p:spPr>
          <a:xfrm xmlns:a="http://schemas.openxmlformats.org/drawingml/2006/main">
            <a:off x="5943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the finished package</a:t>
            </a:r>
          </a:p>
        </p:txBody>
      </p:sp>
      <p:cxnSp>
        <p:nvCxnSpPr>
          <p:cNvPr id="51" name=""/>
          <p:cNvCxnSpPr>
            <a:stCxn xmlns:a="http://schemas.openxmlformats.org/drawingml/2006/main" id="10" idx="6"/>
            <a:endCxn xmlns:a="http://schemas.openxmlformats.org/drawingml/2006/main" id="14" idx="2"/>
          </p:cNvCxnSpPr>
          <p:nvPr/>
        </p:nvCxnSpPr>
        <p:spPr>
          <a:xfrm xmlns:a="http://schemas.openxmlformats.org/drawingml/2006/main">
            <a:off x="5162550" y="2533650"/>
            <a:ext cx="137160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DF3955B-EF3D-4ADF-8075-0AB20361DE20}"/>
              </a:ext>
            </a:extLst>
          </p:cNvPr>
          <p:cNvSpPr>
            <a:spLocks xmlns:a="http://schemas.openxmlformats.org/drawingml/2006/main" noGrp="1"/>
          </p:cNvSpPr>
          <p:nvPr/>
        </p:nvSpPr>
        <p:spPr>
          <a:xfrm xmlns:a="http://schemas.openxmlformats.org/drawingml/2006/main">
            <a:off x="8439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5</a:t>
            </a:r>
          </a:p>
        </p:txBody>
      </p:sp>
      <p:sp>
        <p:nvSpPr>
          <p:cNvPr id="19" name="">
            <a:extLst xmlns:a="http://schemas.openxmlformats.org/drawingml/2006/main">
              <a:ext uri="{FF2B5EF4-FFF2-40B4-BE49-F238E27FC236}">
                <a16:creationId xmlns:a16="http://schemas.microsoft.com/office/drawing/2014/main" id="{28D7080B-6BE0-444B-8A16-A6C7B21E0442}"/>
              </a:ext>
            </a:extLst>
          </p:cNvPr>
          <p:cNvSpPr>
            <a:spLocks xmlns:a="http://schemas.openxmlformats.org/drawingml/2006/main" noGrp="1"/>
          </p:cNvSpPr>
          <p:nvPr/>
        </p:nvSpPr>
        <p:spPr>
          <a:xfrm xmlns:a="http://schemas.openxmlformats.org/drawingml/2006/main">
            <a:off x="7943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Deployment</a:t>
            </a:r>
          </a:p>
        </p:txBody>
      </p:sp>
      <p:sp>
        <p:nvSpPr>
          <p:cNvPr id="20" name="">
            <a:extLst xmlns:a="http://schemas.openxmlformats.org/drawingml/2006/main">
              <a:ext uri="{FF2B5EF4-FFF2-40B4-BE49-F238E27FC236}">
                <a16:creationId xmlns:a16="http://schemas.microsoft.com/office/drawing/2014/main" id="{8B6FBDA6-90C8-4145-BCEB-C0A00B8C27F8}"/>
              </a:ext>
            </a:extLst>
          </p:cNvPr>
          <p:cNvSpPr>
            <a:spLocks xmlns:a="http://schemas.openxmlformats.org/drawingml/2006/main" noGrp="1"/>
          </p:cNvSpPr>
          <p:nvPr/>
        </p:nvSpPr>
        <p:spPr>
          <a:xfrm xmlns:a="http://schemas.openxmlformats.org/drawingml/2006/main">
            <a:off x="7848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moves the release</a:t>
            </a:r>
          </a:p>
        </p:txBody>
      </p:sp>
      <p:cxnSp>
        <p:nvCxnSpPr>
          <p:cNvPr id="55" name=""/>
          <p:cNvCxnSpPr>
            <a:stCxn xmlns:a="http://schemas.openxmlformats.org/drawingml/2006/main" id="14" idx="6"/>
            <a:endCxn xmlns:a="http://schemas.openxmlformats.org/drawingml/2006/main" id="18" idx="2"/>
          </p:cNvCxnSpPr>
          <p:nvPr/>
        </p:nvCxnSpPr>
        <p:spPr>
          <a:xfrm xmlns:a="http://schemas.openxmlformats.org/drawingml/2006/main">
            <a:off x="7067550" y="2533650"/>
            <a:ext cx="137160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53B8E8B-D16A-4C02-8E41-D3BAF7F860B1}"/>
              </a:ext>
            </a:extLst>
          </p:cNvPr>
          <p:cNvSpPr>
            <a:spLocks xmlns:a="http://schemas.openxmlformats.org/drawingml/2006/main" noGrp="1"/>
          </p:cNvSpPr>
          <p:nvPr/>
        </p:nvSpPr>
        <p:spPr>
          <a:xfrm xmlns:a="http://schemas.openxmlformats.org/drawingml/2006/main">
            <a:off x="10344150" y="2266950"/>
            <a:ext cx="533400" cy="53340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6</a:t>
            </a:r>
          </a:p>
        </p:txBody>
      </p:sp>
      <p:sp>
        <p:nvSpPr>
          <p:cNvPr id="23" name="">
            <a:extLst xmlns:a="http://schemas.openxmlformats.org/drawingml/2006/main">
              <a:ext uri="{FF2B5EF4-FFF2-40B4-BE49-F238E27FC236}">
                <a16:creationId xmlns:a16="http://schemas.microsoft.com/office/drawing/2014/main" id="{DC55180C-FB78-41C9-A6E0-A12C7CADAB22}"/>
              </a:ext>
            </a:extLst>
          </p:cNvPr>
          <p:cNvSpPr>
            <a:spLocks xmlns:a="http://schemas.openxmlformats.org/drawingml/2006/main" noGrp="1"/>
          </p:cNvSpPr>
          <p:nvPr/>
        </p:nvSpPr>
        <p:spPr>
          <a:xfrm xmlns:a="http://schemas.openxmlformats.org/drawingml/2006/main">
            <a:off x="9848850" y="29908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17212B"/>
                </a:solidFill>
                <a:latin typeface="Roboto"/>
                <a:ea typeface="Roboto"/>
                <a:cs typeface="Roboto"/>
              </a:defRPr>
            </a:pPr>
            <a:r>
              <a:rPr sz="1238" b="1">
                <a:solidFill>
                  <a:srgbClr val="17212B"/>
                </a:solidFill>
                <a:latin typeface="Roboto"/>
                <a:ea typeface="Roboto"/>
                <a:cs typeface="Roboto"/>
              </a:rPr>
              <a:t>Running app</a:t>
            </a:r>
          </a:p>
        </p:txBody>
      </p:sp>
      <p:sp>
        <p:nvSpPr>
          <p:cNvPr id="24" name="">
            <a:extLst xmlns:a="http://schemas.openxmlformats.org/drawingml/2006/main">
              <a:ext uri="{FF2B5EF4-FFF2-40B4-BE49-F238E27FC236}">
                <a16:creationId xmlns:a16="http://schemas.microsoft.com/office/drawing/2014/main" id="{2F9FC15C-A5FA-4531-8040-7F3F32341C00}"/>
              </a:ext>
            </a:extLst>
          </p:cNvPr>
          <p:cNvSpPr>
            <a:spLocks xmlns:a="http://schemas.openxmlformats.org/drawingml/2006/main" noGrp="1"/>
          </p:cNvSpPr>
          <p:nvPr/>
        </p:nvSpPr>
        <p:spPr>
          <a:xfrm xmlns:a="http://schemas.openxmlformats.org/drawingml/2006/main">
            <a:off x="9753600" y="32956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serves users</a:t>
            </a:r>
          </a:p>
        </p:txBody>
      </p:sp>
      <p:cxnSp>
        <p:nvCxnSpPr>
          <p:cNvPr id="59" name=""/>
          <p:cNvCxnSpPr>
            <a:stCxn xmlns:a="http://schemas.openxmlformats.org/drawingml/2006/main" id="18" idx="6"/>
            <a:endCxn xmlns:a="http://schemas.openxmlformats.org/drawingml/2006/main" id="22" idx="2"/>
          </p:cNvCxnSpPr>
          <p:nvPr/>
        </p:nvCxnSpPr>
        <p:spPr>
          <a:xfrm xmlns:a="http://schemas.openxmlformats.org/drawingml/2006/main">
            <a:off x="8972550" y="2533650"/>
            <a:ext cx="137160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26" name="">
            <a:extLst xmlns:a="http://schemas.openxmlformats.org/drawingml/2006/main">
              <a:ext uri="{FF2B5EF4-FFF2-40B4-BE49-F238E27FC236}">
                <a16:creationId xmlns:a16="http://schemas.microsoft.com/office/drawing/2014/main" id="{A2DF4534-35A8-41E4-AD9C-37B94D78642B}"/>
              </a:ext>
            </a:extLst>
          </p:cNvPr>
          <p:cNvSpPr>
            <a:spLocks xmlns:a="http://schemas.openxmlformats.org/drawingml/2006/main" noGrp="1"/>
          </p:cNvSpPr>
          <p:nvPr/>
        </p:nvSpPr>
        <p:spPr>
          <a:xfrm xmlns:a="http://schemas.openxmlformats.org/drawingml/2006/main">
            <a:off x="723900" y="4533900"/>
            <a:ext cx="10744200" cy="0"/>
          </a:xfrm>
          <a:prstGeom xmlns:a="http://schemas.openxmlformats.org/drawingml/2006/main" prst="line">
            <a:avLst/>
          </a:prstGeom>
          <a:noFill xmlns:a="http://schemas.openxmlformats.org/drawingml/2006/main"/>
          <a:ln xmlns:a="http://schemas.openxmlformats.org/drawingml/2006/main" w="14288">
            <a:solidFill>
              <a:srgbClr val="C9C5BC"/>
            </a:solidFill>
            <a:prstDash val="solid"/>
          </a:ln>
        </p:spPr>
      </p:sp>
      <p:sp>
        <p:nvSpPr>
          <p:cNvPr id="27" name="">
            <a:extLst xmlns:a="http://schemas.openxmlformats.org/drawingml/2006/main">
              <a:ext uri="{FF2B5EF4-FFF2-40B4-BE49-F238E27FC236}">
                <a16:creationId xmlns:a16="http://schemas.microsoft.com/office/drawing/2014/main" id="{8B26E818-837E-453F-B55B-1F0B553AF228}"/>
              </a:ext>
            </a:extLst>
          </p:cNvPr>
          <p:cNvSpPr>
            <a:spLocks xmlns:a="http://schemas.openxmlformats.org/drawingml/2006/main" noGrp="1"/>
          </p:cNvSpPr>
          <p:nvPr/>
        </p:nvSpPr>
        <p:spPr>
          <a:xfrm xmlns:a="http://schemas.openxmlformats.org/drawingml/2006/main">
            <a:off x="762000" y="48577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55D84"/>
                </a:solidFill>
                <a:latin typeface="Roboto"/>
                <a:ea typeface="Roboto"/>
                <a:cs typeface="Roboto"/>
              </a:defRPr>
            </a:pPr>
            <a:r>
              <a:rPr sz="1350" b="1">
                <a:solidFill>
                  <a:srgbClr val="255D84"/>
                </a:solidFill>
                <a:latin typeface="Roboto"/>
                <a:ea typeface="Roboto"/>
                <a:cs typeface="Roboto"/>
              </a:rPr>
              <a:t>Git</a:t>
            </a:r>
          </a:p>
        </p:txBody>
      </p:sp>
      <p:sp>
        <p:nvSpPr>
          <p:cNvPr id="28" name="">
            <a:extLst xmlns:a="http://schemas.openxmlformats.org/drawingml/2006/main">
              <a:ext uri="{FF2B5EF4-FFF2-40B4-BE49-F238E27FC236}">
                <a16:creationId xmlns:a16="http://schemas.microsoft.com/office/drawing/2014/main" id="{B7EB6757-B836-4038-B536-A76486EFE2ED}"/>
              </a:ext>
            </a:extLst>
          </p:cNvPr>
          <p:cNvSpPr>
            <a:spLocks xmlns:a="http://schemas.openxmlformats.org/drawingml/2006/main" noGrp="1"/>
          </p:cNvSpPr>
          <p:nvPr/>
        </p:nvSpPr>
        <p:spPr>
          <a:xfrm xmlns:a="http://schemas.openxmlformats.org/drawingml/2006/main">
            <a:off x="762000" y="5181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Shared history of code changes</a:t>
            </a:r>
          </a:p>
        </p:txBody>
      </p:sp>
      <p:sp>
        <p:nvSpPr>
          <p:cNvPr id="29" name="">
            <a:extLst xmlns:a="http://schemas.openxmlformats.org/drawingml/2006/main">
              <a:ext uri="{FF2B5EF4-FFF2-40B4-BE49-F238E27FC236}">
                <a16:creationId xmlns:a16="http://schemas.microsoft.com/office/drawing/2014/main" id="{4B902795-1FFF-4EBB-B8C1-339F5501EE95}"/>
              </a:ext>
            </a:extLst>
          </p:cNvPr>
          <p:cNvSpPr>
            <a:spLocks xmlns:a="http://schemas.openxmlformats.org/drawingml/2006/main" noGrp="1"/>
          </p:cNvSpPr>
          <p:nvPr/>
        </p:nvSpPr>
        <p:spPr>
          <a:xfrm xmlns:a="http://schemas.openxmlformats.org/drawingml/2006/main">
            <a:off x="4476750" y="4857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55D84"/>
                </a:solidFill>
                <a:latin typeface="Roboto"/>
                <a:ea typeface="Roboto"/>
                <a:cs typeface="Roboto"/>
              </a:defRPr>
            </a:pPr>
            <a:r>
              <a:rPr sz="1350" b="1">
                <a:solidFill>
                  <a:srgbClr val="255D84"/>
                </a:solidFill>
                <a:latin typeface="Roboto"/>
                <a:ea typeface="Roboto"/>
                <a:cs typeface="Roboto"/>
              </a:rPr>
              <a:t>CI/CD</a:t>
            </a:r>
          </a:p>
        </p:txBody>
      </p:sp>
      <p:sp>
        <p:nvSpPr>
          <p:cNvPr id="30" name="">
            <a:extLst xmlns:a="http://schemas.openxmlformats.org/drawingml/2006/main">
              <a:ext uri="{FF2B5EF4-FFF2-40B4-BE49-F238E27FC236}">
                <a16:creationId xmlns:a16="http://schemas.microsoft.com/office/drawing/2014/main" id="{BC4EEECF-7B96-4CAD-9E7E-2612AA341612}"/>
              </a:ext>
            </a:extLst>
          </p:cNvPr>
          <p:cNvSpPr>
            <a:spLocks xmlns:a="http://schemas.openxmlformats.org/drawingml/2006/main" noGrp="1"/>
          </p:cNvSpPr>
          <p:nvPr/>
        </p:nvSpPr>
        <p:spPr>
          <a:xfrm xmlns:a="http://schemas.openxmlformats.org/drawingml/2006/main">
            <a:off x="4476750" y="51816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Automation that builds and delivers</a:t>
            </a:r>
          </a:p>
        </p:txBody>
      </p:sp>
      <p:sp>
        <p:nvSpPr>
          <p:cNvPr id="31" name="">
            <a:extLst xmlns:a="http://schemas.openxmlformats.org/drawingml/2006/main">
              <a:ext uri="{FF2B5EF4-FFF2-40B4-BE49-F238E27FC236}">
                <a16:creationId xmlns:a16="http://schemas.microsoft.com/office/drawing/2014/main" id="{CFFC69E2-1BE9-45B7-9FDD-D823A94EB7CD}"/>
              </a:ext>
            </a:extLst>
          </p:cNvPr>
          <p:cNvSpPr>
            <a:spLocks xmlns:a="http://schemas.openxmlformats.org/drawingml/2006/main" noGrp="1"/>
          </p:cNvSpPr>
          <p:nvPr/>
        </p:nvSpPr>
        <p:spPr>
          <a:xfrm xmlns:a="http://schemas.openxmlformats.org/drawingml/2006/main">
            <a:off x="8305800" y="4857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F7560"/>
                </a:solidFill>
                <a:latin typeface="Roboto"/>
                <a:ea typeface="Roboto"/>
                <a:cs typeface="Roboto"/>
              </a:defRPr>
            </a:pPr>
            <a:r>
              <a:rPr sz="1350" b="1">
                <a:solidFill>
                  <a:srgbClr val="2F7560"/>
                </a:solidFill>
                <a:latin typeface="Roboto"/>
                <a:ea typeface="Roboto"/>
                <a:cs typeface="Roboto"/>
              </a:rPr>
              <a:t>SSDLC</a:t>
            </a:r>
          </a:p>
        </p:txBody>
      </p:sp>
      <p:sp>
        <p:nvSpPr>
          <p:cNvPr id="32" name="">
            <a:extLst xmlns:a="http://schemas.openxmlformats.org/drawingml/2006/main">
              <a:ext uri="{FF2B5EF4-FFF2-40B4-BE49-F238E27FC236}">
                <a16:creationId xmlns:a16="http://schemas.microsoft.com/office/drawing/2014/main" id="{045603E1-038D-4A97-B1A2-3A9C640B18D1}"/>
              </a:ext>
            </a:extLst>
          </p:cNvPr>
          <p:cNvSpPr>
            <a:spLocks xmlns:a="http://schemas.openxmlformats.org/drawingml/2006/main" noGrp="1"/>
          </p:cNvSpPr>
          <p:nvPr/>
        </p:nvSpPr>
        <p:spPr>
          <a:xfrm xmlns:a="http://schemas.openxmlformats.org/drawingml/2006/main">
            <a:off x="8305800" y="51816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Security across the delivery path</a:t>
            </a:r>
          </a:p>
        </p:txBody>
      </p:sp>
      <p:sp>
        <p:nvSpPr>
          <p:cNvPr id="33" name="">
            <a:extLst xmlns:a="http://schemas.openxmlformats.org/drawingml/2006/main">
              <a:ext uri="{FF2B5EF4-FFF2-40B4-BE49-F238E27FC236}">
                <a16:creationId xmlns:a16="http://schemas.microsoft.com/office/drawing/2014/main" id="{7087AAC5-B225-4B77-80AA-9D31A3BEC034}"/>
              </a:ext>
            </a:extLst>
          </p:cNvPr>
          <p:cNvSpPr>
            <a:spLocks xmlns:a="http://schemas.openxmlformats.org/drawingml/2006/main" noGrp="1"/>
          </p:cNvSpPr>
          <p:nvPr/>
        </p:nvSpPr>
        <p:spPr>
          <a:xfrm xmlns:a="http://schemas.openxmlformats.org/drawingml/2006/main">
            <a:off x="762000" y="59817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77818B"/>
                </a:solidFill>
                <a:latin typeface="Roboto"/>
                <a:ea typeface="Roboto"/>
                <a:cs typeface="Roboto"/>
              </a:defRPr>
            </a:pPr>
            <a:r>
              <a:rPr sz="1050" b="0">
                <a:solidFill>
                  <a:srgbClr val="77818B"/>
                </a:solidFill>
                <a:latin typeface="Roboto"/>
                <a:ea typeface="Roboto"/>
                <a:cs typeface="Roboto"/>
              </a:rPr>
              <a:t>Deployment may be automatic or wait for approval.</a:t>
            </a:r>
          </a:p>
        </p:txBody>
      </p:sp>
      <p:sp>
        <p:nvSpPr>
          <p:cNvPr id="34" name="">
            <a:extLst xmlns:a="http://schemas.openxmlformats.org/drawingml/2006/main">
              <a:ext uri="{FF2B5EF4-FFF2-40B4-BE49-F238E27FC236}">
                <a16:creationId xmlns:a16="http://schemas.microsoft.com/office/drawing/2014/main" id="{353E3264-825C-4AB2-850D-3213B2BA6316}"/>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02</a:t>
            </a:r>
          </a:p>
        </p:txBody>
      </p:sp>
    </p:spTree>
    <p:extLst>
      <p:ext uri="{BB962C8B-B14F-4D97-AF65-F5344CB8AC3E}">
        <p14:creationId xmlns:p14="http://schemas.microsoft.com/office/powerpoint/2010/main" val="1492787589"/>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3462338-9B0F-4100-A68E-37D43A5AD63C}"/>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How a pipeline receives a secret</a:t>
            </a:r>
          </a:p>
        </p:txBody>
      </p:sp>
      <p:sp>
        <p:nvSpPr>
          <p:cNvPr id="2" name="">
            <a:extLst xmlns:a="http://schemas.openxmlformats.org/drawingml/2006/main">
              <a:ext uri="{FF2B5EF4-FFF2-40B4-BE49-F238E27FC236}">
                <a16:creationId xmlns:a16="http://schemas.microsoft.com/office/drawing/2014/main" id="{6CF765C5-5069-4A27-8FB5-49EC48F5390F}"/>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The file holds a reference. The CI system supplies the value when the job runs.</a:t>
            </a:r>
          </a:p>
        </p:txBody>
      </p:sp>
      <p:sp>
        <p:nvSpPr>
          <p:cNvPr id="3" name="">
            <a:extLst xmlns:a="http://schemas.openxmlformats.org/drawingml/2006/main">
              <a:ext uri="{FF2B5EF4-FFF2-40B4-BE49-F238E27FC236}">
                <a16:creationId xmlns:a16="http://schemas.microsoft.com/office/drawing/2014/main" id="{9ACE0044-C6FA-43DE-AE35-D9F7E7DC0448}"/>
              </a:ext>
            </a:extLst>
          </p:cNvPr>
          <p:cNvSpPr>
            <a:spLocks xmlns:a="http://schemas.openxmlformats.org/drawingml/2006/main" noGrp="1"/>
          </p:cNvSpPr>
          <p:nvPr/>
        </p:nvSpPr>
        <p:spPr>
          <a:xfrm xmlns:a="http://schemas.openxmlformats.org/drawingml/2006/main">
            <a:off x="647700" y="1695450"/>
            <a:ext cx="6191250" cy="4495800"/>
          </a:xfrm>
          <a:prstGeom xmlns:a="http://schemas.openxmlformats.org/drawingml/2006/main" prst="roundRect">
            <a:avLst>
              <a:gd name="adj" fmla="val 1695"/>
            </a:avLst>
          </a:prstGeom>
          <a:solidFill xmlns:a="http://schemas.openxmlformats.org/drawingml/2006/main">
            <a:srgbClr val="FBFAF6"/>
          </a:solidFill>
          <a:ln xmlns:a="http://schemas.openxmlformats.org/drawingml/2006/main" w="11430">
            <a:solidFill>
              <a:srgbClr val="C9C5BC"/>
            </a:solidFill>
            <a:prstDash val="solid"/>
          </a:ln>
        </p:spPr>
      </p:sp>
      <p:sp>
        <p:nvSpPr>
          <p:cNvPr id="4" name="">
            <a:extLst xmlns:a="http://schemas.openxmlformats.org/drawingml/2006/main">
              <a:ext uri="{FF2B5EF4-FFF2-40B4-BE49-F238E27FC236}">
                <a16:creationId xmlns:a16="http://schemas.microsoft.com/office/drawing/2014/main" id="{BB5476DC-0D39-4CFC-B08A-77D604F02472}"/>
              </a:ext>
            </a:extLst>
          </p:cNvPr>
          <p:cNvSpPr>
            <a:spLocks xmlns:a="http://schemas.openxmlformats.org/drawingml/2006/main" noGrp="1"/>
          </p:cNvSpPr>
          <p:nvPr/>
        </p:nvSpPr>
        <p:spPr>
          <a:xfrm xmlns:a="http://schemas.openxmlformats.org/drawingml/2006/main">
            <a:off x="876300" y="18669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7818B"/>
                </a:solidFill>
                <a:latin typeface="Roboto"/>
                <a:ea typeface="Roboto"/>
                <a:cs typeface="Roboto"/>
              </a:defRPr>
            </a:pPr>
            <a:r>
              <a:rPr sz="1050" b="1">
                <a:solidFill>
                  <a:srgbClr val="77818B"/>
                </a:solidFill>
                <a:latin typeface="Roboto"/>
                <a:ea typeface="Roboto"/>
                <a:cs typeface="Roboto"/>
              </a:rPr>
              <a:t>release.yml</a:t>
            </a:r>
          </a:p>
        </p:txBody>
      </p:sp>
      <p:sp>
        <p:nvSpPr>
          <p:cNvPr id="5" name="">
            <a:extLst xmlns:a="http://schemas.openxmlformats.org/drawingml/2006/main">
              <a:ext uri="{FF2B5EF4-FFF2-40B4-BE49-F238E27FC236}">
                <a16:creationId xmlns:a16="http://schemas.microsoft.com/office/drawing/2014/main" id="{51712D40-88A1-481C-808D-48F5F129C92D}"/>
              </a:ext>
            </a:extLst>
          </p:cNvPr>
          <p:cNvSpPr>
            <a:spLocks xmlns:a="http://schemas.openxmlformats.org/drawingml/2006/main" noGrp="1"/>
          </p:cNvSpPr>
          <p:nvPr/>
        </p:nvSpPr>
        <p:spPr>
          <a:xfrm xmlns:a="http://schemas.openxmlformats.org/drawingml/2006/main">
            <a:off x="876300" y="2200275"/>
            <a:ext cx="5695950" cy="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6" name="">
            <a:extLst xmlns:a="http://schemas.openxmlformats.org/drawingml/2006/main">
              <a:ext uri="{FF2B5EF4-FFF2-40B4-BE49-F238E27FC236}">
                <a16:creationId xmlns:a16="http://schemas.microsoft.com/office/drawing/2014/main" id="{EFF2F55F-F6C0-47DD-8DF3-F43F9A3A899A}"/>
              </a:ext>
            </a:extLst>
          </p:cNvPr>
          <p:cNvSpPr>
            <a:spLocks xmlns:a="http://schemas.openxmlformats.org/drawingml/2006/main" noGrp="1"/>
          </p:cNvSpPr>
          <p:nvPr/>
        </p:nvSpPr>
        <p:spPr>
          <a:xfrm xmlns:a="http://schemas.openxmlformats.org/drawingml/2006/main">
            <a:off x="838200" y="3133725"/>
            <a:ext cx="5810250" cy="523875"/>
          </a:xfrm>
          <a:prstGeom xmlns:a="http://schemas.openxmlformats.org/drawingml/2006/main" prst="roundRect">
            <a:avLst>
              <a:gd name="adj" fmla="val 9091"/>
            </a:avLst>
          </a:prstGeom>
          <a:solidFill xmlns:a="http://schemas.openxmlformats.org/drawingml/2006/main">
            <a:srgbClr val="F2DE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AE1BEB-5066-4069-9A85-CF9F27497B97}"/>
              </a:ext>
            </a:extLst>
          </p:cNvPr>
          <p:cNvSpPr>
            <a:spLocks xmlns:a="http://schemas.openxmlformats.org/drawingml/2006/main" noGrp="1"/>
          </p:cNvSpPr>
          <p:nvPr/>
        </p:nvSpPr>
        <p:spPr>
          <a:xfrm xmlns:a="http://schemas.openxmlformats.org/drawingml/2006/main">
            <a:off x="838200" y="4686300"/>
            <a:ext cx="5810250" cy="866775"/>
          </a:xfrm>
          <a:prstGeom xmlns:a="http://schemas.openxmlformats.org/drawingml/2006/main" prst="roundRect">
            <a:avLst>
              <a:gd name="adj" fmla="val 5495"/>
            </a:avLst>
          </a:prstGeom>
          <a:solidFill xmlns:a="http://schemas.openxmlformats.org/drawingml/2006/main">
            <a:srgbClr val="DCE7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038507-8E15-4B40-BF1A-DA6AED3801AF}"/>
              </a:ext>
            </a:extLst>
          </p:cNvPr>
          <p:cNvSpPr>
            <a:spLocks xmlns:a="http://schemas.openxmlformats.org/drawingml/2006/main" noGrp="1"/>
          </p:cNvSpPr>
          <p:nvPr/>
        </p:nvSpPr>
        <p:spPr>
          <a:xfrm xmlns:a="http://schemas.openxmlformats.org/drawingml/2006/main">
            <a:off x="952500" y="2333625"/>
            <a:ext cx="5572125"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jobs:</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deploy:</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runs-on: linux-runner</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env:</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CLIENT_ID: </a:t>
            </a:r>
            <a:r>
              <a:rPr sz="1238" b="0">
                <a:solidFill>
                  <a:srgbClr val="C65231"/>
                </a:solidFill>
                <a:latin typeface="Consolas"/>
                <a:ea typeface="Consolas"/>
                <a:cs typeface="Consolas"/>
              </a:rPr>
              <a:t>${{ secrets.DEPLOY_CLIENT_ID }}</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CLIENT_SECRET: </a:t>
            </a:r>
            <a:r>
              <a:rPr sz="1238" b="0">
                <a:solidFill>
                  <a:srgbClr val="C65231"/>
                </a:solidFill>
                <a:latin typeface="Consolas"/>
                <a:ea typeface="Consolas"/>
                <a:cs typeface="Consolas"/>
              </a:rPr>
              <a:t>${{ secrets.DEPLOY_CLIENT_SECRET }}</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steps:</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 name: Build release</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run: ./scripts/build-release.sh</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 name: Deploy release</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run: |</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a:t>
            </a:r>
            <a:r>
              <a:rPr sz="1238" b="0">
                <a:solidFill>
                  <a:srgbClr val="255D84"/>
                </a:solidFill>
                <a:latin typeface="Consolas"/>
                <a:ea typeface="Consolas"/>
                <a:cs typeface="Consolas"/>
              </a:rPr>
              <a:t>deployctl login</a:t>
            </a:r>
            <a:r>
              <a:rPr sz="1238" b="0">
                <a:solidFill>
                  <a:srgbClr val="17212B"/>
                </a:solidFill>
                <a:latin typeface="Consolas"/>
                <a:ea typeface="Consolas"/>
                <a:cs typeface="Consolas"/>
              </a:rPr>
              <a:t> \</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--client "$CLIENT_ID" \</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--secret "$CLIENT_SECRET"</a:t>
            </a:r>
          </a:p>
          <a:p xmlns:a="http://schemas.openxmlformats.org/drawingml/2006/main">
            <a:pPr algn="l">
              <a:lnSpc>
                <a:spcPct val="102000"/>
              </a:lnSpc>
              <a:buNone/>
              <a:defRPr sz="1238" b="0">
                <a:solidFill>
                  <a:srgbClr val="17212B"/>
                </a:solidFill>
                <a:latin typeface="Consolas"/>
                <a:ea typeface="Consolas"/>
                <a:cs typeface="Consolas"/>
              </a:defRPr>
            </a:pPr>
            <a:r>
              <a:rPr sz="1238" b="0">
                <a:solidFill>
                  <a:srgbClr val="17212B"/>
                </a:solidFill>
                <a:latin typeface="Consolas"/>
                <a:ea typeface="Consolas"/>
                <a:cs typeface="Consolas"/>
              </a:rPr>
              <a:t>          </a:t>
            </a:r>
            <a:r>
              <a:rPr sz="1238" b="0">
                <a:solidFill>
                  <a:srgbClr val="255D84"/>
                </a:solidFill>
                <a:latin typeface="Consolas"/>
                <a:ea typeface="Consolas"/>
                <a:cs typeface="Consolas"/>
              </a:rPr>
              <a:t>deployctl publish</a:t>
            </a:r>
            <a:r>
              <a:rPr sz="1238" b="0">
                <a:solidFill>
                  <a:srgbClr val="17212B"/>
                </a:solidFill>
                <a:latin typeface="Consolas"/>
                <a:ea typeface="Consolas"/>
                <a:cs typeface="Consolas"/>
              </a:rPr>
              <a:t> release.tar.gz</a:t>
            </a:r>
          </a:p>
        </p:txBody>
      </p:sp>
      <p:sp>
        <p:nvSpPr>
          <p:cNvPr id="9" name="">
            <a:extLst xmlns:a="http://schemas.openxmlformats.org/drawingml/2006/main">
              <a:ext uri="{FF2B5EF4-FFF2-40B4-BE49-F238E27FC236}">
                <a16:creationId xmlns:a16="http://schemas.microsoft.com/office/drawing/2014/main" id="{6DAB007F-AB11-4ACC-B943-924EF2EF14FD}"/>
              </a:ext>
            </a:extLst>
          </p:cNvPr>
          <p:cNvSpPr>
            <a:spLocks xmlns:a="http://schemas.openxmlformats.org/drawingml/2006/main" noGrp="1"/>
          </p:cNvSpPr>
          <p:nvPr/>
        </p:nvSpPr>
        <p:spPr>
          <a:xfrm xmlns:a="http://schemas.openxmlformats.org/drawingml/2006/main">
            <a:off x="7353300" y="1809750"/>
            <a:ext cx="323850" cy="323850"/>
          </a:xfrm>
          <a:prstGeom xmlns:a="http://schemas.openxmlformats.org/drawingml/2006/main" prst="ellipse">
            <a:avLst/>
          </a:prstGeom>
          <a:solidFill xmlns:a="http://schemas.openxmlformats.org/drawingml/2006/main">
            <a:srgbClr val="DCE7EE"/>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41883"/>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1</a:t>
            </a:r>
          </a:p>
        </p:txBody>
      </p:sp>
      <p:sp>
        <p:nvSpPr>
          <p:cNvPr id="10" name="">
            <a:extLst xmlns:a="http://schemas.openxmlformats.org/drawingml/2006/main">
              <a:ext uri="{FF2B5EF4-FFF2-40B4-BE49-F238E27FC236}">
                <a16:creationId xmlns:a16="http://schemas.microsoft.com/office/drawing/2014/main" id="{283AA22A-049E-4521-826D-0500A24371DF}"/>
              </a:ext>
            </a:extLst>
          </p:cNvPr>
          <p:cNvSpPr>
            <a:spLocks xmlns:a="http://schemas.openxmlformats.org/drawingml/2006/main" noGrp="1"/>
          </p:cNvSpPr>
          <p:nvPr/>
        </p:nvSpPr>
        <p:spPr>
          <a:xfrm xmlns:a="http://schemas.openxmlformats.org/drawingml/2006/main">
            <a:off x="7848600" y="17907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Secrets live in CI settings</a:t>
            </a:r>
          </a:p>
        </p:txBody>
      </p:sp>
      <p:sp>
        <p:nvSpPr>
          <p:cNvPr id="11" name="">
            <a:extLst xmlns:a="http://schemas.openxmlformats.org/drawingml/2006/main">
              <a:ext uri="{FF2B5EF4-FFF2-40B4-BE49-F238E27FC236}">
                <a16:creationId xmlns:a16="http://schemas.microsoft.com/office/drawing/2014/main" id="{D48785FE-5B38-4A55-AA22-F1BA84C3E4CC}"/>
              </a:ext>
            </a:extLst>
          </p:cNvPr>
          <p:cNvSpPr>
            <a:spLocks xmlns:a="http://schemas.openxmlformats.org/drawingml/2006/main" noGrp="1"/>
          </p:cNvSpPr>
          <p:nvPr/>
        </p:nvSpPr>
        <p:spPr>
          <a:xfrm xmlns:a="http://schemas.openxmlformats.org/drawingml/2006/main">
            <a:off x="7848600" y="2114550"/>
            <a:ext cx="354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The repository contains references, not the stored values.</a:t>
            </a:r>
          </a:p>
        </p:txBody>
      </p:sp>
      <p:sp>
        <p:nvSpPr>
          <p:cNvPr id="12" name="">
            <a:extLst xmlns:a="http://schemas.openxmlformats.org/drawingml/2006/main">
              <a:ext uri="{FF2B5EF4-FFF2-40B4-BE49-F238E27FC236}">
                <a16:creationId xmlns:a16="http://schemas.microsoft.com/office/drawing/2014/main" id="{1264E6D8-596A-4137-97A9-856F29C4011B}"/>
              </a:ext>
            </a:extLst>
          </p:cNvPr>
          <p:cNvSpPr>
            <a:spLocks xmlns:a="http://schemas.openxmlformats.org/drawingml/2006/main" noGrp="1"/>
          </p:cNvSpPr>
          <p:nvPr/>
        </p:nvSpPr>
        <p:spPr>
          <a:xfrm xmlns:a="http://schemas.openxmlformats.org/drawingml/2006/main">
            <a:off x="7353300" y="2876550"/>
            <a:ext cx="323850" cy="323850"/>
          </a:xfrm>
          <a:prstGeom xmlns:a="http://schemas.openxmlformats.org/drawingml/2006/main" prst="ellipse">
            <a:avLst/>
          </a:prstGeom>
          <a:solidFill xmlns:a="http://schemas.openxmlformats.org/drawingml/2006/main">
            <a:srgbClr val="DCE7EE"/>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41883"/>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2</a:t>
            </a:r>
          </a:p>
        </p:txBody>
      </p:sp>
      <p:sp>
        <p:nvSpPr>
          <p:cNvPr id="13" name="">
            <a:extLst xmlns:a="http://schemas.openxmlformats.org/drawingml/2006/main">
              <a:ext uri="{FF2B5EF4-FFF2-40B4-BE49-F238E27FC236}">
                <a16:creationId xmlns:a16="http://schemas.microsoft.com/office/drawing/2014/main" id="{B7752776-BF97-42A0-AB8B-998F70561E24}"/>
              </a:ext>
            </a:extLst>
          </p:cNvPr>
          <p:cNvSpPr>
            <a:spLocks xmlns:a="http://schemas.openxmlformats.org/drawingml/2006/main" noGrp="1"/>
          </p:cNvSpPr>
          <p:nvPr/>
        </p:nvSpPr>
        <p:spPr>
          <a:xfrm xmlns:a="http://schemas.openxmlformats.org/drawingml/2006/main">
            <a:off x="7848600" y="2857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The job receives them at runtime</a:t>
            </a:r>
          </a:p>
        </p:txBody>
      </p:sp>
      <p:sp>
        <p:nvSpPr>
          <p:cNvPr id="14" name="">
            <a:extLst xmlns:a="http://schemas.openxmlformats.org/drawingml/2006/main">
              <a:ext uri="{FF2B5EF4-FFF2-40B4-BE49-F238E27FC236}">
                <a16:creationId xmlns:a16="http://schemas.microsoft.com/office/drawing/2014/main" id="{09D490F4-9E2F-4218-BD57-ADD2F31335AE}"/>
              </a:ext>
            </a:extLst>
          </p:cNvPr>
          <p:cNvSpPr>
            <a:spLocks xmlns:a="http://schemas.openxmlformats.org/drawingml/2006/main" noGrp="1"/>
          </p:cNvSpPr>
          <p:nvPr/>
        </p:nvSpPr>
        <p:spPr>
          <a:xfrm xmlns:a="http://schemas.openxmlformats.org/drawingml/2006/main">
            <a:off x="7848600" y="3181350"/>
            <a:ext cx="354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The CI system provides the values to this job.</a:t>
            </a:r>
          </a:p>
        </p:txBody>
      </p:sp>
      <p:sp>
        <p:nvSpPr>
          <p:cNvPr id="15" name="">
            <a:extLst xmlns:a="http://schemas.openxmlformats.org/drawingml/2006/main">
              <a:ext uri="{FF2B5EF4-FFF2-40B4-BE49-F238E27FC236}">
                <a16:creationId xmlns:a16="http://schemas.microsoft.com/office/drawing/2014/main" id="{7A943178-5263-4B51-BF58-E67433FA9C8A}"/>
              </a:ext>
            </a:extLst>
          </p:cNvPr>
          <p:cNvSpPr>
            <a:spLocks xmlns:a="http://schemas.openxmlformats.org/drawingml/2006/main" noGrp="1"/>
          </p:cNvSpPr>
          <p:nvPr/>
        </p:nvSpPr>
        <p:spPr>
          <a:xfrm xmlns:a="http://schemas.openxmlformats.org/drawingml/2006/main">
            <a:off x="7353300" y="3943350"/>
            <a:ext cx="323850" cy="323850"/>
          </a:xfrm>
          <a:prstGeom xmlns:a="http://schemas.openxmlformats.org/drawingml/2006/main" prst="ellipse">
            <a:avLst/>
          </a:prstGeom>
          <a:solidFill xmlns:a="http://schemas.openxmlformats.org/drawingml/2006/main">
            <a:srgbClr val="DCE7EE"/>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41883"/>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3</a:t>
            </a:r>
          </a:p>
        </p:txBody>
      </p:sp>
      <p:sp>
        <p:nvSpPr>
          <p:cNvPr id="16" name="">
            <a:extLst xmlns:a="http://schemas.openxmlformats.org/drawingml/2006/main">
              <a:ext uri="{FF2B5EF4-FFF2-40B4-BE49-F238E27FC236}">
                <a16:creationId xmlns:a16="http://schemas.microsoft.com/office/drawing/2014/main" id="{E2B017D2-48B4-4B50-8D95-AA2C312A615A}"/>
              </a:ext>
            </a:extLst>
          </p:cNvPr>
          <p:cNvSpPr>
            <a:spLocks xmlns:a="http://schemas.openxmlformats.org/drawingml/2006/main" noGrp="1"/>
          </p:cNvSpPr>
          <p:nvPr/>
        </p:nvSpPr>
        <p:spPr>
          <a:xfrm xmlns:a="http://schemas.openxmlformats.org/drawingml/2006/main">
            <a:off x="7848600" y="39243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Deployment needs a service identity</a:t>
            </a:r>
          </a:p>
        </p:txBody>
      </p:sp>
      <p:sp>
        <p:nvSpPr>
          <p:cNvPr id="17" name="">
            <a:extLst xmlns:a="http://schemas.openxmlformats.org/drawingml/2006/main">
              <a:ext uri="{FF2B5EF4-FFF2-40B4-BE49-F238E27FC236}">
                <a16:creationId xmlns:a16="http://schemas.microsoft.com/office/drawing/2014/main" id="{D3EC7F1F-6DD6-4EB0-A778-546A1B068542}"/>
              </a:ext>
            </a:extLst>
          </p:cNvPr>
          <p:cNvSpPr>
            <a:spLocks xmlns:a="http://schemas.openxmlformats.org/drawingml/2006/main" noGrp="1"/>
          </p:cNvSpPr>
          <p:nvPr/>
        </p:nvSpPr>
        <p:spPr>
          <a:xfrm xmlns:a="http://schemas.openxmlformats.org/drawingml/2006/main">
            <a:off x="7848600" y="4248150"/>
            <a:ext cx="354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The target accepts releases only from authorized automation.</a:t>
            </a:r>
          </a:p>
        </p:txBody>
      </p:sp>
      <p:sp>
        <p:nvSpPr>
          <p:cNvPr id="18" name="">
            <a:extLst xmlns:a="http://schemas.openxmlformats.org/drawingml/2006/main">
              <a:ext uri="{FF2B5EF4-FFF2-40B4-BE49-F238E27FC236}">
                <a16:creationId xmlns:a16="http://schemas.microsoft.com/office/drawing/2014/main" id="{377F90E0-626F-47B2-A3B6-9578894904ED}"/>
              </a:ext>
            </a:extLst>
          </p:cNvPr>
          <p:cNvSpPr>
            <a:spLocks xmlns:a="http://schemas.openxmlformats.org/drawingml/2006/main" noGrp="1"/>
          </p:cNvSpPr>
          <p:nvPr/>
        </p:nvSpPr>
        <p:spPr>
          <a:xfrm xmlns:a="http://schemas.openxmlformats.org/drawingml/2006/main">
            <a:off x="7353300" y="5010150"/>
            <a:ext cx="323850" cy="323850"/>
          </a:xfrm>
          <a:prstGeom xmlns:a="http://schemas.openxmlformats.org/drawingml/2006/main" prst="ellipse">
            <a:avLst/>
          </a:prstGeom>
          <a:solidFill xmlns:a="http://schemas.openxmlformats.org/drawingml/2006/main">
            <a:srgbClr val="F2DED5"/>
          </a:solidFill>
          <a:ln xmlns:a="http://schemas.openxmlformats.org/drawingml/2006/main" w="19050">
            <a:solidFill>
              <a:srgbClr val="C65231"/>
            </a:solidFill>
            <a:prstDash val="solid"/>
          </a:ln>
        </p:spPr>
        <p:txBody>
          <a:bodyPr xmlns:a="http://schemas.openxmlformats.org/drawingml/2006/main" wrap="square" lIns="76200" tIns="76200" rIns="76200" bIns="76200" anchor="ctr">
            <a:normAutofit fontScale="41883"/>
          </a:bodyPr>
          <a:lstStyle xmlns:a="http://schemas.openxmlformats.org/drawingml/2006/main"/>
          <a:p xmlns:a="http://schemas.openxmlformats.org/drawingml/2006/main">
            <a:pPr algn="ctr">
              <a:defRPr sz="1200" b="1">
                <a:solidFill>
                  <a:srgbClr val="C65231"/>
                </a:solidFill>
                <a:latin typeface="Roboto"/>
                <a:ea typeface="Roboto"/>
                <a:cs typeface="Roboto"/>
              </a:defRPr>
            </a:pPr>
            <a:r>
              <a:rPr sz="1200" b="1">
                <a:solidFill>
                  <a:srgbClr val="C65231"/>
                </a:solidFill>
                <a:latin typeface="Roboto"/>
                <a:ea typeface="Roboto"/>
                <a:cs typeface="Roboto"/>
              </a:rPr>
              <a:t>4</a:t>
            </a:r>
          </a:p>
        </p:txBody>
      </p:sp>
      <p:sp>
        <p:nvSpPr>
          <p:cNvPr id="19" name="">
            <a:extLst xmlns:a="http://schemas.openxmlformats.org/drawingml/2006/main">
              <a:ext uri="{FF2B5EF4-FFF2-40B4-BE49-F238E27FC236}">
                <a16:creationId xmlns:a16="http://schemas.microsoft.com/office/drawing/2014/main" id="{613479A0-02F2-4378-9997-6B8A4430447A}"/>
              </a:ext>
            </a:extLst>
          </p:cNvPr>
          <p:cNvSpPr>
            <a:spLocks xmlns:a="http://schemas.openxmlformats.org/drawingml/2006/main" noGrp="1"/>
          </p:cNvSpPr>
          <p:nvPr/>
        </p:nvSpPr>
        <p:spPr>
          <a:xfrm xmlns:a="http://schemas.openxmlformats.org/drawingml/2006/main">
            <a:off x="7848600" y="49911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C65231"/>
                </a:solidFill>
                <a:latin typeface="Roboto"/>
                <a:ea typeface="Roboto"/>
                <a:cs typeface="Roboto"/>
              </a:defRPr>
            </a:pPr>
            <a:r>
              <a:rPr sz="1350" b="1">
                <a:solidFill>
                  <a:srgbClr val="C65231"/>
                </a:solidFill>
                <a:latin typeface="Roboto"/>
                <a:ea typeface="Roboto"/>
                <a:cs typeface="Roboto"/>
              </a:rPr>
              <a:t>A changed step can use them too</a:t>
            </a:r>
          </a:p>
        </p:txBody>
      </p:sp>
      <p:sp>
        <p:nvSpPr>
          <p:cNvPr id="20" name="">
            <a:extLst xmlns:a="http://schemas.openxmlformats.org/drawingml/2006/main">
              <a:ext uri="{FF2B5EF4-FFF2-40B4-BE49-F238E27FC236}">
                <a16:creationId xmlns:a16="http://schemas.microsoft.com/office/drawing/2014/main" id="{B1E9FF26-91D4-4709-86A5-49C3331575AD}"/>
              </a:ext>
            </a:extLst>
          </p:cNvPr>
          <p:cNvSpPr>
            <a:spLocks xmlns:a="http://schemas.openxmlformats.org/drawingml/2006/main" noGrp="1"/>
          </p:cNvSpPr>
          <p:nvPr/>
        </p:nvSpPr>
        <p:spPr>
          <a:xfrm xmlns:a="http://schemas.openxmlformats.org/drawingml/2006/main">
            <a:off x="7848600" y="5314950"/>
            <a:ext cx="354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Another command in the job may reference the same values.</a:t>
            </a:r>
          </a:p>
        </p:txBody>
      </p:sp>
      <p:sp>
        <p:nvSpPr>
          <p:cNvPr id="21" name="">
            <a:extLst xmlns:a="http://schemas.openxmlformats.org/drawingml/2006/main">
              <a:ext uri="{FF2B5EF4-FFF2-40B4-BE49-F238E27FC236}">
                <a16:creationId xmlns:a16="http://schemas.microsoft.com/office/drawing/2014/main" id="{666D2C86-DD8F-496D-96C5-87D21675C81A}"/>
              </a:ext>
            </a:extLst>
          </p:cNvPr>
          <p:cNvSpPr>
            <a:spLocks xmlns:a="http://schemas.openxmlformats.org/drawingml/2006/main" noGrp="1"/>
          </p:cNvSpPr>
          <p:nvPr/>
        </p:nvSpPr>
        <p:spPr>
          <a:xfrm xmlns:a="http://schemas.openxmlformats.org/drawingml/2006/main">
            <a:off x="7848600" y="613410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77818B"/>
                </a:solidFill>
                <a:latin typeface="Roboto"/>
                <a:ea typeface="Roboto"/>
                <a:cs typeface="Roboto"/>
              </a:defRPr>
            </a:pPr>
            <a:r>
              <a:rPr sz="975" b="0">
                <a:solidFill>
                  <a:srgbClr val="77818B"/>
                </a:solidFill>
                <a:latin typeface="Roboto"/>
                <a:ea typeface="Roboto"/>
                <a:cs typeface="Roboto"/>
              </a:rPr>
              <a:t>Simplified example. The lab uses fake values only.</a:t>
            </a:r>
          </a:p>
        </p:txBody>
      </p:sp>
      <p:sp>
        <p:nvSpPr>
          <p:cNvPr id="22" name="">
            <a:extLst xmlns:a="http://schemas.openxmlformats.org/drawingml/2006/main">
              <a:ext uri="{FF2B5EF4-FFF2-40B4-BE49-F238E27FC236}">
                <a16:creationId xmlns:a16="http://schemas.microsoft.com/office/drawing/2014/main" id="{169529CD-2C67-4C0A-B039-8E7C1322ED4A}"/>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03</a:t>
            </a:r>
          </a:p>
        </p:txBody>
      </p:sp>
    </p:spTree>
    <p:extLst>
      <p:ext uri="{BB962C8B-B14F-4D97-AF65-F5344CB8AC3E}">
        <p14:creationId xmlns:p14="http://schemas.microsoft.com/office/powerpoint/2010/main" val="890989918"/>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8425B27-B19B-4B44-A40B-AC62809192EB}"/>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Trust moves in both directions</a:t>
            </a:r>
          </a:p>
        </p:txBody>
      </p:sp>
      <p:sp>
        <p:nvSpPr>
          <p:cNvPr id="2" name="">
            <a:extLst xmlns:a="http://schemas.openxmlformats.org/drawingml/2006/main">
              <a:ext uri="{FF2B5EF4-FFF2-40B4-BE49-F238E27FC236}">
                <a16:creationId xmlns:a16="http://schemas.microsoft.com/office/drawing/2014/main" id="{B9CF61C2-CFEC-4ADD-BE3B-20FE94D42B70}"/>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A source-control foothold can reach production or a developer environment</a:t>
            </a:r>
          </a:p>
        </p:txBody>
      </p:sp>
      <p:sp>
        <p:nvSpPr>
          <p:cNvPr id="3" name="">
            <a:extLst xmlns:a="http://schemas.openxmlformats.org/drawingml/2006/main">
              <a:ext uri="{FF2B5EF4-FFF2-40B4-BE49-F238E27FC236}">
                <a16:creationId xmlns:a16="http://schemas.microsoft.com/office/drawing/2014/main" id="{6194DB39-639B-4B0F-8F1D-C7163FD86603}"/>
              </a:ext>
            </a:extLst>
          </p:cNvPr>
          <p:cNvSpPr>
            <a:spLocks xmlns:a="http://schemas.openxmlformats.org/drawingml/2006/main" noGrp="1"/>
          </p:cNvSpPr>
          <p:nvPr/>
        </p:nvSpPr>
        <p:spPr>
          <a:xfrm xmlns:a="http://schemas.openxmlformats.org/drawingml/2006/main">
            <a:off x="723900" y="2724150"/>
            <a:ext cx="2038350" cy="990600"/>
          </a:xfrm>
          <a:prstGeom xmlns:a="http://schemas.openxmlformats.org/drawingml/2006/main" prst="roundRect">
            <a:avLst>
              <a:gd name="adj" fmla="val 7692"/>
            </a:avLst>
          </a:prstGeom>
          <a:solidFill xmlns:a="http://schemas.openxmlformats.org/drawingml/2006/main">
            <a:srgbClr val="F2DED5"/>
          </a:solidFill>
          <a:ln xmlns:a="http://schemas.openxmlformats.org/drawingml/2006/main" w="20955">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425" b="1">
                <a:solidFill>
                  <a:srgbClr val="17212B"/>
                </a:solidFill>
                <a:latin typeface="Roboto"/>
                <a:ea typeface="Roboto"/>
                <a:cs typeface="Roboto"/>
              </a:defRPr>
            </a:pPr>
            <a:r>
              <a:rPr sz="1425" b="1">
                <a:solidFill>
                  <a:srgbClr val="17212B"/>
                </a:solidFill>
                <a:latin typeface="Roboto"/>
                <a:ea typeface="Roboto"/>
                <a:cs typeface="Roboto"/>
              </a:rPr>
              <a:t>Source control</a:t>
            </a:r>
          </a:p>
          <a:p xmlns:a="http://schemas.openxmlformats.org/drawingml/2006/main">
            <a:pPr algn="ctr">
              <a:defRPr sz="1425" b="1">
                <a:solidFill>
                  <a:srgbClr val="17212B"/>
                </a:solidFill>
                <a:latin typeface="Roboto"/>
                <a:ea typeface="Roboto"/>
                <a:cs typeface="Roboto"/>
              </a:defRPr>
            </a:pPr>
            <a:r>
              <a:rPr sz="1425" b="1">
                <a:solidFill>
                  <a:srgbClr val="17212B"/>
                </a:solidFill>
                <a:latin typeface="Roboto"/>
                <a:ea typeface="Roboto"/>
                <a:cs typeface="Roboto"/>
              </a:rPr>
              <a:t>changed code or instructions</a:t>
            </a:r>
          </a:p>
        </p:txBody>
      </p:sp>
      <p:sp>
        <p:nvSpPr>
          <p:cNvPr id="4" name="">
            <a:extLst xmlns:a="http://schemas.openxmlformats.org/drawingml/2006/main">
              <a:ext uri="{FF2B5EF4-FFF2-40B4-BE49-F238E27FC236}">
                <a16:creationId xmlns:a16="http://schemas.microsoft.com/office/drawing/2014/main" id="{EE29A0DE-C416-4B82-96FE-4512BBB343EB}"/>
              </a:ext>
            </a:extLst>
          </p:cNvPr>
          <p:cNvSpPr>
            <a:spLocks xmlns:a="http://schemas.openxmlformats.org/drawingml/2006/main" noGrp="1"/>
          </p:cNvSpPr>
          <p:nvPr/>
        </p:nvSpPr>
        <p:spPr>
          <a:xfrm xmlns:a="http://schemas.openxmlformats.org/drawingml/2006/main">
            <a:off x="723900" y="3905250"/>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88" b="0">
                <a:solidFill>
                  <a:srgbClr val="46515C"/>
                </a:solidFill>
                <a:latin typeface="Roboto"/>
                <a:ea typeface="Roboto"/>
                <a:cs typeface="Roboto"/>
              </a:defRPr>
            </a:pPr>
            <a:r>
              <a:rPr sz="1088" b="0">
                <a:solidFill>
                  <a:srgbClr val="46515C"/>
                </a:solidFill>
                <a:latin typeface="Roboto"/>
                <a:ea typeface="Roboto"/>
                <a:cs typeface="Roboto"/>
              </a:rPr>
              <a:t>A stolen or misused developer identity can start here</a:t>
            </a:r>
          </a:p>
        </p:txBody>
      </p:sp>
      <p:sp>
        <p:nvSpPr>
          <p:cNvPr id="5" name="">
            <a:extLst xmlns:a="http://schemas.openxmlformats.org/drawingml/2006/main">
              <a:ext uri="{FF2B5EF4-FFF2-40B4-BE49-F238E27FC236}">
                <a16:creationId xmlns:a16="http://schemas.microsoft.com/office/drawing/2014/main" id="{9607090D-19A3-40A0-849E-42F9154252EC}"/>
              </a:ext>
            </a:extLst>
          </p:cNvPr>
          <p:cNvSpPr>
            <a:spLocks xmlns:a="http://schemas.openxmlformats.org/drawingml/2006/main" noGrp="1"/>
          </p:cNvSpPr>
          <p:nvPr/>
        </p:nvSpPr>
        <p:spPr>
          <a:xfrm xmlns:a="http://schemas.openxmlformats.org/drawingml/2006/main">
            <a:off x="3429000" y="16573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255D84"/>
                </a:solidFill>
                <a:latin typeface="Roboto"/>
                <a:ea typeface="Roboto"/>
                <a:cs typeface="Roboto"/>
              </a:defRPr>
            </a:pPr>
            <a:r>
              <a:rPr sz="1425" b="1">
                <a:solidFill>
                  <a:srgbClr val="255D84"/>
                </a:solidFill>
                <a:latin typeface="Roboto"/>
                <a:ea typeface="Roboto"/>
                <a:cs typeface="Roboto"/>
              </a:rPr>
              <a:t>Toward production and users</a:t>
            </a:r>
          </a:p>
        </p:txBody>
      </p:sp>
      <p:sp>
        <p:nvSpPr>
          <p:cNvPr id="6" name="">
            <a:extLst xmlns:a="http://schemas.openxmlformats.org/drawingml/2006/main">
              <a:ext uri="{FF2B5EF4-FFF2-40B4-BE49-F238E27FC236}">
                <a16:creationId xmlns:a16="http://schemas.microsoft.com/office/drawing/2014/main" id="{BF172844-0DDD-41FD-BAE8-2948CF7ADC9E}"/>
              </a:ext>
            </a:extLst>
          </p:cNvPr>
          <p:cNvSpPr>
            <a:spLocks xmlns:a="http://schemas.openxmlformats.org/drawingml/2006/main" noGrp="1"/>
          </p:cNvSpPr>
          <p:nvPr/>
        </p:nvSpPr>
        <p:spPr>
          <a:xfrm xmlns:a="http://schemas.openxmlformats.org/drawingml/2006/main">
            <a:off x="3429000" y="2095500"/>
            <a:ext cx="1428750" cy="685800"/>
          </a:xfrm>
          <a:prstGeom xmlns:a="http://schemas.openxmlformats.org/drawingml/2006/main" prst="roundRect">
            <a:avLst>
              <a:gd name="adj" fmla="val 8333"/>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Pipeline</a:t>
            </a:r>
          </a:p>
        </p:txBody>
      </p:sp>
      <p:sp>
        <p:nvSpPr>
          <p:cNvPr id="7" name="">
            <a:extLst xmlns:a="http://schemas.openxmlformats.org/drawingml/2006/main">
              <a:ext uri="{FF2B5EF4-FFF2-40B4-BE49-F238E27FC236}">
                <a16:creationId xmlns:a16="http://schemas.microsoft.com/office/drawing/2014/main" id="{0A4408E3-D9F1-456C-8AA8-FF429079B3A2}"/>
              </a:ext>
            </a:extLst>
          </p:cNvPr>
          <p:cNvSpPr>
            <a:spLocks xmlns:a="http://schemas.openxmlformats.org/drawingml/2006/main" noGrp="1"/>
          </p:cNvSpPr>
          <p:nvPr/>
        </p:nvSpPr>
        <p:spPr>
          <a:xfrm xmlns:a="http://schemas.openxmlformats.org/drawingml/2006/main">
            <a:off x="5334000" y="2095500"/>
            <a:ext cx="1428750" cy="685800"/>
          </a:xfrm>
          <a:prstGeom xmlns:a="http://schemas.openxmlformats.org/drawingml/2006/main" prst="roundRect">
            <a:avLst>
              <a:gd name="adj" fmla="val 8333"/>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Release</a:t>
            </a:r>
          </a:p>
        </p:txBody>
      </p:sp>
      <p:sp>
        <p:nvSpPr>
          <p:cNvPr id="8" name="">
            <a:extLst xmlns:a="http://schemas.openxmlformats.org/drawingml/2006/main">
              <a:ext uri="{FF2B5EF4-FFF2-40B4-BE49-F238E27FC236}">
                <a16:creationId xmlns:a16="http://schemas.microsoft.com/office/drawing/2014/main" id="{D2C3CED8-023E-4FE2-BDC3-02B043B2E4EC}"/>
              </a:ext>
            </a:extLst>
          </p:cNvPr>
          <p:cNvSpPr>
            <a:spLocks xmlns:a="http://schemas.openxmlformats.org/drawingml/2006/main" noGrp="1"/>
          </p:cNvSpPr>
          <p:nvPr/>
        </p:nvSpPr>
        <p:spPr>
          <a:xfrm xmlns:a="http://schemas.openxmlformats.org/drawingml/2006/main">
            <a:off x="7239000" y="2095500"/>
            <a:ext cx="1428750" cy="685800"/>
          </a:xfrm>
          <a:prstGeom xmlns:a="http://schemas.openxmlformats.org/drawingml/2006/main" prst="roundRect">
            <a:avLst>
              <a:gd name="adj" fmla="val 8333"/>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Deployment</a:t>
            </a:r>
          </a:p>
        </p:txBody>
      </p:sp>
      <p:sp>
        <p:nvSpPr>
          <p:cNvPr id="9" name="">
            <a:extLst xmlns:a="http://schemas.openxmlformats.org/drawingml/2006/main">
              <a:ext uri="{FF2B5EF4-FFF2-40B4-BE49-F238E27FC236}">
                <a16:creationId xmlns:a16="http://schemas.microsoft.com/office/drawing/2014/main" id="{BF3C40A7-FA10-43A3-AD03-FAEA15B2794D}"/>
              </a:ext>
            </a:extLst>
          </p:cNvPr>
          <p:cNvSpPr>
            <a:spLocks xmlns:a="http://schemas.openxmlformats.org/drawingml/2006/main" noGrp="1"/>
          </p:cNvSpPr>
          <p:nvPr/>
        </p:nvSpPr>
        <p:spPr>
          <a:xfrm xmlns:a="http://schemas.openxmlformats.org/drawingml/2006/main">
            <a:off x="9144000" y="2095500"/>
            <a:ext cx="1714500" cy="685800"/>
          </a:xfrm>
          <a:prstGeom xmlns:a="http://schemas.openxmlformats.org/drawingml/2006/main" prst="roundRect">
            <a:avLst>
              <a:gd name="adj" fmla="val 8333"/>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Application users</a:t>
            </a:r>
          </a:p>
        </p:txBody>
      </p:sp>
      <p:cxnSp>
        <p:nvCxnSpPr>
          <p:cNvPr id="32" name=""/>
          <p:cNvCxnSpPr>
            <a:stCxn xmlns:a="http://schemas.openxmlformats.org/drawingml/2006/main" id="3" idx="3"/>
            <a:endCxn xmlns:a="http://schemas.openxmlformats.org/drawingml/2006/main" id="6" idx="1"/>
          </p:cNvCxnSpPr>
          <p:nvPr/>
        </p:nvCxnSpPr>
        <p:spPr>
          <a:xfrm xmlns:a="http://schemas.openxmlformats.org/drawingml/2006/main" flipV="1">
            <a:off x="2762250" y="2438400"/>
            <a:ext cx="666750" cy="78105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4857750" y="2438400"/>
            <a:ext cx="4762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6762750" y="2438400"/>
            <a:ext cx="4762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8667750" y="2438400"/>
            <a:ext cx="4762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4" name="">
            <a:extLst xmlns:a="http://schemas.openxmlformats.org/drawingml/2006/main">
              <a:ext uri="{FF2B5EF4-FFF2-40B4-BE49-F238E27FC236}">
                <a16:creationId xmlns:a16="http://schemas.microsoft.com/office/drawing/2014/main" id="{978082E9-E625-4732-A09A-5E225B02690F}"/>
              </a:ext>
            </a:extLst>
          </p:cNvPr>
          <p:cNvSpPr>
            <a:spLocks xmlns:a="http://schemas.openxmlformats.org/drawingml/2006/main" noGrp="1"/>
          </p:cNvSpPr>
          <p:nvPr/>
        </p:nvSpPr>
        <p:spPr>
          <a:xfrm xmlns:a="http://schemas.openxmlformats.org/drawingml/2006/main">
            <a:off x="3429000" y="37338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255D84"/>
                </a:solidFill>
                <a:latin typeface="Roboto"/>
                <a:ea typeface="Roboto"/>
                <a:cs typeface="Roboto"/>
              </a:defRPr>
            </a:pPr>
            <a:r>
              <a:rPr sz="1425" b="1">
                <a:solidFill>
                  <a:srgbClr val="255D84"/>
                </a:solidFill>
                <a:latin typeface="Roboto"/>
                <a:ea typeface="Roboto"/>
                <a:cs typeface="Roboto"/>
              </a:rPr>
              <a:t>Toward developers</a:t>
            </a:r>
          </a:p>
        </p:txBody>
      </p:sp>
      <p:sp>
        <p:nvSpPr>
          <p:cNvPr id="15" name="">
            <a:extLst xmlns:a="http://schemas.openxmlformats.org/drawingml/2006/main">
              <a:ext uri="{FF2B5EF4-FFF2-40B4-BE49-F238E27FC236}">
                <a16:creationId xmlns:a16="http://schemas.microsoft.com/office/drawing/2014/main" id="{C842B589-6C4B-42C1-B7CE-8A7CD212649D}"/>
              </a:ext>
            </a:extLst>
          </p:cNvPr>
          <p:cNvSpPr>
            <a:spLocks xmlns:a="http://schemas.openxmlformats.org/drawingml/2006/main" noGrp="1"/>
          </p:cNvSpPr>
          <p:nvPr/>
        </p:nvSpPr>
        <p:spPr>
          <a:xfrm xmlns:a="http://schemas.openxmlformats.org/drawingml/2006/main">
            <a:off x="3429000" y="4171950"/>
            <a:ext cx="2247900" cy="742950"/>
          </a:xfrm>
          <a:prstGeom xmlns:a="http://schemas.openxmlformats.org/drawingml/2006/main" prst="roundRect">
            <a:avLst>
              <a:gd name="adj" fmla="val 7692"/>
            </a:avLst>
          </a:prstGeom>
          <a:solidFill xmlns:a="http://schemas.openxmlformats.org/drawingml/2006/main">
            <a:srgbClr val="FBFAF6"/>
          </a:solidFill>
          <a:ln xmlns:a="http://schemas.openxmlformats.org/drawingml/2006/main" w="20955">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Developer runs a trusted task</a:t>
            </a:r>
          </a:p>
        </p:txBody>
      </p:sp>
      <p:sp>
        <p:nvSpPr>
          <p:cNvPr id="16" name="">
            <a:extLst xmlns:a="http://schemas.openxmlformats.org/drawingml/2006/main">
              <a:ext uri="{FF2B5EF4-FFF2-40B4-BE49-F238E27FC236}">
                <a16:creationId xmlns:a16="http://schemas.microsoft.com/office/drawing/2014/main" id="{6FF0AEFD-680C-4A3B-BADE-989E0F3B9968}"/>
              </a:ext>
            </a:extLst>
          </p:cNvPr>
          <p:cNvSpPr>
            <a:spLocks xmlns:a="http://schemas.openxmlformats.org/drawingml/2006/main" noGrp="1"/>
          </p:cNvSpPr>
          <p:nvPr/>
        </p:nvSpPr>
        <p:spPr>
          <a:xfrm xmlns:a="http://schemas.openxmlformats.org/drawingml/2006/main">
            <a:off x="6496050" y="4171950"/>
            <a:ext cx="2247900" cy="742950"/>
          </a:xfrm>
          <a:prstGeom xmlns:a="http://schemas.openxmlformats.org/drawingml/2006/main" prst="roundRect">
            <a:avLst>
              <a:gd name="adj" fmla="val 7692"/>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Developer environment</a:t>
            </a:r>
          </a:p>
        </p:txBody>
      </p:sp>
      <p:cxnSp>
        <p:nvCxnSpPr>
          <p:cNvPr id="39" name=""/>
          <p:cNvCxnSpPr>
            <a:stCxn xmlns:a="http://schemas.openxmlformats.org/drawingml/2006/main" id="3" idx="3"/>
            <a:endCxn xmlns:a="http://schemas.openxmlformats.org/drawingml/2006/main" id="15" idx="1"/>
          </p:cNvCxnSpPr>
          <p:nvPr/>
        </p:nvCxnSpPr>
        <p:spPr>
          <a:xfrm xmlns:a="http://schemas.openxmlformats.org/drawingml/2006/main">
            <a:off x="2762250" y="3219450"/>
            <a:ext cx="666750" cy="1323975"/>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40" name=""/>
          <p:cNvCxnSpPr>
            <a:stCxn xmlns:a="http://schemas.openxmlformats.org/drawingml/2006/main" id="15" idx="3"/>
            <a:endCxn xmlns:a="http://schemas.openxmlformats.org/drawingml/2006/main" id="16" idx="1"/>
          </p:cNvCxnSpPr>
          <p:nvPr/>
        </p:nvCxnSpPr>
        <p:spPr>
          <a:xfrm xmlns:a="http://schemas.openxmlformats.org/drawingml/2006/main">
            <a:off x="5676900" y="4543425"/>
            <a:ext cx="8191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9" name="">
            <a:extLst xmlns:a="http://schemas.openxmlformats.org/drawingml/2006/main">
              <a:ext uri="{FF2B5EF4-FFF2-40B4-BE49-F238E27FC236}">
                <a16:creationId xmlns:a16="http://schemas.microsoft.com/office/drawing/2014/main" id="{4FA21BA1-2A51-48BC-B8FB-F16FE5B86879}"/>
              </a:ext>
            </a:extLst>
          </p:cNvPr>
          <p:cNvSpPr>
            <a:spLocks xmlns:a="http://schemas.openxmlformats.org/drawingml/2006/main" noGrp="1"/>
          </p:cNvSpPr>
          <p:nvPr/>
        </p:nvSpPr>
        <p:spPr>
          <a:xfrm xmlns:a="http://schemas.openxmlformats.org/drawingml/2006/main">
            <a:off x="3429000" y="51244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a:solidFill>
                  <a:srgbClr val="46515C"/>
                </a:solidFill>
                <a:latin typeface="Roboto"/>
                <a:ea typeface="Roboto"/>
                <a:cs typeface="Roboto"/>
              </a:defRPr>
            </a:pPr>
            <a:r>
              <a:rPr sz="1163" b="0">
                <a:solidFill>
                  <a:srgbClr val="46515C"/>
                </a:solidFill>
                <a:latin typeface="Roboto"/>
                <a:ea typeface="Roboto"/>
                <a:cs typeface="Roboto"/>
              </a:rPr>
              <a:t>Pulling the repository downloads files. Execution begins only when the developer runs the task.</a:t>
            </a:r>
          </a:p>
        </p:txBody>
      </p:sp>
      <p:sp>
        <p:nvSpPr>
          <p:cNvPr id="20" name="">
            <a:extLst xmlns:a="http://schemas.openxmlformats.org/drawingml/2006/main">
              <a:ext uri="{FF2B5EF4-FFF2-40B4-BE49-F238E27FC236}">
                <a16:creationId xmlns:a16="http://schemas.microsoft.com/office/drawing/2014/main" id="{AFE518E4-9A89-4E3E-BFD4-B700249BB893}"/>
              </a:ext>
            </a:extLst>
          </p:cNvPr>
          <p:cNvSpPr>
            <a:spLocks xmlns:a="http://schemas.openxmlformats.org/drawingml/2006/main" noGrp="1"/>
          </p:cNvSpPr>
          <p:nvPr/>
        </p:nvSpPr>
        <p:spPr>
          <a:xfrm xmlns:a="http://schemas.openxmlformats.org/drawingml/2006/main">
            <a:off x="723900" y="5905500"/>
            <a:ext cx="10744200" cy="0"/>
          </a:xfrm>
          <a:prstGeom xmlns:a="http://schemas.openxmlformats.org/drawingml/2006/main" prst="line">
            <a:avLst/>
          </a:prstGeom>
          <a:noFill xmlns:a="http://schemas.openxmlformats.org/drawingml/2006/main"/>
          <a:ln xmlns:a="http://schemas.openxmlformats.org/drawingml/2006/main" w="11430">
            <a:solidFill>
              <a:srgbClr val="C9C5BC"/>
            </a:solidFill>
            <a:prstDash val="solid"/>
          </a:ln>
        </p:spPr>
      </p:sp>
      <p:sp>
        <p:nvSpPr>
          <p:cNvPr id="21" name="">
            <a:extLst xmlns:a="http://schemas.openxmlformats.org/drawingml/2006/main">
              <a:ext uri="{FF2B5EF4-FFF2-40B4-BE49-F238E27FC236}">
                <a16:creationId xmlns:a16="http://schemas.microsoft.com/office/drawing/2014/main" id="{19EE672D-E826-4A8B-93C3-385CCA5D78BC}"/>
              </a:ext>
            </a:extLst>
          </p:cNvPr>
          <p:cNvSpPr>
            <a:spLocks xmlns:a="http://schemas.openxmlformats.org/drawingml/2006/main" noGrp="1"/>
          </p:cNvSpPr>
          <p:nvPr/>
        </p:nvSpPr>
        <p:spPr>
          <a:xfrm xmlns:a="http://schemas.openxmlformats.org/drawingml/2006/main">
            <a:off x="742950" y="60769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7212B"/>
                </a:solidFill>
                <a:latin typeface="Roboto"/>
                <a:ea typeface="Roboto"/>
                <a:cs typeface="Roboto"/>
              </a:defRPr>
            </a:pPr>
            <a:r>
              <a:rPr sz="1200" b="1">
                <a:solidFill>
                  <a:srgbClr val="17212B"/>
                </a:solidFill>
                <a:latin typeface="Roboto"/>
                <a:ea typeface="Roboto"/>
                <a:cs typeface="Roboto"/>
              </a:rPr>
              <a:t>A compromised identity can contaminate the repository. A contaminated repository can help obtain another identity.</a:t>
            </a:r>
          </a:p>
        </p:txBody>
      </p:sp>
      <p:sp>
        <p:nvSpPr>
          <p:cNvPr id="22" name="">
            <a:extLst xmlns:a="http://schemas.openxmlformats.org/drawingml/2006/main">
              <a:ext uri="{FF2B5EF4-FFF2-40B4-BE49-F238E27FC236}">
                <a16:creationId xmlns:a16="http://schemas.microsoft.com/office/drawing/2014/main" id="{4518075C-D49E-418E-91FD-B02F9455C7F2}"/>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04</a:t>
            </a:r>
          </a:p>
        </p:txBody>
      </p:sp>
    </p:spTree>
    <p:extLst>
      <p:ext uri="{BB962C8B-B14F-4D97-AF65-F5344CB8AC3E}">
        <p14:creationId xmlns:p14="http://schemas.microsoft.com/office/powerpoint/2010/main" val="1143585875"/>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DDF74DD-097B-4DE7-92E1-6E90EDEF78E0}"/>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One contamination, three execution locations</a:t>
            </a:r>
          </a:p>
        </p:txBody>
      </p:sp>
      <p:sp>
        <p:nvSpPr>
          <p:cNvPr id="2" name="">
            <a:extLst xmlns:a="http://schemas.openxmlformats.org/drawingml/2006/main">
              <a:ext uri="{FF2B5EF4-FFF2-40B4-BE49-F238E27FC236}">
                <a16:creationId xmlns:a16="http://schemas.microsoft.com/office/drawing/2014/main" id="{59B3F4A1-81BE-4FC4-8A09-1EA561C36641}"/>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The identity at each location determines what the changed instructions can reach</a:t>
            </a:r>
          </a:p>
        </p:txBody>
      </p:sp>
      <p:sp>
        <p:nvSpPr>
          <p:cNvPr id="3" name="">
            <a:extLst xmlns:a="http://schemas.openxmlformats.org/drawingml/2006/main">
              <a:ext uri="{FF2B5EF4-FFF2-40B4-BE49-F238E27FC236}">
                <a16:creationId xmlns:a16="http://schemas.microsoft.com/office/drawing/2014/main" id="{3D68EB0A-33BF-4721-9BD9-31FD8D723915}"/>
              </a:ext>
            </a:extLst>
          </p:cNvPr>
          <p:cNvSpPr>
            <a:spLocks xmlns:a="http://schemas.openxmlformats.org/drawingml/2006/main" noGrp="1"/>
          </p:cNvSpPr>
          <p:nvPr/>
        </p:nvSpPr>
        <p:spPr>
          <a:xfrm xmlns:a="http://schemas.openxmlformats.org/drawingml/2006/main">
            <a:off x="857250" y="2514600"/>
            <a:ext cx="2724150" cy="1428750"/>
          </a:xfrm>
          <a:prstGeom xmlns:a="http://schemas.openxmlformats.org/drawingml/2006/main" prst="roundRect">
            <a:avLst>
              <a:gd name="adj" fmla="val 6667"/>
            </a:avLst>
          </a:prstGeom>
          <a:solidFill xmlns:a="http://schemas.openxmlformats.org/drawingml/2006/main">
            <a:srgbClr val="F2DED5"/>
          </a:solidFill>
          <a:ln xmlns:a="http://schemas.openxmlformats.org/drawingml/2006/main" w="22860">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800" b="1">
                <a:solidFill>
                  <a:srgbClr val="17212B"/>
                </a:solidFill>
                <a:latin typeface="Roboto"/>
                <a:ea typeface="Roboto"/>
                <a:cs typeface="Roboto"/>
              </a:defRPr>
            </a:pPr>
            <a:r>
              <a:rPr sz="1800" b="1">
                <a:solidFill>
                  <a:srgbClr val="17212B"/>
                </a:solidFill>
                <a:latin typeface="Roboto"/>
                <a:ea typeface="Roboto"/>
                <a:cs typeface="Roboto"/>
              </a:rPr>
              <a:t>Changed repository</a:t>
            </a:r>
          </a:p>
          <a:p xmlns:a="http://schemas.openxmlformats.org/drawingml/2006/main">
            <a:pPr algn="ctr">
              <a:defRPr sz="1800" b="1">
                <a:solidFill>
                  <a:srgbClr val="17212B"/>
                </a:solidFill>
                <a:latin typeface="Roboto"/>
                <a:ea typeface="Roboto"/>
                <a:cs typeface="Roboto"/>
              </a:defRPr>
            </a:pPr>
            <a:r>
              <a:rPr sz="1800" b="1">
                <a:solidFill>
                  <a:srgbClr val="17212B"/>
                </a:solidFill>
                <a:latin typeface="Roboto"/>
                <a:ea typeface="Roboto"/>
                <a:cs typeface="Roboto"/>
              </a:rPr>
              <a:t>code or instructions</a:t>
            </a:r>
          </a:p>
        </p:txBody>
      </p:sp>
      <p:sp>
        <p:nvSpPr>
          <p:cNvPr id="4" name="">
            <a:extLst xmlns:a="http://schemas.openxmlformats.org/drawingml/2006/main">
              <a:ext uri="{FF2B5EF4-FFF2-40B4-BE49-F238E27FC236}">
                <a16:creationId xmlns:a16="http://schemas.microsoft.com/office/drawing/2014/main" id="{7CECF3DC-B130-41EB-83B4-3B15EB6926CF}"/>
              </a:ext>
            </a:extLst>
          </p:cNvPr>
          <p:cNvSpPr>
            <a:spLocks xmlns:a="http://schemas.openxmlformats.org/drawingml/2006/main" noGrp="1"/>
          </p:cNvSpPr>
          <p:nvPr/>
        </p:nvSpPr>
        <p:spPr>
          <a:xfrm xmlns:a="http://schemas.openxmlformats.org/drawingml/2006/main">
            <a:off x="4762500" y="1790700"/>
            <a:ext cx="1714500" cy="666750"/>
          </a:xfrm>
          <a:prstGeom xmlns:a="http://schemas.openxmlformats.org/drawingml/2006/main" prst="roundRect">
            <a:avLst>
              <a:gd name="adj" fmla="val 10000"/>
            </a:avLst>
          </a:prstGeom>
          <a:solidFill xmlns:a="http://schemas.openxmlformats.org/drawingml/2006/main">
            <a:srgbClr val="FBFAF6"/>
          </a:solidFill>
          <a:ln xmlns:a="http://schemas.openxmlformats.org/drawingml/2006/main" w="20955">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Pipeline job</a:t>
            </a:r>
          </a:p>
        </p:txBody>
      </p:sp>
      <p:sp>
        <p:nvSpPr>
          <p:cNvPr id="5" name="">
            <a:extLst xmlns:a="http://schemas.openxmlformats.org/drawingml/2006/main">
              <a:ext uri="{FF2B5EF4-FFF2-40B4-BE49-F238E27FC236}">
                <a16:creationId xmlns:a16="http://schemas.microsoft.com/office/drawing/2014/main" id="{FEA41351-559C-43A0-B436-2EEBE3484AE0}"/>
              </a:ext>
            </a:extLst>
          </p:cNvPr>
          <p:cNvSpPr>
            <a:spLocks xmlns:a="http://schemas.openxmlformats.org/drawingml/2006/main" noGrp="1"/>
          </p:cNvSpPr>
          <p:nvPr/>
        </p:nvSpPr>
        <p:spPr>
          <a:xfrm xmlns:a="http://schemas.openxmlformats.org/drawingml/2006/main">
            <a:off x="4762500" y="3009900"/>
            <a:ext cx="1714500" cy="666750"/>
          </a:xfrm>
          <a:prstGeom xmlns:a="http://schemas.openxmlformats.org/drawingml/2006/main" prst="roundRect">
            <a:avLst>
              <a:gd name="adj" fmla="val 10000"/>
            </a:avLst>
          </a:prstGeom>
          <a:solidFill xmlns:a="http://schemas.openxmlformats.org/drawingml/2006/main">
            <a:srgbClr val="FBFAF6"/>
          </a:solidFill>
          <a:ln xmlns:a="http://schemas.openxmlformats.org/drawingml/2006/main" w="20955">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17212B"/>
                </a:solidFill>
                <a:latin typeface="Roboto"/>
                <a:ea typeface="Roboto"/>
                <a:cs typeface="Roboto"/>
              </a:defRPr>
            </a:pPr>
            <a:r>
              <a:rPr sz="1275" b="1">
                <a:solidFill>
                  <a:srgbClr val="17212B"/>
                </a:solidFill>
                <a:latin typeface="Roboto"/>
                <a:ea typeface="Roboto"/>
                <a:cs typeface="Roboto"/>
              </a:rPr>
              <a:t>Deployed application</a:t>
            </a:r>
          </a:p>
        </p:txBody>
      </p:sp>
      <p:sp>
        <p:nvSpPr>
          <p:cNvPr id="6" name="">
            <a:extLst xmlns:a="http://schemas.openxmlformats.org/drawingml/2006/main">
              <a:ext uri="{FF2B5EF4-FFF2-40B4-BE49-F238E27FC236}">
                <a16:creationId xmlns:a16="http://schemas.microsoft.com/office/drawing/2014/main" id="{35BCCF6C-110C-4F8A-8AEB-C8E2C42B6371}"/>
              </a:ext>
            </a:extLst>
          </p:cNvPr>
          <p:cNvSpPr>
            <a:spLocks xmlns:a="http://schemas.openxmlformats.org/drawingml/2006/main" noGrp="1"/>
          </p:cNvSpPr>
          <p:nvPr/>
        </p:nvSpPr>
        <p:spPr>
          <a:xfrm xmlns:a="http://schemas.openxmlformats.org/drawingml/2006/main">
            <a:off x="4762500" y="4229100"/>
            <a:ext cx="1714500" cy="666750"/>
          </a:xfrm>
          <a:prstGeom xmlns:a="http://schemas.openxmlformats.org/drawingml/2006/main" prst="roundRect">
            <a:avLst>
              <a:gd name="adj" fmla="val 10000"/>
            </a:avLst>
          </a:prstGeom>
          <a:solidFill xmlns:a="http://schemas.openxmlformats.org/drawingml/2006/main">
            <a:srgbClr val="FBFAF6"/>
          </a:solidFill>
          <a:ln xmlns:a="http://schemas.openxmlformats.org/drawingml/2006/main" w="20955">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Developer task</a:t>
            </a:r>
          </a:p>
        </p:txBody>
      </p:sp>
      <p:cxnSp>
        <p:nvCxnSpPr>
          <p:cNvPr id="26" name=""/>
          <p:cNvCxnSpPr>
            <a:stCxn xmlns:a="http://schemas.openxmlformats.org/drawingml/2006/main" id="3" idx="3"/>
            <a:endCxn xmlns:a="http://schemas.openxmlformats.org/drawingml/2006/main" id="4" idx="1"/>
          </p:cNvCxnSpPr>
          <p:nvPr/>
        </p:nvCxnSpPr>
        <p:spPr>
          <a:xfrm xmlns:a="http://schemas.openxmlformats.org/drawingml/2006/main" flipV="1">
            <a:off x="3581400" y="2124075"/>
            <a:ext cx="1181100" cy="110490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27" name=""/>
          <p:cNvCxnSpPr>
            <a:stCxn xmlns:a="http://schemas.openxmlformats.org/drawingml/2006/main" id="3" idx="3"/>
            <a:endCxn xmlns:a="http://schemas.openxmlformats.org/drawingml/2006/main" id="5" idx="1"/>
          </p:cNvCxnSpPr>
          <p:nvPr/>
        </p:nvCxnSpPr>
        <p:spPr>
          <a:xfrm xmlns:a="http://schemas.openxmlformats.org/drawingml/2006/main">
            <a:off x="3581400" y="3228975"/>
            <a:ext cx="1181100" cy="11430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3581400" y="3228975"/>
            <a:ext cx="1181100" cy="133350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sp>
        <p:nvSpPr>
          <p:cNvPr id="10" name="">
            <a:extLst xmlns:a="http://schemas.openxmlformats.org/drawingml/2006/main">
              <a:ext uri="{FF2B5EF4-FFF2-40B4-BE49-F238E27FC236}">
                <a16:creationId xmlns:a16="http://schemas.microsoft.com/office/drawing/2014/main" id="{204FCDA7-B4D2-46FC-BA9C-1D82CCFE965F}"/>
              </a:ext>
            </a:extLst>
          </p:cNvPr>
          <p:cNvSpPr>
            <a:spLocks xmlns:a="http://schemas.openxmlformats.org/drawingml/2006/main" noGrp="1"/>
          </p:cNvSpPr>
          <p:nvPr/>
        </p:nvSpPr>
        <p:spPr>
          <a:xfrm xmlns:a="http://schemas.openxmlformats.org/drawingml/2006/main">
            <a:off x="6953250" y="18097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7212B"/>
                </a:solidFill>
                <a:latin typeface="Roboto"/>
                <a:ea typeface="Roboto"/>
                <a:cs typeface="Roboto"/>
              </a:defRPr>
            </a:pPr>
            <a:r>
              <a:rPr sz="1500" b="1">
                <a:solidFill>
                  <a:srgbClr val="17212B"/>
                </a:solidFill>
                <a:latin typeface="Roboto"/>
                <a:ea typeface="Roboto"/>
                <a:cs typeface="Roboto"/>
              </a:rPr>
              <a:t>Build job access</a:t>
            </a:r>
          </a:p>
        </p:txBody>
      </p:sp>
      <p:sp>
        <p:nvSpPr>
          <p:cNvPr id="11" name="">
            <a:extLst xmlns:a="http://schemas.openxmlformats.org/drawingml/2006/main">
              <a:ext uri="{FF2B5EF4-FFF2-40B4-BE49-F238E27FC236}">
                <a16:creationId xmlns:a16="http://schemas.microsoft.com/office/drawing/2014/main" id="{80E9562C-12A4-4143-904E-BB735DE4A906}"/>
              </a:ext>
            </a:extLst>
          </p:cNvPr>
          <p:cNvSpPr>
            <a:spLocks xmlns:a="http://schemas.openxmlformats.org/drawingml/2006/main" noGrp="1"/>
          </p:cNvSpPr>
          <p:nvPr/>
        </p:nvSpPr>
        <p:spPr>
          <a:xfrm xmlns:a="http://schemas.openxmlformats.org/drawingml/2006/main">
            <a:off x="6953250" y="217170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46515C"/>
                </a:solidFill>
                <a:latin typeface="Roboto"/>
                <a:ea typeface="Roboto"/>
                <a:cs typeface="Roboto"/>
              </a:defRPr>
            </a:pPr>
            <a:r>
              <a:rPr sz="1200" b="0">
                <a:solidFill>
                  <a:srgbClr val="46515C"/>
                </a:solidFill>
                <a:latin typeface="Roboto"/>
                <a:ea typeface="Roboto"/>
                <a:cs typeface="Roboto"/>
              </a:rPr>
              <a:t>Demo CI secrets and network destinations available to the job</a:t>
            </a:r>
          </a:p>
        </p:txBody>
      </p:sp>
      <p:sp>
        <p:nvSpPr>
          <p:cNvPr id="12" name="">
            <a:extLst xmlns:a="http://schemas.openxmlformats.org/drawingml/2006/main">
              <a:ext uri="{FF2B5EF4-FFF2-40B4-BE49-F238E27FC236}">
                <a16:creationId xmlns:a16="http://schemas.microsoft.com/office/drawing/2014/main" id="{7F63E1E5-AABC-49EC-9D8E-77317A6E88DD}"/>
              </a:ext>
            </a:extLst>
          </p:cNvPr>
          <p:cNvSpPr>
            <a:spLocks xmlns:a="http://schemas.openxmlformats.org/drawingml/2006/main" noGrp="1"/>
          </p:cNvSpPr>
          <p:nvPr/>
        </p:nvSpPr>
        <p:spPr>
          <a:xfrm xmlns:a="http://schemas.openxmlformats.org/drawingml/2006/main">
            <a:off x="6953250" y="3028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7212B"/>
                </a:solidFill>
                <a:latin typeface="Roboto"/>
                <a:ea typeface="Roboto"/>
                <a:cs typeface="Roboto"/>
              </a:defRPr>
            </a:pPr>
            <a:r>
              <a:rPr sz="1500" b="1">
                <a:solidFill>
                  <a:srgbClr val="17212B"/>
                </a:solidFill>
                <a:latin typeface="Roboto"/>
                <a:ea typeface="Roboto"/>
                <a:cs typeface="Roboto"/>
              </a:rPr>
              <a:t>Application reach</a:t>
            </a:r>
          </a:p>
        </p:txBody>
      </p:sp>
      <p:sp>
        <p:nvSpPr>
          <p:cNvPr id="13" name="">
            <a:extLst xmlns:a="http://schemas.openxmlformats.org/drawingml/2006/main">
              <a:ext uri="{FF2B5EF4-FFF2-40B4-BE49-F238E27FC236}">
                <a16:creationId xmlns:a16="http://schemas.microsoft.com/office/drawing/2014/main" id="{20223A31-2410-4385-A23A-3DEECB50481A}"/>
              </a:ext>
            </a:extLst>
          </p:cNvPr>
          <p:cNvSpPr>
            <a:spLocks xmlns:a="http://schemas.openxmlformats.org/drawingml/2006/main" noGrp="1"/>
          </p:cNvSpPr>
          <p:nvPr/>
        </p:nvSpPr>
        <p:spPr>
          <a:xfrm xmlns:a="http://schemas.openxmlformats.org/drawingml/2006/main">
            <a:off x="6953250" y="33909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46515C"/>
                </a:solidFill>
                <a:latin typeface="Roboto"/>
                <a:ea typeface="Roboto"/>
                <a:cs typeface="Roboto"/>
              </a:defRPr>
            </a:pPr>
            <a:r>
              <a:rPr sz="1200" b="0">
                <a:solidFill>
                  <a:srgbClr val="46515C"/>
                </a:solidFill>
                <a:latin typeface="Roboto"/>
                <a:ea typeface="Roboto"/>
                <a:cs typeface="Roboto"/>
              </a:rPr>
              <a:t>User input in the browser and configuration available to the application identity</a:t>
            </a:r>
          </a:p>
        </p:txBody>
      </p:sp>
      <p:sp>
        <p:nvSpPr>
          <p:cNvPr id="14" name="">
            <a:extLst xmlns:a="http://schemas.openxmlformats.org/drawingml/2006/main">
              <a:ext uri="{FF2B5EF4-FFF2-40B4-BE49-F238E27FC236}">
                <a16:creationId xmlns:a16="http://schemas.microsoft.com/office/drawing/2014/main" id="{F420B7C4-B42C-43DB-8D7F-A5FF9B0B7977}"/>
              </a:ext>
            </a:extLst>
          </p:cNvPr>
          <p:cNvSpPr>
            <a:spLocks xmlns:a="http://schemas.openxmlformats.org/drawingml/2006/main" noGrp="1"/>
          </p:cNvSpPr>
          <p:nvPr/>
        </p:nvSpPr>
        <p:spPr>
          <a:xfrm xmlns:a="http://schemas.openxmlformats.org/drawingml/2006/main">
            <a:off x="6953250" y="4248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7212B"/>
                </a:solidFill>
                <a:latin typeface="Roboto"/>
                <a:ea typeface="Roboto"/>
                <a:cs typeface="Roboto"/>
              </a:defRPr>
            </a:pPr>
            <a:r>
              <a:rPr sz="1500" b="1">
                <a:solidFill>
                  <a:srgbClr val="17212B"/>
                </a:solidFill>
                <a:latin typeface="Roboto"/>
                <a:ea typeface="Roboto"/>
                <a:cs typeface="Roboto"/>
              </a:rPr>
              <a:t>Developer process access</a:t>
            </a:r>
          </a:p>
        </p:txBody>
      </p:sp>
      <p:sp>
        <p:nvSpPr>
          <p:cNvPr id="15" name="">
            <a:extLst xmlns:a="http://schemas.openxmlformats.org/drawingml/2006/main">
              <a:ext uri="{FF2B5EF4-FFF2-40B4-BE49-F238E27FC236}">
                <a16:creationId xmlns:a16="http://schemas.microsoft.com/office/drawing/2014/main" id="{260B81C0-6FAC-4656-8B34-907006E2F334}"/>
              </a:ext>
            </a:extLst>
          </p:cNvPr>
          <p:cNvSpPr>
            <a:spLocks xmlns:a="http://schemas.openxmlformats.org/drawingml/2006/main" noGrp="1"/>
          </p:cNvSpPr>
          <p:nvPr/>
        </p:nvSpPr>
        <p:spPr>
          <a:xfrm xmlns:a="http://schemas.openxmlformats.org/drawingml/2006/main">
            <a:off x="6953250" y="461010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46515C"/>
                </a:solidFill>
                <a:latin typeface="Roboto"/>
                <a:ea typeface="Roboto"/>
                <a:cs typeface="Roboto"/>
              </a:defRPr>
            </a:pPr>
            <a:r>
              <a:rPr sz="1200" b="0">
                <a:solidFill>
                  <a:srgbClr val="46515C"/>
                </a:solidFill>
                <a:latin typeface="Roboto"/>
                <a:ea typeface="Roboto"/>
                <a:cs typeface="Roboto"/>
              </a:rPr>
              <a:t>Files and credentials available to the task that the developer runs</a:t>
            </a:r>
          </a:p>
        </p:txBody>
      </p:sp>
      <p:sp>
        <p:nvSpPr>
          <p:cNvPr id="16" name="">
            <a:extLst xmlns:a="http://schemas.openxmlformats.org/drawingml/2006/main">
              <a:ext uri="{FF2B5EF4-FFF2-40B4-BE49-F238E27FC236}">
                <a16:creationId xmlns:a16="http://schemas.microsoft.com/office/drawing/2014/main" id="{7C41490F-8749-46FB-A9D2-E10C4C73BA8D}"/>
              </a:ext>
            </a:extLst>
          </p:cNvPr>
          <p:cNvSpPr>
            <a:spLocks xmlns:a="http://schemas.openxmlformats.org/drawingml/2006/main" noGrp="1"/>
          </p:cNvSpPr>
          <p:nvPr/>
        </p:nvSpPr>
        <p:spPr>
          <a:xfrm xmlns:a="http://schemas.openxmlformats.org/drawingml/2006/main">
            <a:off x="6953250" y="2762250"/>
            <a:ext cx="3905250" cy="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17" name="">
            <a:extLst xmlns:a="http://schemas.openxmlformats.org/drawingml/2006/main">
              <a:ext uri="{FF2B5EF4-FFF2-40B4-BE49-F238E27FC236}">
                <a16:creationId xmlns:a16="http://schemas.microsoft.com/office/drawing/2014/main" id="{FE27F570-C0FB-419D-ADDB-8D6DEA3BA21D}"/>
              </a:ext>
            </a:extLst>
          </p:cNvPr>
          <p:cNvSpPr>
            <a:spLocks xmlns:a="http://schemas.openxmlformats.org/drawingml/2006/main" noGrp="1"/>
          </p:cNvSpPr>
          <p:nvPr/>
        </p:nvSpPr>
        <p:spPr>
          <a:xfrm xmlns:a="http://schemas.openxmlformats.org/drawingml/2006/main">
            <a:off x="6953250" y="3981450"/>
            <a:ext cx="3905250" cy="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18" name="">
            <a:extLst xmlns:a="http://schemas.openxmlformats.org/drawingml/2006/main">
              <a:ext uri="{FF2B5EF4-FFF2-40B4-BE49-F238E27FC236}">
                <a16:creationId xmlns:a16="http://schemas.microsoft.com/office/drawing/2014/main" id="{BCF0B7E8-B713-496B-A757-760476A80EEC}"/>
              </a:ext>
            </a:extLst>
          </p:cNvPr>
          <p:cNvSpPr>
            <a:spLocks xmlns:a="http://schemas.openxmlformats.org/drawingml/2006/main" noGrp="1"/>
          </p:cNvSpPr>
          <p:nvPr/>
        </p:nvSpPr>
        <p:spPr>
          <a:xfrm xmlns:a="http://schemas.openxmlformats.org/drawingml/2006/main">
            <a:off x="6953250" y="5467350"/>
            <a:ext cx="390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603"/>
          </a:bodyPr>
          <a:lstStyle xmlns:a="http://schemas.openxmlformats.org/drawingml/2006/main"/>
          <a:p xmlns:a="http://schemas.openxmlformats.org/drawingml/2006/main">
            <a:pPr algn="l">
              <a:defRPr sz="1050" b="0">
                <a:solidFill>
                  <a:srgbClr val="77818B"/>
                </a:solidFill>
                <a:latin typeface="Roboto"/>
                <a:ea typeface="Roboto"/>
                <a:cs typeface="Roboto"/>
              </a:defRPr>
            </a:pPr>
            <a:r>
              <a:rPr sz="1050" b="0">
                <a:solidFill>
                  <a:srgbClr val="77818B"/>
                </a:solidFill>
                <a:latin typeface="Roboto"/>
                <a:ea typeface="Roboto"/>
                <a:cs typeface="Roboto"/>
              </a:rPr>
              <a:t>None of these locations automatically receives administrator access.</a:t>
            </a:r>
          </a:p>
        </p:txBody>
      </p:sp>
      <p:sp>
        <p:nvSpPr>
          <p:cNvPr id="19" name="">
            <a:extLst xmlns:a="http://schemas.openxmlformats.org/drawingml/2006/main">
              <a:ext uri="{FF2B5EF4-FFF2-40B4-BE49-F238E27FC236}">
                <a16:creationId xmlns:a16="http://schemas.microsoft.com/office/drawing/2014/main" id="{2CB5164C-ED0D-457D-B28B-9A4620D775C9}"/>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05</a:t>
            </a:r>
          </a:p>
        </p:txBody>
      </p:sp>
    </p:spTree>
    <p:extLst>
      <p:ext uri="{BB962C8B-B14F-4D97-AF65-F5344CB8AC3E}">
        <p14:creationId xmlns:p14="http://schemas.microsoft.com/office/powerpoint/2010/main" val="38215142"/>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14EE0CF-A991-4AA2-B2E2-2C8A11700173}"/>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Pipeline secret exposure</a:t>
            </a:r>
          </a:p>
        </p:txBody>
      </p:sp>
      <p:sp>
        <p:nvSpPr>
          <p:cNvPr id="2" name="">
            <a:extLst xmlns:a="http://schemas.openxmlformats.org/drawingml/2006/main">
              <a:ext uri="{FF2B5EF4-FFF2-40B4-BE49-F238E27FC236}">
                <a16:creationId xmlns:a16="http://schemas.microsoft.com/office/drawing/2014/main" id="{0C1B093F-D645-4526-A3BC-5C8A52B1257A}"/>
              </a:ext>
            </a:extLst>
          </p:cNvPr>
          <p:cNvSpPr>
            <a:spLocks xmlns:a="http://schemas.openxmlformats.org/drawingml/2006/main" noGrp="1"/>
          </p:cNvSpPr>
          <p:nvPr/>
        </p:nvSpPr>
        <p:spPr>
          <a:xfrm xmlns:a="http://schemas.openxmlformats.org/drawingml/2006/main">
            <a:off x="10096500" y="5715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1">
                <a:solidFill>
                  <a:srgbClr val="C65231"/>
                </a:solidFill>
                <a:latin typeface="Roboto"/>
                <a:ea typeface="Roboto"/>
                <a:cs typeface="Roboto"/>
              </a:defRPr>
            </a:pPr>
            <a:r>
              <a:rPr sz="975" b="1">
                <a:solidFill>
                  <a:srgbClr val="C65231"/>
                </a:solidFill>
                <a:latin typeface="Roboto"/>
                <a:ea typeface="Roboto"/>
                <a:cs typeface="Roboto"/>
              </a:rPr>
              <a:t>LIVE DEMO</a:t>
            </a:r>
          </a:p>
        </p:txBody>
      </p:sp>
      <p:sp>
        <p:nvSpPr>
          <p:cNvPr id="3" name="">
            <a:extLst xmlns:a="http://schemas.openxmlformats.org/drawingml/2006/main">
              <a:ext uri="{FF2B5EF4-FFF2-40B4-BE49-F238E27FC236}">
                <a16:creationId xmlns:a16="http://schemas.microsoft.com/office/drawing/2014/main" id="{3A71020D-D00A-4C93-96B6-573E9BB8D225}"/>
              </a:ext>
            </a:extLst>
          </p:cNvPr>
          <p:cNvSpPr>
            <a:spLocks xmlns:a="http://schemas.openxmlformats.org/drawingml/2006/main" noGrp="1"/>
          </p:cNvSpPr>
          <p:nvPr/>
        </p:nvSpPr>
        <p:spPr>
          <a:xfrm xmlns:a="http://schemas.openxmlformats.org/drawingml/2006/main">
            <a:off x="781050" y="1790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F7560"/>
                </a:solidFill>
                <a:latin typeface="Roboto"/>
                <a:ea typeface="Roboto"/>
                <a:cs typeface="Roboto"/>
              </a:defRPr>
            </a:pPr>
            <a:r>
              <a:rPr sz="1725" b="1">
                <a:solidFill>
                  <a:srgbClr val="2F7560"/>
                </a:solidFill>
                <a:latin typeface="Roboto"/>
                <a:ea typeface="Roboto"/>
                <a:cs typeface="Roboto"/>
              </a:rPr>
              <a:t>Clean run</a:t>
            </a:r>
          </a:p>
        </p:txBody>
      </p:sp>
      <p:sp>
        <p:nvSpPr>
          <p:cNvPr id="4" name="">
            <a:extLst xmlns:a="http://schemas.openxmlformats.org/drawingml/2006/main">
              <a:ext uri="{FF2B5EF4-FFF2-40B4-BE49-F238E27FC236}">
                <a16:creationId xmlns:a16="http://schemas.microsoft.com/office/drawing/2014/main" id="{0535E7F6-D119-45CD-9344-0FDD0F306ED4}"/>
              </a:ext>
            </a:extLst>
          </p:cNvPr>
          <p:cNvSpPr>
            <a:spLocks xmlns:a="http://schemas.openxmlformats.org/drawingml/2006/main" noGrp="1"/>
          </p:cNvSpPr>
          <p:nvPr/>
        </p:nvSpPr>
        <p:spPr>
          <a:xfrm xmlns:a="http://schemas.openxmlformats.org/drawingml/2006/main">
            <a:off x="781050" y="2324100"/>
            <a:ext cx="1752600" cy="723900"/>
          </a:xfrm>
          <a:prstGeom xmlns:a="http://schemas.openxmlformats.org/drawingml/2006/main" prst="roundRect">
            <a:avLst>
              <a:gd name="adj" fmla="val 7895"/>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Approved workflow</a:t>
            </a:r>
          </a:p>
        </p:txBody>
      </p:sp>
      <p:sp>
        <p:nvSpPr>
          <p:cNvPr id="5" name="">
            <a:extLst xmlns:a="http://schemas.openxmlformats.org/drawingml/2006/main">
              <a:ext uri="{FF2B5EF4-FFF2-40B4-BE49-F238E27FC236}">
                <a16:creationId xmlns:a16="http://schemas.microsoft.com/office/drawing/2014/main" id="{52219DE9-E83A-4A67-940A-2F1BBCB67C78}"/>
              </a:ext>
            </a:extLst>
          </p:cNvPr>
          <p:cNvSpPr>
            <a:spLocks xmlns:a="http://schemas.openxmlformats.org/drawingml/2006/main" noGrp="1"/>
          </p:cNvSpPr>
          <p:nvPr/>
        </p:nvSpPr>
        <p:spPr>
          <a:xfrm xmlns:a="http://schemas.openxmlformats.org/drawingml/2006/main">
            <a:off x="3162300" y="2324100"/>
            <a:ext cx="1752600" cy="723900"/>
          </a:xfrm>
          <a:prstGeom xmlns:a="http://schemas.openxmlformats.org/drawingml/2006/main" prst="roundRect">
            <a:avLst>
              <a:gd name="adj" fmla="val 7895"/>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Runner</a:t>
            </a:r>
          </a:p>
        </p:txBody>
      </p:sp>
      <p:sp>
        <p:nvSpPr>
          <p:cNvPr id="6" name="">
            <a:extLst xmlns:a="http://schemas.openxmlformats.org/drawingml/2006/main">
              <a:ext uri="{FF2B5EF4-FFF2-40B4-BE49-F238E27FC236}">
                <a16:creationId xmlns:a16="http://schemas.microsoft.com/office/drawing/2014/main" id="{AD2A920B-3C2F-4B33-957E-D0C63DA8A8F8}"/>
              </a:ext>
            </a:extLst>
          </p:cNvPr>
          <p:cNvSpPr>
            <a:spLocks xmlns:a="http://schemas.openxmlformats.org/drawingml/2006/main" noGrp="1"/>
          </p:cNvSpPr>
          <p:nvPr/>
        </p:nvSpPr>
        <p:spPr>
          <a:xfrm xmlns:a="http://schemas.openxmlformats.org/drawingml/2006/main">
            <a:off x="5543550" y="2324100"/>
            <a:ext cx="1752600" cy="723900"/>
          </a:xfrm>
          <a:prstGeom xmlns:a="http://schemas.openxmlformats.org/drawingml/2006/main" prst="roundRect">
            <a:avLst>
              <a:gd name="adj" fmla="val 7895"/>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Successful build</a:t>
            </a:r>
          </a:p>
        </p:txBody>
      </p:sp>
      <p:sp>
        <p:nvSpPr>
          <p:cNvPr id="7" name="">
            <a:extLst xmlns:a="http://schemas.openxmlformats.org/drawingml/2006/main">
              <a:ext uri="{FF2B5EF4-FFF2-40B4-BE49-F238E27FC236}">
                <a16:creationId xmlns:a16="http://schemas.microsoft.com/office/drawing/2014/main" id="{BF0BEA2A-B65E-473C-91F4-AE6544BC293B}"/>
              </a:ext>
            </a:extLst>
          </p:cNvPr>
          <p:cNvSpPr>
            <a:spLocks xmlns:a="http://schemas.openxmlformats.org/drawingml/2006/main" noGrp="1"/>
          </p:cNvSpPr>
          <p:nvPr/>
        </p:nvSpPr>
        <p:spPr>
          <a:xfrm xmlns:a="http://schemas.openxmlformats.org/drawingml/2006/main">
            <a:off x="7924800" y="2324100"/>
            <a:ext cx="2095500" cy="723900"/>
          </a:xfrm>
          <a:prstGeom xmlns:a="http://schemas.openxmlformats.org/drawingml/2006/main" prst="roundRect">
            <a:avLst>
              <a:gd name="adj" fmla="val 7895"/>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2F7560"/>
                </a:solidFill>
                <a:latin typeface="Roboto"/>
                <a:ea typeface="Roboto"/>
                <a:cs typeface="Roboto"/>
              </a:defRPr>
            </a:pPr>
            <a:r>
              <a:rPr sz="1350" b="1">
                <a:solidFill>
                  <a:srgbClr val="2F7560"/>
                </a:solidFill>
                <a:latin typeface="Roboto"/>
                <a:ea typeface="Roboto"/>
                <a:cs typeface="Roboto"/>
              </a:rPr>
              <a:t>Collector empty</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2533650" y="2686050"/>
            <a:ext cx="6286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4914900" y="2686050"/>
            <a:ext cx="6286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7296150" y="2686050"/>
            <a:ext cx="628650" cy="0"/>
          </a:xfrm>
          <a:prstGeom xmlns:a="http://schemas.openxmlformats.org/drawingml/2006/main" prst="straightConnector1">
            <a:avLst/>
          </a:prstGeom>
          <a:ln xmlns:a="http://schemas.openxmlformats.org/drawingml/2006/main" w="19050">
            <a:solidFill>
              <a:srgbClr val="2F7560"/>
            </a:solidFill>
            <a:prstDash val="solid"/>
            <a:tailEnd type="triangle" w="sm" len="sm"/>
          </a:ln>
        </p:spPr>
      </p:cxnSp>
      <p:sp>
        <p:nvSpPr>
          <p:cNvPr id="11" name="">
            <a:extLst xmlns:a="http://schemas.openxmlformats.org/drawingml/2006/main">
              <a:ext uri="{FF2B5EF4-FFF2-40B4-BE49-F238E27FC236}">
                <a16:creationId xmlns:a16="http://schemas.microsoft.com/office/drawing/2014/main" id="{820CC2C1-AD21-4D58-A3E8-42FD41846050}"/>
              </a:ext>
            </a:extLst>
          </p:cNvPr>
          <p:cNvSpPr>
            <a:spLocks xmlns:a="http://schemas.openxmlformats.org/drawingml/2006/main" noGrp="1"/>
          </p:cNvSpPr>
          <p:nvPr/>
        </p:nvSpPr>
        <p:spPr>
          <a:xfrm xmlns:a="http://schemas.openxmlformats.org/drawingml/2006/main">
            <a:off x="781050" y="3562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C65231"/>
                </a:solidFill>
                <a:latin typeface="Roboto"/>
                <a:ea typeface="Roboto"/>
                <a:cs typeface="Roboto"/>
              </a:defRPr>
            </a:pPr>
            <a:r>
              <a:rPr sz="1725" b="1">
                <a:solidFill>
                  <a:srgbClr val="C65231"/>
                </a:solidFill>
                <a:latin typeface="Roboto"/>
                <a:ea typeface="Roboto"/>
                <a:cs typeface="Roboto"/>
              </a:rPr>
              <a:t>Changed run</a:t>
            </a:r>
          </a:p>
        </p:txBody>
      </p:sp>
      <p:sp>
        <p:nvSpPr>
          <p:cNvPr id="12" name="">
            <a:extLst xmlns:a="http://schemas.openxmlformats.org/drawingml/2006/main">
              <a:ext uri="{FF2B5EF4-FFF2-40B4-BE49-F238E27FC236}">
                <a16:creationId xmlns:a16="http://schemas.microsoft.com/office/drawing/2014/main" id="{2E31BF4C-313E-4896-A500-D4242B08FCB6}"/>
              </a:ext>
            </a:extLst>
          </p:cNvPr>
          <p:cNvSpPr>
            <a:spLocks xmlns:a="http://schemas.openxmlformats.org/drawingml/2006/main" noGrp="1"/>
          </p:cNvSpPr>
          <p:nvPr/>
        </p:nvSpPr>
        <p:spPr>
          <a:xfrm xmlns:a="http://schemas.openxmlformats.org/drawingml/2006/main">
            <a:off x="781050" y="4095750"/>
            <a:ext cx="1752600" cy="723900"/>
          </a:xfrm>
          <a:prstGeom xmlns:a="http://schemas.openxmlformats.org/drawingml/2006/main" prst="roundRect">
            <a:avLst>
              <a:gd name="adj" fmla="val 7895"/>
            </a:avLst>
          </a:prstGeom>
          <a:solidFill xmlns:a="http://schemas.openxmlformats.org/drawingml/2006/main">
            <a:srgbClr val="F2DED5"/>
          </a:solidFill>
          <a:ln xmlns:a="http://schemas.openxmlformats.org/drawingml/2006/main" w="20955">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Workflow with</a:t>
            </a:r>
          </a:p>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an added step</a:t>
            </a:r>
          </a:p>
        </p:txBody>
      </p:sp>
      <p:sp>
        <p:nvSpPr>
          <p:cNvPr id="13" name="">
            <a:extLst xmlns:a="http://schemas.openxmlformats.org/drawingml/2006/main">
              <a:ext uri="{FF2B5EF4-FFF2-40B4-BE49-F238E27FC236}">
                <a16:creationId xmlns:a16="http://schemas.microsoft.com/office/drawing/2014/main" id="{B358869B-3356-4E77-916A-73E3E4871991}"/>
              </a:ext>
            </a:extLst>
          </p:cNvPr>
          <p:cNvSpPr>
            <a:spLocks xmlns:a="http://schemas.openxmlformats.org/drawingml/2006/main" noGrp="1"/>
          </p:cNvSpPr>
          <p:nvPr/>
        </p:nvSpPr>
        <p:spPr>
          <a:xfrm xmlns:a="http://schemas.openxmlformats.org/drawingml/2006/main">
            <a:off x="3162300" y="4095750"/>
            <a:ext cx="1752600" cy="723900"/>
          </a:xfrm>
          <a:prstGeom xmlns:a="http://schemas.openxmlformats.org/drawingml/2006/main" prst="roundRect">
            <a:avLst>
              <a:gd name="adj" fmla="val 7895"/>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Same runner</a:t>
            </a:r>
          </a:p>
        </p:txBody>
      </p:sp>
      <p:sp>
        <p:nvSpPr>
          <p:cNvPr id="14" name="">
            <a:extLst xmlns:a="http://schemas.openxmlformats.org/drawingml/2006/main">
              <a:ext uri="{FF2B5EF4-FFF2-40B4-BE49-F238E27FC236}">
                <a16:creationId xmlns:a16="http://schemas.microsoft.com/office/drawing/2014/main" id="{EAEDDDD2-24DF-4209-878D-B93BC034D348}"/>
              </a:ext>
            </a:extLst>
          </p:cNvPr>
          <p:cNvSpPr>
            <a:spLocks xmlns:a="http://schemas.openxmlformats.org/drawingml/2006/main" noGrp="1"/>
          </p:cNvSpPr>
          <p:nvPr/>
        </p:nvSpPr>
        <p:spPr>
          <a:xfrm xmlns:a="http://schemas.openxmlformats.org/drawingml/2006/main">
            <a:off x="5543550" y="4095750"/>
            <a:ext cx="1752600" cy="723900"/>
          </a:xfrm>
          <a:prstGeom xmlns:a="http://schemas.openxmlformats.org/drawingml/2006/main" prst="roundRect">
            <a:avLst>
              <a:gd name="adj" fmla="val 7895"/>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Successful build</a:t>
            </a:r>
          </a:p>
        </p:txBody>
      </p:sp>
      <p:sp>
        <p:nvSpPr>
          <p:cNvPr id="15" name="">
            <a:extLst xmlns:a="http://schemas.openxmlformats.org/drawingml/2006/main">
              <a:ext uri="{FF2B5EF4-FFF2-40B4-BE49-F238E27FC236}">
                <a16:creationId xmlns:a16="http://schemas.microsoft.com/office/drawing/2014/main" id="{4EB9098F-80D8-4D4D-AEFF-2708974DD30F}"/>
              </a:ext>
            </a:extLst>
          </p:cNvPr>
          <p:cNvSpPr>
            <a:spLocks xmlns:a="http://schemas.openxmlformats.org/drawingml/2006/main" noGrp="1"/>
          </p:cNvSpPr>
          <p:nvPr/>
        </p:nvSpPr>
        <p:spPr>
          <a:xfrm xmlns:a="http://schemas.openxmlformats.org/drawingml/2006/main">
            <a:off x="7924800" y="4095750"/>
            <a:ext cx="2095500" cy="723900"/>
          </a:xfrm>
          <a:prstGeom xmlns:a="http://schemas.openxmlformats.org/drawingml/2006/main" prst="roundRect">
            <a:avLst>
              <a:gd name="adj" fmla="val 7895"/>
            </a:avLst>
          </a:prstGeom>
          <a:solidFill xmlns:a="http://schemas.openxmlformats.org/drawingml/2006/main">
            <a:srgbClr val="F2DED5"/>
          </a:solidFill>
          <a:ln xmlns:a="http://schemas.openxmlformats.org/drawingml/2006/main" w="20955">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C65231"/>
                </a:solidFill>
                <a:latin typeface="Roboto"/>
                <a:ea typeface="Roboto"/>
                <a:cs typeface="Roboto"/>
              </a:defRPr>
            </a:pPr>
            <a:r>
              <a:rPr sz="1350" b="1">
                <a:solidFill>
                  <a:srgbClr val="C65231"/>
                </a:solidFill>
                <a:latin typeface="Roboto"/>
                <a:ea typeface="Roboto"/>
                <a:cs typeface="Roboto"/>
              </a:rPr>
              <a:t>Collector event</a:t>
            </a:r>
          </a:p>
        </p:txBody>
      </p:sp>
      <p:cxnSp>
        <p:nvCxnSpPr>
          <p:cNvPr id="38" name=""/>
          <p:cNvCxnSpPr>
            <a:stCxn xmlns:a="http://schemas.openxmlformats.org/drawingml/2006/main" id="12" idx="3"/>
            <a:endCxn xmlns:a="http://schemas.openxmlformats.org/drawingml/2006/main" id="13" idx="1"/>
          </p:cNvCxnSpPr>
          <p:nvPr/>
        </p:nvCxnSpPr>
        <p:spPr>
          <a:xfrm xmlns:a="http://schemas.openxmlformats.org/drawingml/2006/main">
            <a:off x="2533650" y="4457700"/>
            <a:ext cx="628650" cy="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39" name=""/>
          <p:cNvCxnSpPr>
            <a:stCxn xmlns:a="http://schemas.openxmlformats.org/drawingml/2006/main" id="13" idx="3"/>
            <a:endCxn xmlns:a="http://schemas.openxmlformats.org/drawingml/2006/main" id="14" idx="1"/>
          </p:cNvCxnSpPr>
          <p:nvPr/>
        </p:nvCxnSpPr>
        <p:spPr>
          <a:xfrm xmlns:a="http://schemas.openxmlformats.org/drawingml/2006/main">
            <a:off x="4914900" y="4457700"/>
            <a:ext cx="6286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cxnSp>
        <p:nvCxnSpPr>
          <p:cNvPr id="40" name=""/>
          <p:cNvCxnSpPr>
            <a:stCxn xmlns:a="http://schemas.openxmlformats.org/drawingml/2006/main" id="14" idx="3"/>
            <a:endCxn xmlns:a="http://schemas.openxmlformats.org/drawingml/2006/main" id="15" idx="1"/>
          </p:cNvCxnSpPr>
          <p:nvPr/>
        </p:nvCxnSpPr>
        <p:spPr>
          <a:xfrm xmlns:a="http://schemas.openxmlformats.org/drawingml/2006/main">
            <a:off x="7296150" y="4457700"/>
            <a:ext cx="628650" cy="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sp>
        <p:nvSpPr>
          <p:cNvPr id="19" name="">
            <a:extLst xmlns:a="http://schemas.openxmlformats.org/drawingml/2006/main">
              <a:ext uri="{FF2B5EF4-FFF2-40B4-BE49-F238E27FC236}">
                <a16:creationId xmlns:a16="http://schemas.microsoft.com/office/drawing/2014/main" id="{F405DD55-F575-4340-974E-AC98AFD5698F}"/>
              </a:ext>
            </a:extLst>
          </p:cNvPr>
          <p:cNvSpPr>
            <a:spLocks xmlns:a="http://schemas.openxmlformats.org/drawingml/2006/main" noGrp="1"/>
          </p:cNvSpPr>
          <p:nvPr/>
        </p:nvSpPr>
        <p:spPr>
          <a:xfrm xmlns:a="http://schemas.openxmlformats.org/drawingml/2006/main">
            <a:off x="781050" y="5448300"/>
            <a:ext cx="9906000" cy="0"/>
          </a:xfrm>
          <a:prstGeom xmlns:a="http://schemas.openxmlformats.org/drawingml/2006/main" prst="line">
            <a:avLst/>
          </a:prstGeom>
          <a:noFill xmlns:a="http://schemas.openxmlformats.org/drawingml/2006/main"/>
          <a:ln xmlns:a="http://schemas.openxmlformats.org/drawingml/2006/main" w="11430">
            <a:solidFill>
              <a:srgbClr val="C9C5BC"/>
            </a:solidFill>
            <a:prstDash val="solid"/>
          </a:ln>
        </p:spPr>
      </p:sp>
      <p:sp>
        <p:nvSpPr>
          <p:cNvPr id="20" name="">
            <a:extLst xmlns:a="http://schemas.openxmlformats.org/drawingml/2006/main">
              <a:ext uri="{FF2B5EF4-FFF2-40B4-BE49-F238E27FC236}">
                <a16:creationId xmlns:a16="http://schemas.microsoft.com/office/drawing/2014/main" id="{97FF9B75-5072-457D-AA10-096398B5AFD6}"/>
              </a:ext>
            </a:extLst>
          </p:cNvPr>
          <p:cNvSpPr>
            <a:spLocks xmlns:a="http://schemas.openxmlformats.org/drawingml/2006/main" noGrp="1"/>
          </p:cNvSpPr>
          <p:nvPr/>
        </p:nvSpPr>
        <p:spPr>
          <a:xfrm xmlns:a="http://schemas.openxmlformats.org/drawingml/2006/main">
            <a:off x="800100" y="5695950"/>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7212B"/>
                </a:solidFill>
                <a:latin typeface="Roboto"/>
                <a:ea typeface="Roboto"/>
                <a:cs typeface="Roboto"/>
              </a:defRPr>
            </a:pPr>
            <a:r>
              <a:rPr sz="1650" b="1">
                <a:solidFill>
                  <a:srgbClr val="17212B"/>
                </a:solidFill>
                <a:latin typeface="Roboto"/>
                <a:ea typeface="Roboto"/>
                <a:cs typeface="Roboto"/>
              </a:rPr>
              <a:t>The runner followed the changed instruction with the access assigned to the job.</a:t>
            </a:r>
          </a:p>
        </p:txBody>
      </p:sp>
      <p:sp>
        <p:nvSpPr>
          <p:cNvPr id="21" name="">
            <a:extLst xmlns:a="http://schemas.openxmlformats.org/drawingml/2006/main">
              <a:ext uri="{FF2B5EF4-FFF2-40B4-BE49-F238E27FC236}">
                <a16:creationId xmlns:a16="http://schemas.microsoft.com/office/drawing/2014/main" id="{924FF5B7-32BB-420E-93A8-AC9F26430C8C}"/>
              </a:ext>
            </a:extLst>
          </p:cNvPr>
          <p:cNvSpPr>
            <a:spLocks xmlns:a="http://schemas.openxmlformats.org/drawingml/2006/main" noGrp="1"/>
          </p:cNvSpPr>
          <p:nvPr/>
        </p:nvSpPr>
        <p:spPr>
          <a:xfrm xmlns:a="http://schemas.openxmlformats.org/drawingml/2006/main">
            <a:off x="800100" y="60769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77818B"/>
                </a:solidFill>
                <a:latin typeface="Roboto"/>
                <a:ea typeface="Roboto"/>
                <a:cs typeface="Roboto"/>
              </a:defRPr>
            </a:pPr>
            <a:r>
              <a:rPr sz="1050" b="0">
                <a:solidFill>
                  <a:srgbClr val="77818B"/>
                </a:solidFill>
                <a:latin typeface="Roboto"/>
                <a:ea typeface="Roboto"/>
                <a:cs typeface="Roboto"/>
              </a:rPr>
              <a:t>The lab collector records a fingerprint, not the original value.</a:t>
            </a:r>
          </a:p>
        </p:txBody>
      </p:sp>
      <p:sp>
        <p:nvSpPr>
          <p:cNvPr id="22" name="">
            <a:extLst xmlns:a="http://schemas.openxmlformats.org/drawingml/2006/main">
              <a:ext uri="{FF2B5EF4-FFF2-40B4-BE49-F238E27FC236}">
                <a16:creationId xmlns:a16="http://schemas.microsoft.com/office/drawing/2014/main" id="{253C00B5-1817-4E91-BE97-576B45CA395E}"/>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06</a:t>
            </a:r>
          </a:p>
        </p:txBody>
      </p:sp>
    </p:spTree>
    <p:extLst>
      <p:ext uri="{BB962C8B-B14F-4D97-AF65-F5344CB8AC3E}">
        <p14:creationId xmlns:p14="http://schemas.microsoft.com/office/powerpoint/2010/main" val="116675457"/>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E947153-E2F2-4561-8F15-3F77849A3A5A}"/>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7212B"/>
                </a:solidFill>
                <a:latin typeface="Roboto"/>
                <a:ea typeface="Roboto"/>
                <a:cs typeface="Roboto"/>
              </a:defRPr>
            </a:pPr>
            <a:r>
              <a:rPr sz="2925" b="1">
                <a:solidFill>
                  <a:srgbClr val="17212B"/>
                </a:solidFill>
                <a:latin typeface="Roboto"/>
                <a:ea typeface="Roboto"/>
                <a:cs typeface="Roboto"/>
              </a:rPr>
              <a:t>The released application can differ from reviewed source</a:t>
            </a:r>
          </a:p>
        </p:txBody>
      </p:sp>
      <p:sp>
        <p:nvSpPr>
          <p:cNvPr id="2" name="">
            <a:extLst xmlns:a="http://schemas.openxmlformats.org/drawingml/2006/main">
              <a:ext uri="{FF2B5EF4-FFF2-40B4-BE49-F238E27FC236}">
                <a16:creationId xmlns:a16="http://schemas.microsoft.com/office/drawing/2014/main" id="{E65D6A4C-C807-445D-8E45-C8E542EB07B6}"/>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Build-time contamination can add behavior after review</a:t>
            </a:r>
          </a:p>
        </p:txBody>
      </p:sp>
      <p:sp>
        <p:nvSpPr>
          <p:cNvPr id="3" name="">
            <a:extLst xmlns:a="http://schemas.openxmlformats.org/drawingml/2006/main">
              <a:ext uri="{FF2B5EF4-FFF2-40B4-BE49-F238E27FC236}">
                <a16:creationId xmlns:a16="http://schemas.microsoft.com/office/drawing/2014/main" id="{FF6F927E-E7C6-480E-80AC-81FA9DF12CB6}"/>
              </a:ext>
            </a:extLst>
          </p:cNvPr>
          <p:cNvSpPr>
            <a:spLocks xmlns:a="http://schemas.openxmlformats.org/drawingml/2006/main" noGrp="1"/>
          </p:cNvSpPr>
          <p:nvPr/>
        </p:nvSpPr>
        <p:spPr>
          <a:xfrm xmlns:a="http://schemas.openxmlformats.org/drawingml/2006/main">
            <a:off x="9906000" y="5715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1">
                <a:solidFill>
                  <a:srgbClr val="C65231"/>
                </a:solidFill>
                <a:latin typeface="Roboto"/>
                <a:ea typeface="Roboto"/>
                <a:cs typeface="Roboto"/>
              </a:defRPr>
            </a:pPr>
            <a:r>
              <a:rPr sz="975" b="1">
                <a:solidFill>
                  <a:srgbClr val="C65231"/>
                </a:solidFill>
                <a:latin typeface="Roboto"/>
                <a:ea typeface="Roboto"/>
                <a:cs typeface="Roboto"/>
              </a:rPr>
              <a:t>RECORDED DEMO</a:t>
            </a:r>
          </a:p>
        </p:txBody>
      </p:sp>
      <p:sp>
        <p:nvSpPr>
          <p:cNvPr id="4" name="">
            <a:extLst xmlns:a="http://schemas.openxmlformats.org/drawingml/2006/main">
              <a:ext uri="{FF2B5EF4-FFF2-40B4-BE49-F238E27FC236}">
                <a16:creationId xmlns:a16="http://schemas.microsoft.com/office/drawing/2014/main" id="{77DCA563-40C5-40EC-A86E-FF4DAF4255A4}"/>
              </a:ext>
            </a:extLst>
          </p:cNvPr>
          <p:cNvSpPr>
            <a:spLocks xmlns:a="http://schemas.openxmlformats.org/drawingml/2006/main" noGrp="1"/>
          </p:cNvSpPr>
          <p:nvPr/>
        </p:nvSpPr>
        <p:spPr>
          <a:xfrm xmlns:a="http://schemas.openxmlformats.org/drawingml/2006/main">
            <a:off x="781050" y="2095500"/>
            <a:ext cx="2190750" cy="1695450"/>
          </a:xfrm>
          <a:prstGeom xmlns:a="http://schemas.openxmlformats.org/drawingml/2006/main" prst="roundRect">
            <a:avLst>
              <a:gd name="adj" fmla="val 4494"/>
            </a:avLst>
          </a:prstGeom>
          <a:solidFill xmlns:a="http://schemas.openxmlformats.org/drawingml/2006/main">
            <a:srgbClr val="FBFAF6"/>
          </a:solidFill>
          <a:ln xmlns:a="http://schemas.openxmlformats.org/drawingml/2006/main" w="14288">
            <a:solidFill>
              <a:srgbClr val="255D84"/>
            </a:solidFill>
            <a:prstDash val="solid"/>
          </a:ln>
        </p:spPr>
      </p:sp>
      <p:sp>
        <p:nvSpPr>
          <p:cNvPr id="5" name="">
            <a:extLst xmlns:a="http://schemas.openxmlformats.org/drawingml/2006/main">
              <a:ext uri="{FF2B5EF4-FFF2-40B4-BE49-F238E27FC236}">
                <a16:creationId xmlns:a16="http://schemas.microsoft.com/office/drawing/2014/main" id="{9E787C0E-0096-4A7E-A24B-70F42B7877D1}"/>
              </a:ext>
            </a:extLst>
          </p:cNvPr>
          <p:cNvSpPr>
            <a:spLocks xmlns:a="http://schemas.openxmlformats.org/drawingml/2006/main" noGrp="1"/>
          </p:cNvSpPr>
          <p:nvPr/>
        </p:nvSpPr>
        <p:spPr>
          <a:xfrm xmlns:a="http://schemas.openxmlformats.org/drawingml/2006/main">
            <a:off x="990600" y="2266950"/>
            <a:ext cx="1790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7212B"/>
                </a:solidFill>
                <a:latin typeface="Roboto"/>
                <a:ea typeface="Roboto"/>
                <a:cs typeface="Roboto"/>
              </a:defRPr>
            </a:pPr>
            <a:r>
              <a:rPr sz="1575" b="1">
                <a:solidFill>
                  <a:srgbClr val="17212B"/>
                </a:solidFill>
                <a:latin typeface="Roboto"/>
                <a:ea typeface="Roboto"/>
                <a:cs typeface="Roboto"/>
              </a:rPr>
              <a:t>Reviewed source</a:t>
            </a:r>
          </a:p>
        </p:txBody>
      </p:sp>
      <p:sp>
        <p:nvSpPr>
          <p:cNvPr id="6" name="">
            <a:extLst xmlns:a="http://schemas.openxmlformats.org/drawingml/2006/main">
              <a:ext uri="{FF2B5EF4-FFF2-40B4-BE49-F238E27FC236}">
                <a16:creationId xmlns:a16="http://schemas.microsoft.com/office/drawing/2014/main" id="{82AA7FB1-18A3-43CA-A118-ED81D4F2F0F1}"/>
              </a:ext>
            </a:extLst>
          </p:cNvPr>
          <p:cNvSpPr>
            <a:spLocks xmlns:a="http://schemas.openxmlformats.org/drawingml/2006/main" noGrp="1"/>
          </p:cNvSpPr>
          <p:nvPr/>
        </p:nvSpPr>
        <p:spPr>
          <a:xfrm xmlns:a="http://schemas.openxmlformats.org/drawingml/2006/main">
            <a:off x="1009650" y="2724150"/>
            <a:ext cx="14287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7" name="">
            <a:extLst xmlns:a="http://schemas.openxmlformats.org/drawingml/2006/main">
              <a:ext uri="{FF2B5EF4-FFF2-40B4-BE49-F238E27FC236}">
                <a16:creationId xmlns:a16="http://schemas.microsoft.com/office/drawing/2014/main" id="{49CC746C-E535-42E1-BB00-A9F84534C610}"/>
              </a:ext>
            </a:extLst>
          </p:cNvPr>
          <p:cNvSpPr>
            <a:spLocks xmlns:a="http://schemas.openxmlformats.org/drawingml/2006/main" noGrp="1"/>
          </p:cNvSpPr>
          <p:nvPr/>
        </p:nvSpPr>
        <p:spPr>
          <a:xfrm xmlns:a="http://schemas.openxmlformats.org/drawingml/2006/main">
            <a:off x="1009650" y="2952750"/>
            <a:ext cx="16573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8" name="">
            <a:extLst xmlns:a="http://schemas.openxmlformats.org/drawingml/2006/main">
              <a:ext uri="{FF2B5EF4-FFF2-40B4-BE49-F238E27FC236}">
                <a16:creationId xmlns:a16="http://schemas.microsoft.com/office/drawing/2014/main" id="{A9CBD27E-561D-4A90-89FE-4B13AB891DCE}"/>
              </a:ext>
            </a:extLst>
          </p:cNvPr>
          <p:cNvSpPr>
            <a:spLocks xmlns:a="http://schemas.openxmlformats.org/drawingml/2006/main" noGrp="1"/>
          </p:cNvSpPr>
          <p:nvPr/>
        </p:nvSpPr>
        <p:spPr>
          <a:xfrm xmlns:a="http://schemas.openxmlformats.org/drawingml/2006/main">
            <a:off x="1009650" y="3181350"/>
            <a:ext cx="12001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9" name="">
            <a:extLst xmlns:a="http://schemas.openxmlformats.org/drawingml/2006/main">
              <a:ext uri="{FF2B5EF4-FFF2-40B4-BE49-F238E27FC236}">
                <a16:creationId xmlns:a16="http://schemas.microsoft.com/office/drawing/2014/main" id="{10F7FD4E-1322-4FD1-A6D4-E6E97F6992D5}"/>
              </a:ext>
            </a:extLst>
          </p:cNvPr>
          <p:cNvSpPr>
            <a:spLocks xmlns:a="http://schemas.openxmlformats.org/drawingml/2006/main" noGrp="1"/>
          </p:cNvSpPr>
          <p:nvPr/>
        </p:nvSpPr>
        <p:spPr>
          <a:xfrm xmlns:a="http://schemas.openxmlformats.org/drawingml/2006/main">
            <a:off x="990600" y="342900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46515C"/>
                </a:solidFill>
                <a:latin typeface="Roboto"/>
                <a:ea typeface="Roboto"/>
                <a:cs typeface="Roboto"/>
              </a:defRPr>
            </a:pPr>
            <a:r>
              <a:rPr sz="1050" b="0">
                <a:solidFill>
                  <a:srgbClr val="46515C"/>
                </a:solidFill>
                <a:latin typeface="Roboto"/>
                <a:ea typeface="Roboto"/>
                <a:cs typeface="Roboto"/>
              </a:rPr>
              <a:t>Normal login and server code</a:t>
            </a:r>
          </a:p>
        </p:txBody>
      </p:sp>
      <p:sp>
        <p:nvSpPr>
          <p:cNvPr id="10" name="">
            <a:extLst xmlns:a="http://schemas.openxmlformats.org/drawingml/2006/main">
              <a:ext uri="{FF2B5EF4-FFF2-40B4-BE49-F238E27FC236}">
                <a16:creationId xmlns:a16="http://schemas.microsoft.com/office/drawing/2014/main" id="{9E56C33F-7F2E-46F8-81BA-22C204A842C4}"/>
              </a:ext>
            </a:extLst>
          </p:cNvPr>
          <p:cNvSpPr>
            <a:spLocks xmlns:a="http://schemas.openxmlformats.org/drawingml/2006/main" noGrp="1"/>
          </p:cNvSpPr>
          <p:nvPr/>
        </p:nvSpPr>
        <p:spPr>
          <a:xfrm xmlns:a="http://schemas.openxmlformats.org/drawingml/2006/main">
            <a:off x="4000500" y="2362200"/>
            <a:ext cx="1143000" cy="1143000"/>
          </a:xfrm>
          <a:prstGeom xmlns:a="http://schemas.openxmlformats.org/drawingml/2006/main" prst="ellipse">
            <a:avLst/>
          </a:prstGeom>
          <a:solidFill xmlns:a="http://schemas.openxmlformats.org/drawingml/2006/main">
            <a:srgbClr val="F2DED5"/>
          </a:solidFill>
          <a:ln xmlns:a="http://schemas.openxmlformats.org/drawingml/2006/main" w="24765">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650" b="1">
                <a:solidFill>
                  <a:srgbClr val="17212B"/>
                </a:solidFill>
                <a:latin typeface="Roboto"/>
                <a:ea typeface="Roboto"/>
                <a:cs typeface="Roboto"/>
              </a:defRPr>
            </a:pPr>
            <a:r>
              <a:rPr sz="1650" b="1">
                <a:solidFill>
                  <a:srgbClr val="17212B"/>
                </a:solidFill>
                <a:latin typeface="Roboto"/>
                <a:ea typeface="Roboto"/>
                <a:cs typeface="Roboto"/>
              </a:rPr>
              <a:t>Build</a:t>
            </a:r>
          </a:p>
          <a:p xmlns:a="http://schemas.openxmlformats.org/drawingml/2006/main">
            <a:pPr algn="ctr">
              <a:defRPr sz="1650" b="1">
                <a:solidFill>
                  <a:srgbClr val="17212B"/>
                </a:solidFill>
                <a:latin typeface="Roboto"/>
                <a:ea typeface="Roboto"/>
                <a:cs typeface="Roboto"/>
              </a:defRPr>
            </a:pPr>
            <a:r>
              <a:rPr sz="1650" b="1">
                <a:solidFill>
                  <a:srgbClr val="17212B"/>
                </a:solidFill>
                <a:latin typeface="Roboto"/>
                <a:ea typeface="Roboto"/>
                <a:cs typeface="Roboto"/>
              </a:rPr>
              <a:t>stage</a:t>
            </a:r>
          </a:p>
        </p:txBody>
      </p:sp>
      <p:cxnSp>
        <p:nvCxnSpPr>
          <p:cNvPr id="39" name=""/>
          <p:cNvCxnSpPr>
            <a:stCxn xmlns:a="http://schemas.openxmlformats.org/drawingml/2006/main" id="4" idx="3"/>
            <a:endCxn xmlns:a="http://schemas.openxmlformats.org/drawingml/2006/main" id="10" idx="2"/>
          </p:cNvCxnSpPr>
          <p:nvPr/>
        </p:nvCxnSpPr>
        <p:spPr>
          <a:xfrm xmlns:a="http://schemas.openxmlformats.org/drawingml/2006/main" flipV="1">
            <a:off x="2971800" y="2933700"/>
            <a:ext cx="1028700" cy="9525"/>
          </a:xfrm>
          <a:prstGeom xmlns:a="http://schemas.openxmlformats.org/drawingml/2006/main" prst="straightConnector1">
            <a:avLst/>
          </a:prstGeom>
          <a:ln xmlns:a="http://schemas.openxmlformats.org/drawingml/2006/main" w="20955">
            <a:solidFill>
              <a:srgbClr val="255D84"/>
            </a:solidFill>
            <a:prstDash val="solid"/>
            <a:tailEnd type="triangle" w="sm" len="sm"/>
          </a:ln>
        </p:spPr>
      </p:cxnSp>
      <p:sp>
        <p:nvSpPr>
          <p:cNvPr id="12" name="">
            <a:extLst xmlns:a="http://schemas.openxmlformats.org/drawingml/2006/main">
              <a:ext uri="{FF2B5EF4-FFF2-40B4-BE49-F238E27FC236}">
                <a16:creationId xmlns:a16="http://schemas.microsoft.com/office/drawing/2014/main" id="{E6A2B59E-7684-4637-B16E-96957311FDC0}"/>
              </a:ext>
            </a:extLst>
          </p:cNvPr>
          <p:cNvSpPr>
            <a:spLocks xmlns:a="http://schemas.openxmlformats.org/drawingml/2006/main" noGrp="1"/>
          </p:cNvSpPr>
          <p:nvPr/>
        </p:nvSpPr>
        <p:spPr>
          <a:xfrm xmlns:a="http://schemas.openxmlformats.org/drawingml/2006/main">
            <a:off x="3829050" y="3676650"/>
            <a:ext cx="1485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C65231"/>
                </a:solidFill>
                <a:latin typeface="Roboto"/>
                <a:ea typeface="Roboto"/>
                <a:cs typeface="Roboto"/>
              </a:defRPr>
            </a:pPr>
            <a:r>
              <a:rPr sz="1050" b="1">
                <a:solidFill>
                  <a:srgbClr val="C65231"/>
                </a:solidFill>
                <a:latin typeface="Roboto"/>
                <a:ea typeface="Roboto"/>
                <a:cs typeface="Roboto"/>
              </a:rPr>
              <a:t>changed instruction</a:t>
            </a:r>
          </a:p>
        </p:txBody>
      </p:sp>
      <p:sp>
        <p:nvSpPr>
          <p:cNvPr id="13" name="">
            <a:extLst xmlns:a="http://schemas.openxmlformats.org/drawingml/2006/main">
              <a:ext uri="{FF2B5EF4-FFF2-40B4-BE49-F238E27FC236}">
                <a16:creationId xmlns:a16="http://schemas.microsoft.com/office/drawing/2014/main" id="{071B451D-9A9D-4C1C-8146-F37A6A0432B8}"/>
              </a:ext>
            </a:extLst>
          </p:cNvPr>
          <p:cNvSpPr>
            <a:spLocks xmlns:a="http://schemas.openxmlformats.org/drawingml/2006/main" noGrp="1"/>
          </p:cNvSpPr>
          <p:nvPr/>
        </p:nvSpPr>
        <p:spPr>
          <a:xfrm xmlns:a="http://schemas.openxmlformats.org/drawingml/2006/main">
            <a:off x="6153150" y="2266950"/>
            <a:ext cx="2381250" cy="1657350"/>
          </a:xfrm>
          <a:prstGeom xmlns:a="http://schemas.openxmlformats.org/drawingml/2006/main" prst="roundRect">
            <a:avLst>
              <a:gd name="adj" fmla="val 4598"/>
            </a:avLst>
          </a:prstGeom>
          <a:solidFill xmlns:a="http://schemas.openxmlformats.org/drawingml/2006/main">
            <a:srgbClr val="E9E5DC"/>
          </a:solidFill>
          <a:ln xmlns:a="http://schemas.openxmlformats.org/drawingml/2006/main" w="14288">
            <a:solidFill>
              <a:srgbClr val="C9C5BC"/>
            </a:solidFill>
            <a:prstDash val="solid"/>
          </a:ln>
        </p:spPr>
      </p:sp>
      <p:sp>
        <p:nvSpPr>
          <p:cNvPr id="14" name="">
            <a:extLst xmlns:a="http://schemas.openxmlformats.org/drawingml/2006/main">
              <a:ext uri="{FF2B5EF4-FFF2-40B4-BE49-F238E27FC236}">
                <a16:creationId xmlns:a16="http://schemas.microsoft.com/office/drawing/2014/main" id="{F63F61DB-C439-418A-980A-2C2573E192DB}"/>
              </a:ext>
            </a:extLst>
          </p:cNvPr>
          <p:cNvSpPr>
            <a:spLocks xmlns:a="http://schemas.openxmlformats.org/drawingml/2006/main" noGrp="1"/>
          </p:cNvSpPr>
          <p:nvPr/>
        </p:nvSpPr>
        <p:spPr>
          <a:xfrm xmlns:a="http://schemas.openxmlformats.org/drawingml/2006/main">
            <a:off x="6000750" y="2095500"/>
            <a:ext cx="2381250" cy="1657350"/>
          </a:xfrm>
          <a:prstGeom xmlns:a="http://schemas.openxmlformats.org/drawingml/2006/main" prst="roundRect">
            <a:avLst>
              <a:gd name="adj" fmla="val 4598"/>
            </a:avLst>
          </a:prstGeom>
          <a:solidFill xmlns:a="http://schemas.openxmlformats.org/drawingml/2006/main">
            <a:srgbClr val="FBFAF6"/>
          </a:solidFill>
          <a:ln xmlns:a="http://schemas.openxmlformats.org/drawingml/2006/main" w="20955">
            <a:solidFill>
              <a:srgbClr val="255D84"/>
            </a:solidFill>
            <a:prstDash val="solid"/>
          </a:ln>
        </p:spPr>
      </p:sp>
      <p:sp>
        <p:nvSpPr>
          <p:cNvPr id="15" name="">
            <a:extLst xmlns:a="http://schemas.openxmlformats.org/drawingml/2006/main">
              <a:ext uri="{FF2B5EF4-FFF2-40B4-BE49-F238E27FC236}">
                <a16:creationId xmlns:a16="http://schemas.microsoft.com/office/drawing/2014/main" id="{16422EC7-0FA6-4421-AFD6-26C68B93D7C7}"/>
              </a:ext>
            </a:extLst>
          </p:cNvPr>
          <p:cNvSpPr>
            <a:spLocks xmlns:a="http://schemas.openxmlformats.org/drawingml/2006/main" noGrp="1"/>
          </p:cNvSpPr>
          <p:nvPr/>
        </p:nvSpPr>
        <p:spPr>
          <a:xfrm xmlns:a="http://schemas.openxmlformats.org/drawingml/2006/main">
            <a:off x="6229350" y="2266950"/>
            <a:ext cx="1885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7212B"/>
                </a:solidFill>
                <a:latin typeface="Roboto"/>
                <a:ea typeface="Roboto"/>
                <a:cs typeface="Roboto"/>
              </a:defRPr>
            </a:pPr>
            <a:r>
              <a:rPr sz="1575" b="1">
                <a:solidFill>
                  <a:srgbClr val="17212B"/>
                </a:solidFill>
                <a:latin typeface="Roboto"/>
                <a:ea typeface="Roboto"/>
                <a:cs typeface="Roboto"/>
              </a:rPr>
              <a:t>Released artifact</a:t>
            </a:r>
          </a:p>
        </p:txBody>
      </p:sp>
      <p:sp>
        <p:nvSpPr>
          <p:cNvPr id="16" name="">
            <a:extLst xmlns:a="http://schemas.openxmlformats.org/drawingml/2006/main">
              <a:ext uri="{FF2B5EF4-FFF2-40B4-BE49-F238E27FC236}">
                <a16:creationId xmlns:a16="http://schemas.microsoft.com/office/drawing/2014/main" id="{D0EDD316-8161-43BC-8497-C7D14868A033}"/>
              </a:ext>
            </a:extLst>
          </p:cNvPr>
          <p:cNvSpPr>
            <a:spLocks xmlns:a="http://schemas.openxmlformats.org/drawingml/2006/main" noGrp="1"/>
          </p:cNvSpPr>
          <p:nvPr/>
        </p:nvSpPr>
        <p:spPr>
          <a:xfrm xmlns:a="http://schemas.openxmlformats.org/drawingml/2006/main">
            <a:off x="6229350" y="2724150"/>
            <a:ext cx="14287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17" name="">
            <a:extLst xmlns:a="http://schemas.openxmlformats.org/drawingml/2006/main">
              <a:ext uri="{FF2B5EF4-FFF2-40B4-BE49-F238E27FC236}">
                <a16:creationId xmlns:a16="http://schemas.microsoft.com/office/drawing/2014/main" id="{2DA68672-550F-490D-86D8-08B903A58DA2}"/>
              </a:ext>
            </a:extLst>
          </p:cNvPr>
          <p:cNvSpPr>
            <a:spLocks xmlns:a="http://schemas.openxmlformats.org/drawingml/2006/main" noGrp="1"/>
          </p:cNvSpPr>
          <p:nvPr/>
        </p:nvSpPr>
        <p:spPr>
          <a:xfrm xmlns:a="http://schemas.openxmlformats.org/drawingml/2006/main">
            <a:off x="6229350" y="2952750"/>
            <a:ext cx="16573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18" name="">
            <a:extLst xmlns:a="http://schemas.openxmlformats.org/drawingml/2006/main">
              <a:ext uri="{FF2B5EF4-FFF2-40B4-BE49-F238E27FC236}">
                <a16:creationId xmlns:a16="http://schemas.microsoft.com/office/drawing/2014/main" id="{1E506A7E-7053-4D13-AF64-75DDA99C4117}"/>
              </a:ext>
            </a:extLst>
          </p:cNvPr>
          <p:cNvSpPr>
            <a:spLocks xmlns:a="http://schemas.openxmlformats.org/drawingml/2006/main" noGrp="1"/>
          </p:cNvSpPr>
          <p:nvPr/>
        </p:nvSpPr>
        <p:spPr>
          <a:xfrm xmlns:a="http://schemas.openxmlformats.org/drawingml/2006/main">
            <a:off x="6229350" y="3181350"/>
            <a:ext cx="1200150" cy="0"/>
          </a:xfrm>
          <a:prstGeom xmlns:a="http://schemas.openxmlformats.org/drawingml/2006/main" prst="line">
            <a:avLst/>
          </a:prstGeom>
          <a:noFill xmlns:a="http://schemas.openxmlformats.org/drawingml/2006/main"/>
          <a:ln xmlns:a="http://schemas.openxmlformats.org/drawingml/2006/main" w="28575">
            <a:solidFill>
              <a:srgbClr val="C9C5BC"/>
            </a:solidFill>
            <a:prstDash val="solid"/>
          </a:ln>
        </p:spPr>
      </p:sp>
      <p:sp>
        <p:nvSpPr>
          <p:cNvPr id="19" name="">
            <a:extLst xmlns:a="http://schemas.openxmlformats.org/drawingml/2006/main">
              <a:ext uri="{FF2B5EF4-FFF2-40B4-BE49-F238E27FC236}">
                <a16:creationId xmlns:a16="http://schemas.microsoft.com/office/drawing/2014/main" id="{3736873E-9DB8-4574-9F69-D448772CD153}"/>
              </a:ext>
            </a:extLst>
          </p:cNvPr>
          <p:cNvSpPr>
            <a:spLocks xmlns:a="http://schemas.openxmlformats.org/drawingml/2006/main" noGrp="1"/>
          </p:cNvSpPr>
          <p:nvPr/>
        </p:nvSpPr>
        <p:spPr>
          <a:xfrm xmlns:a="http://schemas.openxmlformats.org/drawingml/2006/main">
            <a:off x="6210300" y="3390900"/>
            <a:ext cx="1962150" cy="266700"/>
          </a:xfrm>
          <a:prstGeom xmlns:a="http://schemas.openxmlformats.org/drawingml/2006/main" prst="roundRect">
            <a:avLst>
              <a:gd name="adj" fmla="val 14286"/>
            </a:avLst>
          </a:prstGeom>
          <a:solidFill xmlns:a="http://schemas.openxmlformats.org/drawingml/2006/main">
            <a:srgbClr val="F2DED5"/>
          </a:solidFill>
          <a:ln xmlns:a="http://schemas.openxmlformats.org/drawingml/2006/main" w="11430">
            <a:solidFill>
              <a:srgbClr val="C65231"/>
            </a:solidFill>
            <a:prstDash val="solid"/>
          </a:ln>
        </p:spPr>
        <p:txBody>
          <a:bodyPr xmlns:a="http://schemas.openxmlformats.org/drawingml/2006/main" wrap="square" lIns="76200" tIns="76200" rIns="76200" bIns="76200" anchor="ctr">
            <a:normAutofit fontScale="61903"/>
          </a:bodyPr>
          <a:lstStyle xmlns:a="http://schemas.openxmlformats.org/drawingml/2006/main"/>
          <a:p xmlns:a="http://schemas.openxmlformats.org/drawingml/2006/main">
            <a:pPr algn="ctr">
              <a:defRPr sz="975" b="1">
                <a:solidFill>
                  <a:srgbClr val="C65231"/>
                </a:solidFill>
                <a:latin typeface="Roboto"/>
                <a:ea typeface="Roboto"/>
                <a:cs typeface="Roboto"/>
              </a:defRPr>
            </a:pPr>
            <a:r>
              <a:rPr sz="975" b="1">
                <a:solidFill>
                  <a:srgbClr val="C65231"/>
                </a:solidFill>
                <a:latin typeface="Roboto"/>
                <a:ea typeface="Roboto"/>
                <a:cs typeface="Roboto"/>
              </a:rPr>
              <a:t>extra behavior</a:t>
            </a:r>
          </a:p>
        </p:txBody>
      </p:sp>
      <p:cxnSp>
        <p:nvCxnSpPr>
          <p:cNvPr id="48" name=""/>
          <p:cNvCxnSpPr>
            <a:stCxn xmlns:a="http://schemas.openxmlformats.org/drawingml/2006/main" id="10" idx="6"/>
            <a:endCxn xmlns:a="http://schemas.openxmlformats.org/drawingml/2006/main" id="14" idx="1"/>
          </p:cNvCxnSpPr>
          <p:nvPr/>
        </p:nvCxnSpPr>
        <p:spPr>
          <a:xfrm xmlns:a="http://schemas.openxmlformats.org/drawingml/2006/main" flipV="1">
            <a:off x="5143500" y="2924175"/>
            <a:ext cx="857250" cy="9525"/>
          </a:xfrm>
          <a:prstGeom xmlns:a="http://schemas.openxmlformats.org/drawingml/2006/main" prst="straightConnector1">
            <a:avLst/>
          </a:prstGeom>
          <a:ln xmlns:a="http://schemas.openxmlformats.org/drawingml/2006/main" w="22860">
            <a:solidFill>
              <a:srgbClr val="C65231"/>
            </a:solidFill>
            <a:prstDash val="solid"/>
            <a:tailEnd type="triangle" w="sm" len="sm"/>
          </a:ln>
        </p:spPr>
      </p:cxnSp>
      <p:sp>
        <p:nvSpPr>
          <p:cNvPr id="21" name="">
            <a:extLst xmlns:a="http://schemas.openxmlformats.org/drawingml/2006/main">
              <a:ext uri="{FF2B5EF4-FFF2-40B4-BE49-F238E27FC236}">
                <a16:creationId xmlns:a16="http://schemas.microsoft.com/office/drawing/2014/main" id="{3496B92D-B69B-466B-999F-34ED8F7A3813}"/>
              </a:ext>
            </a:extLst>
          </p:cNvPr>
          <p:cNvSpPr>
            <a:spLocks xmlns:a="http://schemas.openxmlformats.org/drawingml/2006/main" noGrp="1"/>
          </p:cNvSpPr>
          <p:nvPr/>
        </p:nvSpPr>
        <p:spPr>
          <a:xfrm xmlns:a="http://schemas.openxmlformats.org/drawingml/2006/main">
            <a:off x="9258300" y="2000250"/>
            <a:ext cx="2152650" cy="990600"/>
          </a:xfrm>
          <a:prstGeom xmlns:a="http://schemas.openxmlformats.org/drawingml/2006/main" prst="roundRect">
            <a:avLst>
              <a:gd name="adj" fmla="val 6731"/>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Browser</a:t>
            </a:r>
          </a:p>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copies demo login input</a:t>
            </a:r>
          </a:p>
        </p:txBody>
      </p:sp>
      <p:sp>
        <p:nvSpPr>
          <p:cNvPr id="22" name="">
            <a:extLst xmlns:a="http://schemas.openxmlformats.org/drawingml/2006/main">
              <a:ext uri="{FF2B5EF4-FFF2-40B4-BE49-F238E27FC236}">
                <a16:creationId xmlns:a16="http://schemas.microsoft.com/office/drawing/2014/main" id="{862972CA-5D6A-4670-9811-C00BAB9502EE}"/>
              </a:ext>
            </a:extLst>
          </p:cNvPr>
          <p:cNvSpPr>
            <a:spLocks xmlns:a="http://schemas.openxmlformats.org/drawingml/2006/main" noGrp="1"/>
          </p:cNvSpPr>
          <p:nvPr/>
        </p:nvSpPr>
        <p:spPr>
          <a:xfrm xmlns:a="http://schemas.openxmlformats.org/drawingml/2006/main">
            <a:off x="9258300" y="3333750"/>
            <a:ext cx="2152650" cy="990600"/>
          </a:xfrm>
          <a:prstGeom xmlns:a="http://schemas.openxmlformats.org/drawingml/2006/main" prst="roundRect">
            <a:avLst>
              <a:gd name="adj" fmla="val 6731"/>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Application server</a:t>
            </a:r>
          </a:p>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reads lab-only config</a:t>
            </a:r>
          </a:p>
        </p:txBody>
      </p:sp>
      <p:cxnSp>
        <p:nvCxnSpPr>
          <p:cNvPr id="51" name=""/>
          <p:cNvCxnSpPr>
            <a:stCxn xmlns:a="http://schemas.openxmlformats.org/drawingml/2006/main" id="14" idx="3"/>
            <a:endCxn xmlns:a="http://schemas.openxmlformats.org/drawingml/2006/main" id="21" idx="1"/>
          </p:cNvCxnSpPr>
          <p:nvPr/>
        </p:nvCxnSpPr>
        <p:spPr>
          <a:xfrm xmlns:a="http://schemas.openxmlformats.org/drawingml/2006/main" flipV="1">
            <a:off x="8382000" y="2495550"/>
            <a:ext cx="876300" cy="428625"/>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cxnSp>
        <p:nvCxnSpPr>
          <p:cNvPr id="52" name=""/>
          <p:cNvCxnSpPr>
            <a:stCxn xmlns:a="http://schemas.openxmlformats.org/drawingml/2006/main" id="14" idx="3"/>
            <a:endCxn xmlns:a="http://schemas.openxmlformats.org/drawingml/2006/main" id="22" idx="1"/>
          </p:cNvCxnSpPr>
          <p:nvPr/>
        </p:nvCxnSpPr>
        <p:spPr>
          <a:xfrm xmlns:a="http://schemas.openxmlformats.org/drawingml/2006/main">
            <a:off x="8382000" y="2924175"/>
            <a:ext cx="876300" cy="904875"/>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sp>
        <p:nvSpPr>
          <p:cNvPr id="25" name="">
            <a:extLst xmlns:a="http://schemas.openxmlformats.org/drawingml/2006/main">
              <a:ext uri="{FF2B5EF4-FFF2-40B4-BE49-F238E27FC236}">
                <a16:creationId xmlns:a16="http://schemas.microsoft.com/office/drawing/2014/main" id="{18A23F6C-B570-4A48-AC8F-B012C216919A}"/>
              </a:ext>
            </a:extLst>
          </p:cNvPr>
          <p:cNvSpPr>
            <a:spLocks xmlns:a="http://schemas.openxmlformats.org/drawingml/2006/main" noGrp="1"/>
          </p:cNvSpPr>
          <p:nvPr/>
        </p:nvSpPr>
        <p:spPr>
          <a:xfrm xmlns:a="http://schemas.openxmlformats.org/drawingml/2006/main">
            <a:off x="781050" y="4953000"/>
            <a:ext cx="10629900" cy="0"/>
          </a:xfrm>
          <a:prstGeom xmlns:a="http://schemas.openxmlformats.org/drawingml/2006/main" prst="line">
            <a:avLst/>
          </a:prstGeom>
          <a:noFill xmlns:a="http://schemas.openxmlformats.org/drawingml/2006/main"/>
          <a:ln xmlns:a="http://schemas.openxmlformats.org/drawingml/2006/main" w="11430">
            <a:solidFill>
              <a:srgbClr val="C9C5BC"/>
            </a:solidFill>
            <a:prstDash val="solid"/>
          </a:ln>
        </p:spPr>
      </p:sp>
      <p:sp>
        <p:nvSpPr>
          <p:cNvPr id="26" name="">
            <a:extLst xmlns:a="http://schemas.openxmlformats.org/drawingml/2006/main">
              <a:ext uri="{FF2B5EF4-FFF2-40B4-BE49-F238E27FC236}">
                <a16:creationId xmlns:a16="http://schemas.microsoft.com/office/drawing/2014/main" id="{FBB57441-B30B-4C2B-BA17-AD09545328B3}"/>
              </a:ext>
            </a:extLst>
          </p:cNvPr>
          <p:cNvSpPr>
            <a:spLocks xmlns:a="http://schemas.openxmlformats.org/drawingml/2006/main" noGrp="1"/>
          </p:cNvSpPr>
          <p:nvPr/>
        </p:nvSpPr>
        <p:spPr>
          <a:xfrm xmlns:a="http://schemas.openxmlformats.org/drawingml/2006/main">
            <a:off x="800100" y="52197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7212B"/>
                </a:solidFill>
                <a:latin typeface="Roboto"/>
                <a:ea typeface="Roboto"/>
                <a:cs typeface="Roboto"/>
              </a:defRPr>
            </a:pPr>
            <a:r>
              <a:rPr sz="1575" b="1">
                <a:solidFill>
                  <a:srgbClr val="17212B"/>
                </a:solidFill>
                <a:latin typeface="Roboto"/>
                <a:ea typeface="Roboto"/>
                <a:cs typeface="Roboto"/>
              </a:rPr>
              <a:t>Browser and server code run in different places with different access.</a:t>
            </a:r>
          </a:p>
        </p:txBody>
      </p:sp>
      <p:sp>
        <p:nvSpPr>
          <p:cNvPr id="27" name="">
            <a:extLst xmlns:a="http://schemas.openxmlformats.org/drawingml/2006/main">
              <a:ext uri="{FF2B5EF4-FFF2-40B4-BE49-F238E27FC236}">
                <a16:creationId xmlns:a16="http://schemas.microsoft.com/office/drawing/2014/main" id="{CB39C2DE-B4FD-4B82-8FE8-24E96203E839}"/>
              </a:ext>
            </a:extLst>
          </p:cNvPr>
          <p:cNvSpPr>
            <a:spLocks xmlns:a="http://schemas.openxmlformats.org/drawingml/2006/main" noGrp="1"/>
          </p:cNvSpPr>
          <p:nvPr/>
        </p:nvSpPr>
        <p:spPr>
          <a:xfrm xmlns:a="http://schemas.openxmlformats.org/drawingml/2006/main">
            <a:off x="800100" y="56388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46515C"/>
                </a:solidFill>
                <a:latin typeface="Roboto"/>
                <a:ea typeface="Roboto"/>
                <a:cs typeface="Roboto"/>
              </a:defRPr>
            </a:pPr>
            <a:r>
              <a:rPr sz="1125" b="0">
                <a:solidFill>
                  <a:srgbClr val="46515C"/>
                </a:solidFill>
                <a:latin typeface="Roboto"/>
                <a:ea typeface="Roboto"/>
                <a:cs typeface="Roboto"/>
              </a:rPr>
              <a:t>The demo records fingerprints of fake values. It does not store submitted passwords or original secrets.</a:t>
            </a:r>
          </a:p>
        </p:txBody>
      </p:sp>
      <p:sp>
        <p:nvSpPr>
          <p:cNvPr id="28" name="">
            <a:extLst xmlns:a="http://schemas.openxmlformats.org/drawingml/2006/main">
              <a:ext uri="{FF2B5EF4-FFF2-40B4-BE49-F238E27FC236}">
                <a16:creationId xmlns:a16="http://schemas.microsoft.com/office/drawing/2014/main" id="{F32E12EB-1349-4316-9C46-382316944B5B}"/>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07</a:t>
            </a:r>
          </a:p>
        </p:txBody>
      </p:sp>
    </p:spTree>
    <p:extLst>
      <p:ext uri="{BB962C8B-B14F-4D97-AF65-F5344CB8AC3E}">
        <p14:creationId xmlns:p14="http://schemas.microsoft.com/office/powerpoint/2010/main" val="1808641246"/>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A4794CA-19B6-4628-B28F-094FAC7A5F9E}"/>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7212B"/>
                </a:solidFill>
                <a:latin typeface="Roboto"/>
                <a:ea typeface="Roboto"/>
                <a:cs typeface="Roboto"/>
              </a:defRPr>
            </a:pPr>
            <a:r>
              <a:rPr sz="3000" b="1">
                <a:solidFill>
                  <a:srgbClr val="17212B"/>
                </a:solidFill>
                <a:latin typeface="Roboto"/>
                <a:ea typeface="Roboto"/>
                <a:cs typeface="Roboto"/>
              </a:rPr>
              <a:t>Execution begins when the developer runs the task</a:t>
            </a:r>
          </a:p>
        </p:txBody>
      </p:sp>
      <p:sp>
        <p:nvSpPr>
          <p:cNvPr id="2" name="">
            <a:extLst xmlns:a="http://schemas.openxmlformats.org/drawingml/2006/main">
              <a:ext uri="{FF2B5EF4-FFF2-40B4-BE49-F238E27FC236}">
                <a16:creationId xmlns:a16="http://schemas.microsoft.com/office/drawing/2014/main" id="{C1C1A105-313E-4B4B-B58A-54CA7BC0D6DD}"/>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Pulling the repository only downloads files</a:t>
            </a:r>
          </a:p>
        </p:txBody>
      </p:sp>
      <p:sp>
        <p:nvSpPr>
          <p:cNvPr id="3" name="">
            <a:extLst xmlns:a="http://schemas.openxmlformats.org/drawingml/2006/main">
              <a:ext uri="{FF2B5EF4-FFF2-40B4-BE49-F238E27FC236}">
                <a16:creationId xmlns:a16="http://schemas.microsoft.com/office/drawing/2014/main" id="{FDE93B95-31DF-49CC-929B-B2A7ACBCB6B8}"/>
              </a:ext>
            </a:extLst>
          </p:cNvPr>
          <p:cNvSpPr>
            <a:spLocks xmlns:a="http://schemas.openxmlformats.org/drawingml/2006/main" noGrp="1"/>
          </p:cNvSpPr>
          <p:nvPr/>
        </p:nvSpPr>
        <p:spPr>
          <a:xfrm xmlns:a="http://schemas.openxmlformats.org/drawingml/2006/main">
            <a:off x="9906000" y="5715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1">
                <a:solidFill>
                  <a:srgbClr val="C65231"/>
                </a:solidFill>
                <a:latin typeface="Roboto"/>
                <a:ea typeface="Roboto"/>
                <a:cs typeface="Roboto"/>
              </a:defRPr>
            </a:pPr>
            <a:r>
              <a:rPr sz="975" b="1">
                <a:solidFill>
                  <a:srgbClr val="C65231"/>
                </a:solidFill>
                <a:latin typeface="Roboto"/>
                <a:ea typeface="Roboto"/>
                <a:cs typeface="Roboto"/>
              </a:rPr>
              <a:t>RECORDED DEMO</a:t>
            </a:r>
          </a:p>
        </p:txBody>
      </p:sp>
      <p:sp>
        <p:nvSpPr>
          <p:cNvPr id="4" name="">
            <a:extLst xmlns:a="http://schemas.openxmlformats.org/drawingml/2006/main">
              <a:ext uri="{FF2B5EF4-FFF2-40B4-BE49-F238E27FC236}">
                <a16:creationId xmlns:a16="http://schemas.microsoft.com/office/drawing/2014/main" id="{F59129FA-BF60-4FE4-88FB-FFCDD9D98637}"/>
              </a:ext>
            </a:extLst>
          </p:cNvPr>
          <p:cNvSpPr>
            <a:spLocks xmlns:a="http://schemas.openxmlformats.org/drawingml/2006/main" noGrp="1"/>
          </p:cNvSpPr>
          <p:nvPr/>
        </p:nvSpPr>
        <p:spPr>
          <a:xfrm xmlns:a="http://schemas.openxmlformats.org/drawingml/2006/main">
            <a:off x="781050" y="1905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5D84"/>
                </a:solidFill>
                <a:latin typeface="Roboto"/>
                <a:ea typeface="Roboto"/>
                <a:cs typeface="Roboto"/>
              </a:defRPr>
            </a:pPr>
            <a:r>
              <a:rPr sz="2100" b="1">
                <a:solidFill>
                  <a:srgbClr val="255D84"/>
                </a:solidFill>
                <a:latin typeface="Roboto"/>
                <a:ea typeface="Roboto"/>
                <a:cs typeface="Roboto"/>
              </a:rPr>
              <a:t>1</a:t>
            </a:r>
          </a:p>
        </p:txBody>
      </p:sp>
      <p:sp>
        <p:nvSpPr>
          <p:cNvPr id="5" name="">
            <a:extLst xmlns:a="http://schemas.openxmlformats.org/drawingml/2006/main">
              <a:ext uri="{FF2B5EF4-FFF2-40B4-BE49-F238E27FC236}">
                <a16:creationId xmlns:a16="http://schemas.microsoft.com/office/drawing/2014/main" id="{27C77F9D-8355-4E2C-9ABF-9AD6FAC5627D}"/>
              </a:ext>
            </a:extLst>
          </p:cNvPr>
          <p:cNvSpPr>
            <a:spLocks xmlns:a="http://schemas.openxmlformats.org/drawingml/2006/main" noGrp="1"/>
          </p:cNvSpPr>
          <p:nvPr/>
        </p:nvSpPr>
        <p:spPr>
          <a:xfrm xmlns:a="http://schemas.openxmlformats.org/drawingml/2006/main">
            <a:off x="1257300" y="18859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7212B"/>
                </a:solidFill>
                <a:latin typeface="Roboto"/>
                <a:ea typeface="Roboto"/>
                <a:cs typeface="Roboto"/>
              </a:defRPr>
            </a:pPr>
            <a:r>
              <a:rPr sz="1800" b="1">
                <a:solidFill>
                  <a:srgbClr val="17212B"/>
                </a:solidFill>
                <a:latin typeface="Roboto"/>
                <a:ea typeface="Roboto"/>
                <a:cs typeface="Roboto"/>
              </a:rPr>
              <a:t>Pull repository</a:t>
            </a:r>
          </a:p>
        </p:txBody>
      </p:sp>
      <p:sp>
        <p:nvSpPr>
          <p:cNvPr id="6" name="">
            <a:extLst xmlns:a="http://schemas.openxmlformats.org/drawingml/2006/main">
              <a:ext uri="{FF2B5EF4-FFF2-40B4-BE49-F238E27FC236}">
                <a16:creationId xmlns:a16="http://schemas.microsoft.com/office/drawing/2014/main" id="{327CAFAF-487E-4242-8ED0-A86A1E7E4A00}"/>
              </a:ext>
            </a:extLst>
          </p:cNvPr>
          <p:cNvSpPr>
            <a:spLocks xmlns:a="http://schemas.openxmlformats.org/drawingml/2006/main" noGrp="1"/>
          </p:cNvSpPr>
          <p:nvPr/>
        </p:nvSpPr>
        <p:spPr>
          <a:xfrm xmlns:a="http://schemas.openxmlformats.org/drawingml/2006/main">
            <a:off x="876300" y="2667000"/>
            <a:ext cx="2038350" cy="1066800"/>
          </a:xfrm>
          <a:prstGeom xmlns:a="http://schemas.openxmlformats.org/drawingml/2006/main" prst="roundRect">
            <a:avLst>
              <a:gd name="adj" fmla="val 6250"/>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500" b="1">
                <a:solidFill>
                  <a:srgbClr val="17212B"/>
                </a:solidFill>
                <a:latin typeface="Roboto"/>
                <a:ea typeface="Roboto"/>
                <a:cs typeface="Roboto"/>
              </a:defRPr>
            </a:pPr>
            <a:r>
              <a:rPr sz="1500" b="1">
                <a:solidFill>
                  <a:srgbClr val="17212B"/>
                </a:solidFill>
                <a:latin typeface="Roboto"/>
                <a:ea typeface="Roboto"/>
                <a:cs typeface="Roboto"/>
              </a:rPr>
              <a:t>Repository files</a:t>
            </a:r>
          </a:p>
        </p:txBody>
      </p:sp>
      <p:sp>
        <p:nvSpPr>
          <p:cNvPr id="7" name="">
            <a:extLst xmlns:a="http://schemas.openxmlformats.org/drawingml/2006/main">
              <a:ext uri="{FF2B5EF4-FFF2-40B4-BE49-F238E27FC236}">
                <a16:creationId xmlns:a16="http://schemas.microsoft.com/office/drawing/2014/main" id="{8105C4E0-D088-4C0F-B9E6-1270C8EBF2BF}"/>
              </a:ext>
            </a:extLst>
          </p:cNvPr>
          <p:cNvSpPr>
            <a:spLocks xmlns:a="http://schemas.openxmlformats.org/drawingml/2006/main" noGrp="1"/>
          </p:cNvSpPr>
          <p:nvPr/>
        </p:nvSpPr>
        <p:spPr>
          <a:xfrm xmlns:a="http://schemas.openxmlformats.org/drawingml/2006/main">
            <a:off x="3638550" y="2667000"/>
            <a:ext cx="2038350" cy="1066800"/>
          </a:xfrm>
          <a:prstGeom xmlns:a="http://schemas.openxmlformats.org/drawingml/2006/main" prst="roundRect">
            <a:avLst>
              <a:gd name="adj" fmla="val 6250"/>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500" b="1">
                <a:solidFill>
                  <a:srgbClr val="2F7560"/>
                </a:solidFill>
                <a:latin typeface="Roboto"/>
                <a:ea typeface="Roboto"/>
                <a:cs typeface="Roboto"/>
              </a:defRPr>
            </a:pPr>
            <a:r>
              <a:rPr sz="1500" b="1">
                <a:solidFill>
                  <a:srgbClr val="2F7560"/>
                </a:solidFill>
                <a:latin typeface="Roboto"/>
                <a:ea typeface="Roboto"/>
                <a:cs typeface="Roboto"/>
              </a:rPr>
              <a:t>Files stored</a:t>
            </a:r>
          </a:p>
          <a:p xmlns:a="http://schemas.openxmlformats.org/drawingml/2006/main">
            <a:pPr algn="ctr">
              <a:defRPr sz="1500" b="1">
                <a:solidFill>
                  <a:srgbClr val="2F7560"/>
                </a:solidFill>
                <a:latin typeface="Roboto"/>
                <a:ea typeface="Roboto"/>
                <a:cs typeface="Roboto"/>
              </a:defRPr>
            </a:pPr>
            <a:r>
              <a:rPr sz="1500" b="1">
                <a:solidFill>
                  <a:srgbClr val="2F7560"/>
                </a:solidFill>
                <a:latin typeface="Roboto"/>
                <a:ea typeface="Roboto"/>
                <a:cs typeface="Roboto"/>
              </a:rPr>
              <a:t>no execution</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914650" y="3200400"/>
            <a:ext cx="723900" cy="0"/>
          </a:xfrm>
          <a:prstGeom xmlns:a="http://schemas.openxmlformats.org/drawingml/2006/main" prst="straightConnector1">
            <a:avLst/>
          </a:prstGeom>
          <a:ln xmlns:a="http://schemas.openxmlformats.org/drawingml/2006/main" w="20955">
            <a:solidFill>
              <a:srgbClr val="255D84"/>
            </a:solidFill>
            <a:prstDash val="solid"/>
            <a:tailEnd type="triangle" w="sm" len="sm"/>
          </a:ln>
        </p:spPr>
      </p:cxnSp>
      <p:sp>
        <p:nvSpPr>
          <p:cNvPr id="9" name="">
            <a:extLst xmlns:a="http://schemas.openxmlformats.org/drawingml/2006/main">
              <a:ext uri="{FF2B5EF4-FFF2-40B4-BE49-F238E27FC236}">
                <a16:creationId xmlns:a16="http://schemas.microsoft.com/office/drawing/2014/main" id="{CF74FE2A-B38B-4580-854B-4925F849B7FF}"/>
              </a:ext>
            </a:extLst>
          </p:cNvPr>
          <p:cNvSpPr>
            <a:spLocks xmlns:a="http://schemas.openxmlformats.org/drawingml/2006/main" noGrp="1"/>
          </p:cNvSpPr>
          <p:nvPr/>
        </p:nvSpPr>
        <p:spPr>
          <a:xfrm xmlns:a="http://schemas.openxmlformats.org/drawingml/2006/main">
            <a:off x="6096000" y="1752600"/>
            <a:ext cx="0" cy="3429000"/>
          </a:xfrm>
          <a:prstGeom xmlns:a="http://schemas.openxmlformats.org/drawingml/2006/main" prst="line">
            <a:avLst/>
          </a:prstGeom>
          <a:noFill xmlns:a="http://schemas.openxmlformats.org/drawingml/2006/main"/>
          <a:ln xmlns:a="http://schemas.openxmlformats.org/drawingml/2006/main" w="14288">
            <a:solidFill>
              <a:srgbClr val="C9C5BC"/>
            </a:solidFill>
            <a:prstDash val="solid"/>
          </a:ln>
        </p:spPr>
      </p:sp>
      <p:sp>
        <p:nvSpPr>
          <p:cNvPr id="10" name="">
            <a:extLst xmlns:a="http://schemas.openxmlformats.org/drawingml/2006/main">
              <a:ext uri="{FF2B5EF4-FFF2-40B4-BE49-F238E27FC236}">
                <a16:creationId xmlns:a16="http://schemas.microsoft.com/office/drawing/2014/main" id="{004E918C-DE18-46D2-B4B8-5C9081DAB378}"/>
              </a:ext>
            </a:extLst>
          </p:cNvPr>
          <p:cNvSpPr>
            <a:spLocks xmlns:a="http://schemas.openxmlformats.org/drawingml/2006/main" noGrp="1"/>
          </p:cNvSpPr>
          <p:nvPr/>
        </p:nvSpPr>
        <p:spPr>
          <a:xfrm xmlns:a="http://schemas.openxmlformats.org/drawingml/2006/main">
            <a:off x="6591300" y="1905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C65231"/>
                </a:solidFill>
                <a:latin typeface="Roboto"/>
                <a:ea typeface="Roboto"/>
                <a:cs typeface="Roboto"/>
              </a:defRPr>
            </a:pPr>
            <a:r>
              <a:rPr sz="2100" b="1">
                <a:solidFill>
                  <a:srgbClr val="C65231"/>
                </a:solidFill>
                <a:latin typeface="Roboto"/>
                <a:ea typeface="Roboto"/>
                <a:cs typeface="Roboto"/>
              </a:rPr>
              <a:t>2</a:t>
            </a:r>
          </a:p>
        </p:txBody>
      </p:sp>
      <p:sp>
        <p:nvSpPr>
          <p:cNvPr id="11" name="">
            <a:extLst xmlns:a="http://schemas.openxmlformats.org/drawingml/2006/main">
              <a:ext uri="{FF2B5EF4-FFF2-40B4-BE49-F238E27FC236}">
                <a16:creationId xmlns:a16="http://schemas.microsoft.com/office/drawing/2014/main" id="{7C7736D7-2DA5-4E02-AB9F-5E0797CE5A72}"/>
              </a:ext>
            </a:extLst>
          </p:cNvPr>
          <p:cNvSpPr>
            <a:spLocks xmlns:a="http://schemas.openxmlformats.org/drawingml/2006/main" noGrp="1"/>
          </p:cNvSpPr>
          <p:nvPr/>
        </p:nvSpPr>
        <p:spPr>
          <a:xfrm xmlns:a="http://schemas.openxmlformats.org/drawingml/2006/main">
            <a:off x="70675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7212B"/>
                </a:solidFill>
                <a:latin typeface="Roboto"/>
                <a:ea typeface="Roboto"/>
                <a:cs typeface="Roboto"/>
              </a:defRPr>
            </a:pPr>
            <a:r>
              <a:rPr sz="1800" b="1">
                <a:solidFill>
                  <a:srgbClr val="17212B"/>
                </a:solidFill>
                <a:latin typeface="Roboto"/>
                <a:ea typeface="Roboto"/>
                <a:cs typeface="Roboto"/>
              </a:rPr>
              <a:t>Run trusted task</a:t>
            </a:r>
          </a:p>
        </p:txBody>
      </p:sp>
      <p:sp>
        <p:nvSpPr>
          <p:cNvPr id="12" name="">
            <a:extLst xmlns:a="http://schemas.openxmlformats.org/drawingml/2006/main">
              <a:ext uri="{FF2B5EF4-FFF2-40B4-BE49-F238E27FC236}">
                <a16:creationId xmlns:a16="http://schemas.microsoft.com/office/drawing/2014/main" id="{3D0ABB5F-3642-43B3-B668-5CCC382AFAE7}"/>
              </a:ext>
            </a:extLst>
          </p:cNvPr>
          <p:cNvSpPr>
            <a:spLocks xmlns:a="http://schemas.openxmlformats.org/drawingml/2006/main" noGrp="1"/>
          </p:cNvSpPr>
          <p:nvPr/>
        </p:nvSpPr>
        <p:spPr>
          <a:xfrm xmlns:a="http://schemas.openxmlformats.org/drawingml/2006/main">
            <a:off x="6686550" y="2667000"/>
            <a:ext cx="2000250" cy="1066800"/>
          </a:xfrm>
          <a:prstGeom xmlns:a="http://schemas.openxmlformats.org/drawingml/2006/main" prst="roundRect">
            <a:avLst>
              <a:gd name="adj" fmla="val 6250"/>
            </a:avLst>
          </a:prstGeom>
          <a:solidFill xmlns:a="http://schemas.openxmlformats.org/drawingml/2006/main">
            <a:srgbClr val="F2DED5"/>
          </a:solidFill>
          <a:ln xmlns:a="http://schemas.openxmlformats.org/drawingml/2006/main" w="21908">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500" b="1">
                <a:solidFill>
                  <a:srgbClr val="17212B"/>
                </a:solidFill>
                <a:latin typeface="Roboto"/>
                <a:ea typeface="Roboto"/>
                <a:cs typeface="Roboto"/>
              </a:defRPr>
            </a:pPr>
            <a:r>
              <a:rPr sz="1500" b="1">
                <a:solidFill>
                  <a:srgbClr val="17212B"/>
                </a:solidFill>
                <a:latin typeface="Roboto"/>
                <a:ea typeface="Roboto"/>
                <a:cs typeface="Roboto"/>
              </a:rPr>
              <a:t>setup, test,</a:t>
            </a:r>
          </a:p>
          <a:p xmlns:a="http://schemas.openxmlformats.org/drawingml/2006/main">
            <a:pPr algn="ctr">
              <a:defRPr sz="1500" b="1">
                <a:solidFill>
                  <a:srgbClr val="17212B"/>
                </a:solidFill>
                <a:latin typeface="Roboto"/>
                <a:ea typeface="Roboto"/>
                <a:cs typeface="Roboto"/>
              </a:defRPr>
            </a:pPr>
            <a:r>
              <a:rPr sz="1500" b="1">
                <a:solidFill>
                  <a:srgbClr val="17212B"/>
                </a:solidFill>
                <a:latin typeface="Roboto"/>
                <a:ea typeface="Roboto"/>
                <a:cs typeface="Roboto"/>
              </a:rPr>
              <a:t>or start task</a:t>
            </a:r>
          </a:p>
        </p:txBody>
      </p:sp>
      <p:sp>
        <p:nvSpPr>
          <p:cNvPr id="13" name="">
            <a:extLst xmlns:a="http://schemas.openxmlformats.org/drawingml/2006/main">
              <a:ext uri="{FF2B5EF4-FFF2-40B4-BE49-F238E27FC236}">
                <a16:creationId xmlns:a16="http://schemas.microsoft.com/office/drawing/2014/main" id="{95FBAFE4-C524-48F3-9278-4276B23FFF56}"/>
              </a:ext>
            </a:extLst>
          </p:cNvPr>
          <p:cNvSpPr>
            <a:spLocks xmlns:a="http://schemas.openxmlformats.org/drawingml/2006/main" noGrp="1"/>
          </p:cNvSpPr>
          <p:nvPr/>
        </p:nvSpPr>
        <p:spPr>
          <a:xfrm xmlns:a="http://schemas.openxmlformats.org/drawingml/2006/main">
            <a:off x="9334500" y="2667000"/>
            <a:ext cx="2000250" cy="1066800"/>
          </a:xfrm>
          <a:prstGeom xmlns:a="http://schemas.openxmlformats.org/drawingml/2006/main" prst="roundRect">
            <a:avLst>
              <a:gd name="adj" fmla="val 6250"/>
            </a:avLst>
          </a:prstGeom>
          <a:solidFill xmlns:a="http://schemas.openxmlformats.org/drawingml/2006/main">
            <a:srgbClr val="FBFAF6"/>
          </a:solidFill>
          <a:ln xmlns:a="http://schemas.openxmlformats.org/drawingml/2006/main" w="14288">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500" b="1">
                <a:solidFill>
                  <a:srgbClr val="17212B"/>
                </a:solidFill>
                <a:latin typeface="Roboto"/>
                <a:ea typeface="Roboto"/>
                <a:cs typeface="Roboto"/>
              </a:defRPr>
            </a:pPr>
            <a:r>
              <a:rPr sz="1500" b="1">
                <a:solidFill>
                  <a:srgbClr val="17212B"/>
                </a:solidFill>
                <a:latin typeface="Roboto"/>
                <a:ea typeface="Roboto"/>
                <a:cs typeface="Roboto"/>
              </a:rPr>
              <a:t>Developer</a:t>
            </a:r>
          </a:p>
          <a:p xmlns:a="http://schemas.openxmlformats.org/drawingml/2006/main">
            <a:pPr algn="ctr">
              <a:defRPr sz="1500" b="1">
                <a:solidFill>
                  <a:srgbClr val="17212B"/>
                </a:solidFill>
                <a:latin typeface="Roboto"/>
                <a:ea typeface="Roboto"/>
                <a:cs typeface="Roboto"/>
              </a:defRPr>
            </a:pPr>
            <a:r>
              <a:rPr sz="1500" b="1">
                <a:solidFill>
                  <a:srgbClr val="17212B"/>
                </a:solidFill>
                <a:latin typeface="Roboto"/>
                <a:ea typeface="Roboto"/>
                <a:cs typeface="Roboto"/>
              </a:rPr>
              <a:t>process</a:t>
            </a:r>
          </a:p>
        </p:txBody>
      </p: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8686800" y="3200400"/>
            <a:ext cx="647700" cy="0"/>
          </a:xfrm>
          <a:prstGeom xmlns:a="http://schemas.openxmlformats.org/drawingml/2006/main" prst="straightConnector1">
            <a:avLst/>
          </a:prstGeom>
          <a:ln xmlns:a="http://schemas.openxmlformats.org/drawingml/2006/main" w="21908">
            <a:solidFill>
              <a:srgbClr val="C65231"/>
            </a:solidFill>
            <a:prstDash val="solid"/>
            <a:tailEnd type="triangle" w="sm" len="sm"/>
          </a:ln>
        </p:spPr>
      </p:cxnSp>
      <p:sp>
        <p:nvSpPr>
          <p:cNvPr id="15" name="">
            <a:extLst xmlns:a="http://schemas.openxmlformats.org/drawingml/2006/main">
              <a:ext uri="{FF2B5EF4-FFF2-40B4-BE49-F238E27FC236}">
                <a16:creationId xmlns:a16="http://schemas.microsoft.com/office/drawing/2014/main" id="{D309AFEC-0411-4D6F-BD0F-02FB1E41340B}"/>
              </a:ext>
            </a:extLst>
          </p:cNvPr>
          <p:cNvSpPr>
            <a:spLocks xmlns:a="http://schemas.openxmlformats.org/drawingml/2006/main" noGrp="1"/>
          </p:cNvSpPr>
          <p:nvPr/>
        </p:nvSpPr>
        <p:spPr>
          <a:xfrm xmlns:a="http://schemas.openxmlformats.org/drawingml/2006/main">
            <a:off x="8020050" y="4343400"/>
            <a:ext cx="2000250" cy="781050"/>
          </a:xfrm>
          <a:prstGeom xmlns:a="http://schemas.openxmlformats.org/drawingml/2006/main" prst="roundRect">
            <a:avLst>
              <a:gd name="adj" fmla="val 8537"/>
            </a:avLst>
          </a:prstGeom>
          <a:solidFill xmlns:a="http://schemas.openxmlformats.org/drawingml/2006/main">
            <a:srgbClr val="F2DED5"/>
          </a:solidFill>
          <a:ln xmlns:a="http://schemas.openxmlformats.org/drawingml/2006/main" w="19050">
            <a:solidFill>
              <a:srgbClr val="C65231"/>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350" b="1">
                <a:solidFill>
                  <a:srgbClr val="C65231"/>
                </a:solidFill>
                <a:latin typeface="Roboto"/>
                <a:ea typeface="Roboto"/>
                <a:cs typeface="Roboto"/>
              </a:defRPr>
            </a:pPr>
            <a:r>
              <a:rPr sz="1350" b="1">
                <a:solidFill>
                  <a:srgbClr val="C65231"/>
                </a:solidFill>
                <a:latin typeface="Roboto"/>
                <a:ea typeface="Roboto"/>
                <a:cs typeface="Roboto"/>
              </a:rPr>
              <a:t>Canary fingerprint</a:t>
            </a:r>
          </a:p>
          <a:p xmlns:a="http://schemas.openxmlformats.org/drawingml/2006/main">
            <a:pPr algn="ctr">
              <a:defRPr sz="1350" b="1">
                <a:solidFill>
                  <a:srgbClr val="C65231"/>
                </a:solidFill>
                <a:latin typeface="Roboto"/>
                <a:ea typeface="Roboto"/>
                <a:cs typeface="Roboto"/>
              </a:defRPr>
            </a:pPr>
            <a:r>
              <a:rPr sz="1350" b="1">
                <a:solidFill>
                  <a:srgbClr val="C65231"/>
                </a:solidFill>
                <a:latin typeface="Roboto"/>
                <a:ea typeface="Roboto"/>
                <a:cs typeface="Roboto"/>
              </a:rPr>
              <a:t>reaches collector</a:t>
            </a:r>
          </a:p>
        </p:txBody>
      </p:sp>
      <p:cxnSp>
        <p:nvCxnSpPr>
          <p:cNvPr id="36" name=""/>
          <p:cNvCxnSpPr>
            <a:stCxn xmlns:a="http://schemas.openxmlformats.org/drawingml/2006/main" id="13" idx="2"/>
            <a:endCxn xmlns:a="http://schemas.openxmlformats.org/drawingml/2006/main" id="15" idx="0"/>
          </p:cNvCxnSpPr>
          <p:nvPr/>
        </p:nvCxnSpPr>
        <p:spPr>
          <a:xfrm xmlns:a="http://schemas.openxmlformats.org/drawingml/2006/main" flipH="1">
            <a:off x="9020175" y="3733800"/>
            <a:ext cx="1314450" cy="609600"/>
          </a:xfrm>
          <a:prstGeom xmlns:a="http://schemas.openxmlformats.org/drawingml/2006/main" prst="straightConnector1">
            <a:avLst/>
          </a:prstGeom>
          <a:ln xmlns:a="http://schemas.openxmlformats.org/drawingml/2006/main" w="20955">
            <a:solidFill>
              <a:srgbClr val="C65231"/>
            </a:solidFill>
            <a:prstDash val="solid"/>
            <a:tailEnd type="triangle" w="sm" len="sm"/>
          </a:ln>
        </p:spPr>
      </p:cxnSp>
      <p:sp>
        <p:nvSpPr>
          <p:cNvPr id="17" name="">
            <a:extLst xmlns:a="http://schemas.openxmlformats.org/drawingml/2006/main">
              <a:ext uri="{FF2B5EF4-FFF2-40B4-BE49-F238E27FC236}">
                <a16:creationId xmlns:a16="http://schemas.microsoft.com/office/drawing/2014/main" id="{4A75280D-0EA3-4393-BE88-C9F8EE20E0D3}"/>
              </a:ext>
            </a:extLst>
          </p:cNvPr>
          <p:cNvSpPr>
            <a:spLocks xmlns:a="http://schemas.openxmlformats.org/drawingml/2006/main" noGrp="1"/>
          </p:cNvSpPr>
          <p:nvPr/>
        </p:nvSpPr>
        <p:spPr>
          <a:xfrm xmlns:a="http://schemas.openxmlformats.org/drawingml/2006/main">
            <a:off x="7200900" y="39243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C65231"/>
                </a:solidFill>
                <a:latin typeface="Roboto"/>
                <a:ea typeface="Roboto"/>
                <a:cs typeface="Roboto"/>
              </a:defRPr>
            </a:pPr>
            <a:r>
              <a:rPr sz="1050" b="1">
                <a:solidFill>
                  <a:srgbClr val="C65231"/>
                </a:solidFill>
                <a:latin typeface="Roboto"/>
                <a:ea typeface="Roboto"/>
                <a:cs typeface="Roboto"/>
              </a:rPr>
              <a:t>Execution gate</a:t>
            </a:r>
          </a:p>
        </p:txBody>
      </p:sp>
      <p:sp>
        <p:nvSpPr>
          <p:cNvPr id="18" name="">
            <a:extLst xmlns:a="http://schemas.openxmlformats.org/drawingml/2006/main">
              <a:ext uri="{FF2B5EF4-FFF2-40B4-BE49-F238E27FC236}">
                <a16:creationId xmlns:a16="http://schemas.microsoft.com/office/drawing/2014/main" id="{170B0ED3-0619-4031-99CB-2C84B47276D3}"/>
              </a:ext>
            </a:extLst>
          </p:cNvPr>
          <p:cNvSpPr>
            <a:spLocks xmlns:a="http://schemas.openxmlformats.org/drawingml/2006/main" noGrp="1"/>
          </p:cNvSpPr>
          <p:nvPr/>
        </p:nvSpPr>
        <p:spPr>
          <a:xfrm xmlns:a="http://schemas.openxmlformats.org/drawingml/2006/main">
            <a:off x="781050" y="5619750"/>
            <a:ext cx="10629900" cy="0"/>
          </a:xfrm>
          <a:prstGeom xmlns:a="http://schemas.openxmlformats.org/drawingml/2006/main" prst="line">
            <a:avLst/>
          </a:prstGeom>
          <a:noFill xmlns:a="http://schemas.openxmlformats.org/drawingml/2006/main"/>
          <a:ln xmlns:a="http://schemas.openxmlformats.org/drawingml/2006/main" w="11430">
            <a:solidFill>
              <a:srgbClr val="C9C5BC"/>
            </a:solidFill>
            <a:prstDash val="solid"/>
          </a:ln>
        </p:spPr>
      </p:sp>
      <p:sp>
        <p:nvSpPr>
          <p:cNvPr id="19" name="">
            <a:extLst xmlns:a="http://schemas.openxmlformats.org/drawingml/2006/main">
              <a:ext uri="{FF2B5EF4-FFF2-40B4-BE49-F238E27FC236}">
                <a16:creationId xmlns:a16="http://schemas.microsoft.com/office/drawing/2014/main" id="{38B64799-F0DA-4E78-8B31-2A61F84B70A8}"/>
              </a:ext>
            </a:extLst>
          </p:cNvPr>
          <p:cNvSpPr>
            <a:spLocks xmlns:a="http://schemas.openxmlformats.org/drawingml/2006/main" noGrp="1"/>
          </p:cNvSpPr>
          <p:nvPr/>
        </p:nvSpPr>
        <p:spPr>
          <a:xfrm xmlns:a="http://schemas.openxmlformats.org/drawingml/2006/main">
            <a:off x="800100" y="586740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7212B"/>
                </a:solidFill>
                <a:latin typeface="Roboto"/>
                <a:ea typeface="Roboto"/>
                <a:cs typeface="Roboto"/>
              </a:defRPr>
            </a:pPr>
            <a:r>
              <a:rPr sz="1575" b="1">
                <a:solidFill>
                  <a:srgbClr val="17212B"/>
                </a:solidFill>
                <a:latin typeface="Roboto"/>
                <a:ea typeface="Roboto"/>
                <a:cs typeface="Roboto"/>
              </a:rPr>
              <a:t>The task inherits only what the developer process can access.</a:t>
            </a:r>
          </a:p>
        </p:txBody>
      </p:sp>
      <p:sp>
        <p:nvSpPr>
          <p:cNvPr id="20" name="">
            <a:extLst xmlns:a="http://schemas.openxmlformats.org/drawingml/2006/main">
              <a:ext uri="{FF2B5EF4-FFF2-40B4-BE49-F238E27FC236}">
                <a16:creationId xmlns:a16="http://schemas.microsoft.com/office/drawing/2014/main" id="{B2CB1DD5-1523-4C68-8A43-A1FB509DA339}"/>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08</a:t>
            </a:r>
          </a:p>
        </p:txBody>
      </p:sp>
    </p:spTree>
    <p:extLst>
      <p:ext uri="{BB962C8B-B14F-4D97-AF65-F5344CB8AC3E}">
        <p14:creationId xmlns:p14="http://schemas.microsoft.com/office/powerpoint/2010/main" val="110533591"/>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E2DADAD6-93A4-4811-9241-BDEFD711CC44}"/>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The evidence chain</a:t>
            </a:r>
          </a:p>
        </p:txBody>
      </p:sp>
      <p:sp>
        <p:nvSpPr>
          <p:cNvPr id="2" name="">
            <a:extLst xmlns:a="http://schemas.openxmlformats.org/drawingml/2006/main">
              <a:ext uri="{FF2B5EF4-FFF2-40B4-BE49-F238E27FC236}">
                <a16:creationId xmlns:a16="http://schemas.microsoft.com/office/drawing/2014/main" id="{F32F6271-CBC9-4795-B444-AC9030425E79}"/>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Investigation depends on identifiers that connect the original change to the resulting activity</a:t>
            </a:r>
          </a:p>
        </p:txBody>
      </p:sp>
      <p:sp>
        <p:nvSpPr>
          <p:cNvPr id="3" name="">
            <a:extLst xmlns:a="http://schemas.openxmlformats.org/drawingml/2006/main">
              <a:ext uri="{FF2B5EF4-FFF2-40B4-BE49-F238E27FC236}">
                <a16:creationId xmlns:a16="http://schemas.microsoft.com/office/drawing/2014/main" id="{BBB50917-9871-4778-B6C4-7B96B05CAB23}"/>
              </a:ext>
            </a:extLst>
          </p:cNvPr>
          <p:cNvSpPr>
            <a:spLocks xmlns:a="http://schemas.openxmlformats.org/drawingml/2006/main" noGrp="1"/>
          </p:cNvSpPr>
          <p:nvPr/>
        </p:nvSpPr>
        <p:spPr>
          <a:xfrm xmlns:a="http://schemas.openxmlformats.org/drawingml/2006/main">
            <a:off x="68580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1</a:t>
            </a:r>
          </a:p>
        </p:txBody>
      </p:sp>
      <p:sp>
        <p:nvSpPr>
          <p:cNvPr id="4" name="">
            <a:extLst xmlns:a="http://schemas.openxmlformats.org/drawingml/2006/main">
              <a:ext uri="{FF2B5EF4-FFF2-40B4-BE49-F238E27FC236}">
                <a16:creationId xmlns:a16="http://schemas.microsoft.com/office/drawing/2014/main" id="{7E11FDD3-14B7-4EA0-9134-F95E140CB784}"/>
              </a:ext>
            </a:extLst>
          </p:cNvPr>
          <p:cNvSpPr>
            <a:spLocks xmlns:a="http://schemas.openxmlformats.org/drawingml/2006/main" noGrp="1"/>
          </p:cNvSpPr>
          <p:nvPr/>
        </p:nvSpPr>
        <p:spPr>
          <a:xfrm xmlns:a="http://schemas.openxmlformats.org/drawingml/2006/main">
            <a:off x="22860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Identity</a:t>
            </a:r>
          </a:p>
        </p:txBody>
      </p:sp>
      <p:sp>
        <p:nvSpPr>
          <p:cNvPr id="5" name="">
            <a:extLst xmlns:a="http://schemas.openxmlformats.org/drawingml/2006/main">
              <a:ext uri="{FF2B5EF4-FFF2-40B4-BE49-F238E27FC236}">
                <a16:creationId xmlns:a16="http://schemas.microsoft.com/office/drawing/2014/main" id="{93666AD6-13E0-4033-A912-BFD09C62D67B}"/>
              </a:ext>
            </a:extLst>
          </p:cNvPr>
          <p:cNvSpPr>
            <a:spLocks xmlns:a="http://schemas.openxmlformats.org/drawingml/2006/main" noGrp="1"/>
          </p:cNvSpPr>
          <p:nvPr/>
        </p:nvSpPr>
        <p:spPr>
          <a:xfrm xmlns:a="http://schemas.openxmlformats.org/drawingml/2006/main">
            <a:off x="17145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author</a:t>
            </a:r>
          </a:p>
        </p:txBody>
      </p:sp>
      <p:sp>
        <p:nvSpPr>
          <p:cNvPr id="6" name="">
            <a:extLst xmlns:a="http://schemas.openxmlformats.org/drawingml/2006/main">
              <a:ext uri="{FF2B5EF4-FFF2-40B4-BE49-F238E27FC236}">
                <a16:creationId xmlns:a16="http://schemas.microsoft.com/office/drawing/2014/main" id="{B98DB0C7-2904-483E-B02A-BF0E6961019D}"/>
              </a:ext>
            </a:extLst>
          </p:cNvPr>
          <p:cNvSpPr>
            <a:spLocks xmlns:a="http://schemas.openxmlformats.org/drawingml/2006/main" noGrp="1"/>
          </p:cNvSpPr>
          <p:nvPr/>
        </p:nvSpPr>
        <p:spPr>
          <a:xfrm xmlns:a="http://schemas.openxmlformats.org/drawingml/2006/main">
            <a:off x="257175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2</a:t>
            </a:r>
          </a:p>
        </p:txBody>
      </p:sp>
      <p:sp>
        <p:nvSpPr>
          <p:cNvPr id="7" name="">
            <a:extLst xmlns:a="http://schemas.openxmlformats.org/drawingml/2006/main">
              <a:ext uri="{FF2B5EF4-FFF2-40B4-BE49-F238E27FC236}">
                <a16:creationId xmlns:a16="http://schemas.microsoft.com/office/drawing/2014/main" id="{3A48649E-46E2-44FC-BA65-C1D60069D012}"/>
              </a:ext>
            </a:extLst>
          </p:cNvPr>
          <p:cNvSpPr>
            <a:spLocks xmlns:a="http://schemas.openxmlformats.org/drawingml/2006/main" noGrp="1"/>
          </p:cNvSpPr>
          <p:nvPr/>
        </p:nvSpPr>
        <p:spPr>
          <a:xfrm xmlns:a="http://schemas.openxmlformats.org/drawingml/2006/main">
            <a:off x="211455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Commit</a:t>
            </a:r>
          </a:p>
        </p:txBody>
      </p:sp>
      <p:sp>
        <p:nvSpPr>
          <p:cNvPr id="8" name="">
            <a:extLst xmlns:a="http://schemas.openxmlformats.org/drawingml/2006/main">
              <a:ext uri="{FF2B5EF4-FFF2-40B4-BE49-F238E27FC236}">
                <a16:creationId xmlns:a16="http://schemas.microsoft.com/office/drawing/2014/main" id="{47468B1D-0F69-4879-B316-2277AAC7276A}"/>
              </a:ext>
            </a:extLst>
          </p:cNvPr>
          <p:cNvSpPr>
            <a:spLocks xmlns:a="http://schemas.openxmlformats.org/drawingml/2006/main" noGrp="1"/>
          </p:cNvSpPr>
          <p:nvPr/>
        </p:nvSpPr>
        <p:spPr>
          <a:xfrm xmlns:a="http://schemas.openxmlformats.org/drawingml/2006/main">
            <a:off x="205740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change ID</a:t>
            </a:r>
          </a:p>
        </p:txBody>
      </p:sp>
      <p:cxnSp>
        <p:nvCxnSpPr>
          <p:cNvPr id="52" name=""/>
          <p:cNvCxnSpPr>
            <a:stCxn xmlns:a="http://schemas.openxmlformats.org/drawingml/2006/main" id="3" idx="6"/>
            <a:endCxn xmlns:a="http://schemas.openxmlformats.org/drawingml/2006/main" id="6" idx="2"/>
          </p:cNvCxnSpPr>
          <p:nvPr/>
        </p:nvCxnSpPr>
        <p:spPr>
          <a:xfrm xmlns:a="http://schemas.openxmlformats.org/drawingml/2006/main">
            <a:off x="1257300" y="2419350"/>
            <a:ext cx="1314450" cy="0"/>
          </a:xfrm>
          <a:prstGeom xmlns:a="http://schemas.openxmlformats.org/drawingml/2006/main" prst="straightConnector1">
            <a:avLst/>
          </a:prstGeom>
          <a:ln xmlns:a="http://schemas.openxmlformats.org/drawingml/2006/main" w="20955">
            <a:solidFill>
              <a:srgbClr val="2F7560"/>
            </a:solidFill>
            <a:prstDash val="solid"/>
            <a:tailEnd type="triangle" w="sm" len="sm"/>
          </a:ln>
        </p:spPr>
      </p:cxnSp>
      <p:sp>
        <p:nvSpPr>
          <p:cNvPr id="10" name="">
            <a:extLst xmlns:a="http://schemas.openxmlformats.org/drawingml/2006/main">
              <a:ext uri="{FF2B5EF4-FFF2-40B4-BE49-F238E27FC236}">
                <a16:creationId xmlns:a16="http://schemas.microsoft.com/office/drawing/2014/main" id="{EB7A9E58-A337-4E7C-A61C-B78A9E9D2D0D}"/>
              </a:ext>
            </a:extLst>
          </p:cNvPr>
          <p:cNvSpPr>
            <a:spLocks xmlns:a="http://schemas.openxmlformats.org/drawingml/2006/main" noGrp="1"/>
          </p:cNvSpPr>
          <p:nvPr/>
        </p:nvSpPr>
        <p:spPr>
          <a:xfrm xmlns:a="http://schemas.openxmlformats.org/drawingml/2006/main">
            <a:off x="445770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3</a:t>
            </a:r>
          </a:p>
        </p:txBody>
      </p:sp>
      <p:sp>
        <p:nvSpPr>
          <p:cNvPr id="11" name="">
            <a:extLst xmlns:a="http://schemas.openxmlformats.org/drawingml/2006/main">
              <a:ext uri="{FF2B5EF4-FFF2-40B4-BE49-F238E27FC236}">
                <a16:creationId xmlns:a16="http://schemas.microsoft.com/office/drawing/2014/main" id="{F62E451A-7EB0-4A61-B90F-E22E6DC4BF5B}"/>
              </a:ext>
            </a:extLst>
          </p:cNvPr>
          <p:cNvSpPr>
            <a:spLocks xmlns:a="http://schemas.openxmlformats.org/drawingml/2006/main" noGrp="1"/>
          </p:cNvSpPr>
          <p:nvPr/>
        </p:nvSpPr>
        <p:spPr>
          <a:xfrm xmlns:a="http://schemas.openxmlformats.org/drawingml/2006/main">
            <a:off x="400050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Workflow run</a:t>
            </a:r>
          </a:p>
        </p:txBody>
      </p:sp>
      <p:sp>
        <p:nvSpPr>
          <p:cNvPr id="12" name="">
            <a:extLst xmlns:a="http://schemas.openxmlformats.org/drawingml/2006/main">
              <a:ext uri="{FF2B5EF4-FFF2-40B4-BE49-F238E27FC236}">
                <a16:creationId xmlns:a16="http://schemas.microsoft.com/office/drawing/2014/main" id="{5793321E-A12C-47E8-8B2A-44863524DA20}"/>
              </a:ext>
            </a:extLst>
          </p:cNvPr>
          <p:cNvSpPr>
            <a:spLocks xmlns:a="http://schemas.openxmlformats.org/drawingml/2006/main" noGrp="1"/>
          </p:cNvSpPr>
          <p:nvPr/>
        </p:nvSpPr>
        <p:spPr>
          <a:xfrm xmlns:a="http://schemas.openxmlformats.org/drawingml/2006/main">
            <a:off x="394335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run ID</a:t>
            </a:r>
          </a:p>
        </p:txBody>
      </p:sp>
      <p:cxnSp>
        <p:nvCxnSpPr>
          <p:cNvPr id="56" name=""/>
          <p:cNvCxnSpPr>
            <a:stCxn xmlns:a="http://schemas.openxmlformats.org/drawingml/2006/main" id="6" idx="6"/>
            <a:endCxn xmlns:a="http://schemas.openxmlformats.org/drawingml/2006/main" id="10" idx="2"/>
          </p:cNvCxnSpPr>
          <p:nvPr/>
        </p:nvCxnSpPr>
        <p:spPr>
          <a:xfrm xmlns:a="http://schemas.openxmlformats.org/drawingml/2006/main">
            <a:off x="3143250" y="2419350"/>
            <a:ext cx="1314450" cy="0"/>
          </a:xfrm>
          <a:prstGeom xmlns:a="http://schemas.openxmlformats.org/drawingml/2006/main" prst="straightConnector1">
            <a:avLst/>
          </a:prstGeom>
          <a:ln xmlns:a="http://schemas.openxmlformats.org/drawingml/2006/main" w="20955">
            <a:solidFill>
              <a:srgbClr val="2F7560"/>
            </a:solidFill>
            <a:prstDash val="solid"/>
            <a:tailEnd type="triangle" w="sm" len="sm"/>
          </a:ln>
        </p:spPr>
      </p:cxnSp>
      <p:sp>
        <p:nvSpPr>
          <p:cNvPr id="14" name="">
            <a:extLst xmlns:a="http://schemas.openxmlformats.org/drawingml/2006/main">
              <a:ext uri="{FF2B5EF4-FFF2-40B4-BE49-F238E27FC236}">
                <a16:creationId xmlns:a16="http://schemas.microsoft.com/office/drawing/2014/main" id="{23C7D6E8-752C-460C-BDA0-1DA742722835}"/>
              </a:ext>
            </a:extLst>
          </p:cNvPr>
          <p:cNvSpPr>
            <a:spLocks xmlns:a="http://schemas.openxmlformats.org/drawingml/2006/main" noGrp="1"/>
          </p:cNvSpPr>
          <p:nvPr/>
        </p:nvSpPr>
        <p:spPr>
          <a:xfrm xmlns:a="http://schemas.openxmlformats.org/drawingml/2006/main">
            <a:off x="634365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4</a:t>
            </a:r>
          </a:p>
        </p:txBody>
      </p:sp>
      <p:sp>
        <p:nvSpPr>
          <p:cNvPr id="15" name="">
            <a:extLst xmlns:a="http://schemas.openxmlformats.org/drawingml/2006/main">
              <a:ext uri="{FF2B5EF4-FFF2-40B4-BE49-F238E27FC236}">
                <a16:creationId xmlns:a16="http://schemas.microsoft.com/office/drawing/2014/main" id="{CAC0E8C3-A2C6-4130-B627-46A9B29F6612}"/>
              </a:ext>
            </a:extLst>
          </p:cNvPr>
          <p:cNvSpPr>
            <a:spLocks xmlns:a="http://schemas.openxmlformats.org/drawingml/2006/main" noGrp="1"/>
          </p:cNvSpPr>
          <p:nvPr/>
        </p:nvSpPr>
        <p:spPr>
          <a:xfrm xmlns:a="http://schemas.openxmlformats.org/drawingml/2006/main">
            <a:off x="588645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Artifact</a:t>
            </a:r>
          </a:p>
        </p:txBody>
      </p:sp>
      <p:sp>
        <p:nvSpPr>
          <p:cNvPr id="16" name="">
            <a:extLst xmlns:a="http://schemas.openxmlformats.org/drawingml/2006/main">
              <a:ext uri="{FF2B5EF4-FFF2-40B4-BE49-F238E27FC236}">
                <a16:creationId xmlns:a16="http://schemas.microsoft.com/office/drawing/2014/main" id="{B836B59B-8AA0-449B-B23A-C50E90791485}"/>
              </a:ext>
            </a:extLst>
          </p:cNvPr>
          <p:cNvSpPr>
            <a:spLocks xmlns:a="http://schemas.openxmlformats.org/drawingml/2006/main" noGrp="1"/>
          </p:cNvSpPr>
          <p:nvPr/>
        </p:nvSpPr>
        <p:spPr>
          <a:xfrm xmlns:a="http://schemas.openxmlformats.org/drawingml/2006/main">
            <a:off x="582930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fingerprint</a:t>
            </a:r>
          </a:p>
        </p:txBody>
      </p:sp>
      <p:cxnSp>
        <p:nvCxnSpPr>
          <p:cNvPr id="60" name=""/>
          <p:cNvCxnSpPr>
            <a:stCxn xmlns:a="http://schemas.openxmlformats.org/drawingml/2006/main" id="10" idx="6"/>
            <a:endCxn xmlns:a="http://schemas.openxmlformats.org/drawingml/2006/main" id="14" idx="2"/>
          </p:cNvCxnSpPr>
          <p:nvPr/>
        </p:nvCxnSpPr>
        <p:spPr>
          <a:xfrm xmlns:a="http://schemas.openxmlformats.org/drawingml/2006/main">
            <a:off x="5029200" y="2419350"/>
            <a:ext cx="1314450" cy="0"/>
          </a:xfrm>
          <a:prstGeom xmlns:a="http://schemas.openxmlformats.org/drawingml/2006/main" prst="straightConnector1">
            <a:avLst/>
          </a:prstGeom>
          <a:ln xmlns:a="http://schemas.openxmlformats.org/drawingml/2006/main" w="20955">
            <a:solidFill>
              <a:srgbClr val="2F7560"/>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53C8B22-5A9F-4117-9432-7A2A2D0D9F0B}"/>
              </a:ext>
            </a:extLst>
          </p:cNvPr>
          <p:cNvSpPr>
            <a:spLocks xmlns:a="http://schemas.openxmlformats.org/drawingml/2006/main" noGrp="1"/>
          </p:cNvSpPr>
          <p:nvPr/>
        </p:nvSpPr>
        <p:spPr>
          <a:xfrm xmlns:a="http://schemas.openxmlformats.org/drawingml/2006/main">
            <a:off x="822960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5</a:t>
            </a:r>
          </a:p>
        </p:txBody>
      </p:sp>
      <p:sp>
        <p:nvSpPr>
          <p:cNvPr id="19" name="">
            <a:extLst xmlns:a="http://schemas.openxmlformats.org/drawingml/2006/main">
              <a:ext uri="{FF2B5EF4-FFF2-40B4-BE49-F238E27FC236}">
                <a16:creationId xmlns:a16="http://schemas.microsoft.com/office/drawing/2014/main" id="{CAD086FA-D1F7-4CC5-9D52-952B0DE5A72D}"/>
              </a:ext>
            </a:extLst>
          </p:cNvPr>
          <p:cNvSpPr>
            <a:spLocks xmlns:a="http://schemas.openxmlformats.org/drawingml/2006/main" noGrp="1"/>
          </p:cNvSpPr>
          <p:nvPr/>
        </p:nvSpPr>
        <p:spPr>
          <a:xfrm xmlns:a="http://schemas.openxmlformats.org/drawingml/2006/main">
            <a:off x="777240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Deployment</a:t>
            </a:r>
          </a:p>
        </p:txBody>
      </p:sp>
      <p:sp>
        <p:nvSpPr>
          <p:cNvPr id="20" name="">
            <a:extLst xmlns:a="http://schemas.openxmlformats.org/drawingml/2006/main">
              <a:ext uri="{FF2B5EF4-FFF2-40B4-BE49-F238E27FC236}">
                <a16:creationId xmlns:a16="http://schemas.microsoft.com/office/drawing/2014/main" id="{42A673A5-DE33-448A-BFE2-75614FCC9CCB}"/>
              </a:ext>
            </a:extLst>
          </p:cNvPr>
          <p:cNvSpPr>
            <a:spLocks xmlns:a="http://schemas.openxmlformats.org/drawingml/2006/main" noGrp="1"/>
          </p:cNvSpPr>
          <p:nvPr/>
        </p:nvSpPr>
        <p:spPr>
          <a:xfrm xmlns:a="http://schemas.openxmlformats.org/drawingml/2006/main">
            <a:off x="771525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environment</a:t>
            </a:r>
          </a:p>
        </p:txBody>
      </p:sp>
      <p:cxnSp>
        <p:nvCxnSpPr>
          <p:cNvPr id="64" name=""/>
          <p:cNvCxnSpPr>
            <a:stCxn xmlns:a="http://schemas.openxmlformats.org/drawingml/2006/main" id="14" idx="6"/>
            <a:endCxn xmlns:a="http://schemas.openxmlformats.org/drawingml/2006/main" id="18" idx="2"/>
          </p:cNvCxnSpPr>
          <p:nvPr/>
        </p:nvCxnSpPr>
        <p:spPr>
          <a:xfrm xmlns:a="http://schemas.openxmlformats.org/drawingml/2006/main">
            <a:off x="6915150" y="2419350"/>
            <a:ext cx="1314450" cy="0"/>
          </a:xfrm>
          <a:prstGeom xmlns:a="http://schemas.openxmlformats.org/drawingml/2006/main" prst="straightConnector1">
            <a:avLst/>
          </a:prstGeom>
          <a:ln xmlns:a="http://schemas.openxmlformats.org/drawingml/2006/main" w="20955">
            <a:solidFill>
              <a:srgbClr val="2F756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7502CEA-F497-486F-A776-1A56A0B88C1F}"/>
              </a:ext>
            </a:extLst>
          </p:cNvPr>
          <p:cNvSpPr>
            <a:spLocks xmlns:a="http://schemas.openxmlformats.org/drawingml/2006/main" noGrp="1"/>
          </p:cNvSpPr>
          <p:nvPr/>
        </p:nvSpPr>
        <p:spPr>
          <a:xfrm xmlns:a="http://schemas.openxmlformats.org/drawingml/2006/main">
            <a:off x="10115550" y="2133600"/>
            <a:ext cx="571500" cy="57150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75" b="1">
                <a:solidFill>
                  <a:srgbClr val="2F7560"/>
                </a:solidFill>
                <a:latin typeface="Roboto"/>
                <a:ea typeface="Roboto"/>
                <a:cs typeface="Roboto"/>
              </a:defRPr>
            </a:pPr>
            <a:r>
              <a:rPr sz="1275" b="1">
                <a:solidFill>
                  <a:srgbClr val="2F7560"/>
                </a:solidFill>
                <a:latin typeface="Roboto"/>
                <a:ea typeface="Roboto"/>
                <a:cs typeface="Roboto"/>
              </a:rPr>
              <a:t>6</a:t>
            </a:r>
          </a:p>
        </p:txBody>
      </p:sp>
      <p:sp>
        <p:nvSpPr>
          <p:cNvPr id="23" name="">
            <a:extLst xmlns:a="http://schemas.openxmlformats.org/drawingml/2006/main">
              <a:ext uri="{FF2B5EF4-FFF2-40B4-BE49-F238E27FC236}">
                <a16:creationId xmlns:a16="http://schemas.microsoft.com/office/drawing/2014/main" id="{B5864627-E1F2-4425-A8B3-FD7900DBFD44}"/>
              </a:ext>
            </a:extLst>
          </p:cNvPr>
          <p:cNvSpPr>
            <a:spLocks xmlns:a="http://schemas.openxmlformats.org/drawingml/2006/main" noGrp="1"/>
          </p:cNvSpPr>
          <p:nvPr/>
        </p:nvSpPr>
        <p:spPr>
          <a:xfrm xmlns:a="http://schemas.openxmlformats.org/drawingml/2006/main">
            <a:off x="9658350" y="2933700"/>
            <a:ext cx="1485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212B"/>
                </a:solidFill>
                <a:latin typeface="Roboto"/>
                <a:ea typeface="Roboto"/>
                <a:cs typeface="Roboto"/>
              </a:defRPr>
            </a:pPr>
            <a:r>
              <a:rPr sz="1350" b="1">
                <a:solidFill>
                  <a:srgbClr val="17212B"/>
                </a:solidFill>
                <a:latin typeface="Roboto"/>
                <a:ea typeface="Roboto"/>
                <a:cs typeface="Roboto"/>
              </a:rPr>
              <a:t>Activity</a:t>
            </a:r>
          </a:p>
        </p:txBody>
      </p:sp>
      <p:sp>
        <p:nvSpPr>
          <p:cNvPr id="24" name="">
            <a:extLst xmlns:a="http://schemas.openxmlformats.org/drawingml/2006/main">
              <a:ext uri="{FF2B5EF4-FFF2-40B4-BE49-F238E27FC236}">
                <a16:creationId xmlns:a16="http://schemas.microsoft.com/office/drawing/2014/main" id="{C8DE1B5A-C28B-4152-9BE7-A27077293213}"/>
              </a:ext>
            </a:extLst>
          </p:cNvPr>
          <p:cNvSpPr>
            <a:spLocks xmlns:a="http://schemas.openxmlformats.org/drawingml/2006/main" noGrp="1"/>
          </p:cNvSpPr>
          <p:nvPr/>
        </p:nvSpPr>
        <p:spPr>
          <a:xfrm xmlns:a="http://schemas.openxmlformats.org/drawingml/2006/main">
            <a:off x="9601200" y="32575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2F7560"/>
                </a:solidFill>
                <a:latin typeface="Roboto"/>
                <a:ea typeface="Roboto"/>
                <a:cs typeface="Roboto"/>
              </a:defRPr>
            </a:pPr>
            <a:r>
              <a:rPr sz="1050" b="1">
                <a:solidFill>
                  <a:srgbClr val="2F7560"/>
                </a:solidFill>
                <a:latin typeface="Roboto"/>
                <a:ea typeface="Roboto"/>
                <a:cs typeface="Roboto"/>
              </a:rPr>
              <a:t>process or network</a:t>
            </a:r>
          </a:p>
        </p:txBody>
      </p:sp>
      <p:cxnSp>
        <p:nvCxnSpPr>
          <p:cNvPr id="68" name=""/>
          <p:cNvCxnSpPr>
            <a:stCxn xmlns:a="http://schemas.openxmlformats.org/drawingml/2006/main" id="18" idx="6"/>
            <a:endCxn xmlns:a="http://schemas.openxmlformats.org/drawingml/2006/main" id="22" idx="2"/>
          </p:cNvCxnSpPr>
          <p:nvPr/>
        </p:nvCxnSpPr>
        <p:spPr>
          <a:xfrm xmlns:a="http://schemas.openxmlformats.org/drawingml/2006/main">
            <a:off x="8801100" y="2419350"/>
            <a:ext cx="1314450" cy="0"/>
          </a:xfrm>
          <a:prstGeom xmlns:a="http://schemas.openxmlformats.org/drawingml/2006/main" prst="straightConnector1">
            <a:avLst/>
          </a:prstGeom>
          <a:ln xmlns:a="http://schemas.openxmlformats.org/drawingml/2006/main" w="20955">
            <a:solidFill>
              <a:srgbClr val="2F7560"/>
            </a:solidFill>
            <a:prstDash val="solid"/>
            <a:tailEnd type="triangle" w="sm" len="sm"/>
          </a:ln>
        </p:spPr>
      </p:cxnSp>
      <p:sp>
        <p:nvSpPr>
          <p:cNvPr id="26" name="">
            <a:extLst xmlns:a="http://schemas.openxmlformats.org/drawingml/2006/main">
              <a:ext uri="{FF2B5EF4-FFF2-40B4-BE49-F238E27FC236}">
                <a16:creationId xmlns:a16="http://schemas.microsoft.com/office/drawing/2014/main" id="{BDA4E4DC-9F91-4818-99A7-070EA9170AFD}"/>
              </a:ext>
            </a:extLst>
          </p:cNvPr>
          <p:cNvSpPr>
            <a:spLocks xmlns:a="http://schemas.openxmlformats.org/drawingml/2006/main" noGrp="1"/>
          </p:cNvSpPr>
          <p:nvPr/>
        </p:nvSpPr>
        <p:spPr>
          <a:xfrm xmlns:a="http://schemas.openxmlformats.org/drawingml/2006/main">
            <a:off x="762000" y="4000500"/>
            <a:ext cx="10668000" cy="0"/>
          </a:xfrm>
          <a:prstGeom xmlns:a="http://schemas.openxmlformats.org/drawingml/2006/main" prst="line">
            <a:avLst/>
          </a:prstGeom>
          <a:noFill xmlns:a="http://schemas.openxmlformats.org/drawingml/2006/main"/>
          <a:ln xmlns:a="http://schemas.openxmlformats.org/drawingml/2006/main" w="11430">
            <a:solidFill>
              <a:srgbClr val="C9C5BC"/>
            </a:solidFill>
            <a:prstDash val="solid"/>
          </a:ln>
        </p:spPr>
      </p:sp>
      <p:sp>
        <p:nvSpPr>
          <p:cNvPr id="27" name="">
            <a:extLst xmlns:a="http://schemas.openxmlformats.org/drawingml/2006/main">
              <a:ext uri="{FF2B5EF4-FFF2-40B4-BE49-F238E27FC236}">
                <a16:creationId xmlns:a16="http://schemas.microsoft.com/office/drawing/2014/main" id="{7F4941B1-2E3F-458E-BFCD-E851B5AB079F}"/>
              </a:ext>
            </a:extLst>
          </p:cNvPr>
          <p:cNvSpPr>
            <a:spLocks xmlns:a="http://schemas.openxmlformats.org/drawingml/2006/main" noGrp="1"/>
          </p:cNvSpPr>
          <p:nvPr/>
        </p:nvSpPr>
        <p:spPr>
          <a:xfrm xmlns:a="http://schemas.openxmlformats.org/drawingml/2006/main">
            <a:off x="781050" y="43815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2F7560"/>
                </a:solidFill>
                <a:latin typeface="Roboto"/>
                <a:ea typeface="Roboto"/>
                <a:cs typeface="Roboto"/>
              </a:defRPr>
            </a:pPr>
            <a:r>
              <a:rPr sz="1350" b="1">
                <a:solidFill>
                  <a:srgbClr val="2F7560"/>
                </a:solidFill>
                <a:latin typeface="Roboto"/>
                <a:ea typeface="Roboto"/>
                <a:cs typeface="Roboto"/>
              </a:rPr>
              <a:t>1</a:t>
            </a:r>
          </a:p>
        </p:txBody>
      </p:sp>
      <p:sp>
        <p:nvSpPr>
          <p:cNvPr id="28" name="">
            <a:extLst xmlns:a="http://schemas.openxmlformats.org/drawingml/2006/main">
              <a:ext uri="{FF2B5EF4-FFF2-40B4-BE49-F238E27FC236}">
                <a16:creationId xmlns:a16="http://schemas.microsoft.com/office/drawing/2014/main" id="{F7B91F32-267B-4946-B8BE-13F8778EE676}"/>
              </a:ext>
            </a:extLst>
          </p:cNvPr>
          <p:cNvSpPr>
            <a:spLocks xmlns:a="http://schemas.openxmlformats.org/drawingml/2006/main" noGrp="1"/>
          </p:cNvSpPr>
          <p:nvPr/>
        </p:nvSpPr>
        <p:spPr>
          <a:xfrm xmlns:a="http://schemas.openxmlformats.org/drawingml/2006/main">
            <a:off x="1219200" y="4305300"/>
            <a:ext cx="207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Who made the change?</a:t>
            </a:r>
          </a:p>
        </p:txBody>
      </p:sp>
      <p:sp>
        <p:nvSpPr>
          <p:cNvPr id="29" name="">
            <a:extLst xmlns:a="http://schemas.openxmlformats.org/drawingml/2006/main">
              <a:ext uri="{FF2B5EF4-FFF2-40B4-BE49-F238E27FC236}">
                <a16:creationId xmlns:a16="http://schemas.microsoft.com/office/drawing/2014/main" id="{4F44B936-5F91-493E-8085-3E92BB4CEFB7}"/>
              </a:ext>
            </a:extLst>
          </p:cNvPr>
          <p:cNvSpPr>
            <a:spLocks xmlns:a="http://schemas.openxmlformats.org/drawingml/2006/main" noGrp="1"/>
          </p:cNvSpPr>
          <p:nvPr/>
        </p:nvSpPr>
        <p:spPr>
          <a:xfrm xmlns:a="http://schemas.openxmlformats.org/drawingml/2006/main">
            <a:off x="1219200" y="4705350"/>
            <a:ext cx="2076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a:solidFill>
                  <a:srgbClr val="46515C"/>
                </a:solidFill>
                <a:latin typeface="Roboto"/>
                <a:ea typeface="Roboto"/>
                <a:cs typeface="Roboto"/>
              </a:defRPr>
            </a:pPr>
            <a:r>
              <a:rPr sz="1088" b="0">
                <a:solidFill>
                  <a:srgbClr val="46515C"/>
                </a:solidFill>
                <a:latin typeface="Roboto"/>
                <a:ea typeface="Roboto"/>
                <a:cs typeface="Roboto"/>
              </a:rPr>
              <a:t>Identity and review records</a:t>
            </a:r>
          </a:p>
        </p:txBody>
      </p:sp>
      <p:sp>
        <p:nvSpPr>
          <p:cNvPr id="30" name="">
            <a:extLst xmlns:a="http://schemas.openxmlformats.org/drawingml/2006/main">
              <a:ext uri="{FF2B5EF4-FFF2-40B4-BE49-F238E27FC236}">
                <a16:creationId xmlns:a16="http://schemas.microsoft.com/office/drawing/2014/main" id="{72D6DB3B-5C51-4776-946D-86DBE4EDA735}"/>
              </a:ext>
            </a:extLst>
          </p:cNvPr>
          <p:cNvSpPr>
            <a:spLocks xmlns:a="http://schemas.openxmlformats.org/drawingml/2006/main" noGrp="1"/>
          </p:cNvSpPr>
          <p:nvPr/>
        </p:nvSpPr>
        <p:spPr>
          <a:xfrm xmlns:a="http://schemas.openxmlformats.org/drawingml/2006/main">
            <a:off x="3505200" y="43815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2F7560"/>
                </a:solidFill>
                <a:latin typeface="Roboto"/>
                <a:ea typeface="Roboto"/>
                <a:cs typeface="Roboto"/>
              </a:defRPr>
            </a:pPr>
            <a:r>
              <a:rPr sz="1350" b="1">
                <a:solidFill>
                  <a:srgbClr val="2F7560"/>
                </a:solidFill>
                <a:latin typeface="Roboto"/>
                <a:ea typeface="Roboto"/>
                <a:cs typeface="Roboto"/>
              </a:rPr>
              <a:t>2</a:t>
            </a:r>
          </a:p>
        </p:txBody>
      </p:sp>
      <p:sp>
        <p:nvSpPr>
          <p:cNvPr id="31" name="">
            <a:extLst xmlns:a="http://schemas.openxmlformats.org/drawingml/2006/main">
              <a:ext uri="{FF2B5EF4-FFF2-40B4-BE49-F238E27FC236}">
                <a16:creationId xmlns:a16="http://schemas.microsoft.com/office/drawing/2014/main" id="{7178A331-E0B8-4BAD-ACDE-58634E31B9CA}"/>
              </a:ext>
            </a:extLst>
          </p:cNvPr>
          <p:cNvSpPr>
            <a:spLocks xmlns:a="http://schemas.openxmlformats.org/drawingml/2006/main" noGrp="1"/>
          </p:cNvSpPr>
          <p:nvPr/>
        </p:nvSpPr>
        <p:spPr>
          <a:xfrm xmlns:a="http://schemas.openxmlformats.org/drawingml/2006/main">
            <a:off x="3943350" y="4305300"/>
            <a:ext cx="207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Which build used it?</a:t>
            </a:r>
          </a:p>
        </p:txBody>
      </p:sp>
      <p:sp>
        <p:nvSpPr>
          <p:cNvPr id="32" name="">
            <a:extLst xmlns:a="http://schemas.openxmlformats.org/drawingml/2006/main">
              <a:ext uri="{FF2B5EF4-FFF2-40B4-BE49-F238E27FC236}">
                <a16:creationId xmlns:a16="http://schemas.microsoft.com/office/drawing/2014/main" id="{2ACE17AB-CA43-4CDF-A2A8-89AA7486D589}"/>
              </a:ext>
            </a:extLst>
          </p:cNvPr>
          <p:cNvSpPr>
            <a:spLocks xmlns:a="http://schemas.openxmlformats.org/drawingml/2006/main" noGrp="1"/>
          </p:cNvSpPr>
          <p:nvPr/>
        </p:nvSpPr>
        <p:spPr>
          <a:xfrm xmlns:a="http://schemas.openxmlformats.org/drawingml/2006/main">
            <a:off x="3943350" y="4705350"/>
            <a:ext cx="2076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a:solidFill>
                  <a:srgbClr val="46515C"/>
                </a:solidFill>
                <a:latin typeface="Roboto"/>
                <a:ea typeface="Roboto"/>
                <a:cs typeface="Roboto"/>
              </a:defRPr>
            </a:pPr>
            <a:r>
              <a:rPr sz="1088" b="0">
                <a:solidFill>
                  <a:srgbClr val="46515C"/>
                </a:solidFill>
                <a:latin typeface="Roboto"/>
                <a:ea typeface="Roboto"/>
                <a:cs typeface="Roboto"/>
              </a:rPr>
              <a:t>Commit and workflow run</a:t>
            </a:r>
          </a:p>
        </p:txBody>
      </p:sp>
      <p:sp>
        <p:nvSpPr>
          <p:cNvPr id="33" name="">
            <a:extLst xmlns:a="http://schemas.openxmlformats.org/drawingml/2006/main">
              <a:ext uri="{FF2B5EF4-FFF2-40B4-BE49-F238E27FC236}">
                <a16:creationId xmlns:a16="http://schemas.microsoft.com/office/drawing/2014/main" id="{09D9AC4B-3FD8-42EF-B967-F87E44A8CA31}"/>
              </a:ext>
            </a:extLst>
          </p:cNvPr>
          <p:cNvSpPr>
            <a:spLocks xmlns:a="http://schemas.openxmlformats.org/drawingml/2006/main" noGrp="1"/>
          </p:cNvSpPr>
          <p:nvPr/>
        </p:nvSpPr>
        <p:spPr>
          <a:xfrm xmlns:a="http://schemas.openxmlformats.org/drawingml/2006/main">
            <a:off x="3333750" y="4305300"/>
            <a:ext cx="0" cy="95250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34" name="">
            <a:extLst xmlns:a="http://schemas.openxmlformats.org/drawingml/2006/main">
              <a:ext uri="{FF2B5EF4-FFF2-40B4-BE49-F238E27FC236}">
                <a16:creationId xmlns:a16="http://schemas.microsoft.com/office/drawing/2014/main" id="{65F1B02E-D33C-42E0-A132-F73F5DBA06B0}"/>
              </a:ext>
            </a:extLst>
          </p:cNvPr>
          <p:cNvSpPr>
            <a:spLocks xmlns:a="http://schemas.openxmlformats.org/drawingml/2006/main" noGrp="1"/>
          </p:cNvSpPr>
          <p:nvPr/>
        </p:nvSpPr>
        <p:spPr>
          <a:xfrm xmlns:a="http://schemas.openxmlformats.org/drawingml/2006/main">
            <a:off x="6229350" y="43815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2F7560"/>
                </a:solidFill>
                <a:latin typeface="Roboto"/>
                <a:ea typeface="Roboto"/>
                <a:cs typeface="Roboto"/>
              </a:defRPr>
            </a:pPr>
            <a:r>
              <a:rPr sz="1350" b="1">
                <a:solidFill>
                  <a:srgbClr val="2F7560"/>
                </a:solidFill>
                <a:latin typeface="Roboto"/>
                <a:ea typeface="Roboto"/>
                <a:cs typeface="Roboto"/>
              </a:rPr>
              <a:t>3</a:t>
            </a:r>
          </a:p>
        </p:txBody>
      </p:sp>
      <p:sp>
        <p:nvSpPr>
          <p:cNvPr id="35" name="">
            <a:extLst xmlns:a="http://schemas.openxmlformats.org/drawingml/2006/main">
              <a:ext uri="{FF2B5EF4-FFF2-40B4-BE49-F238E27FC236}">
                <a16:creationId xmlns:a16="http://schemas.microsoft.com/office/drawing/2014/main" id="{187A2A62-DDD5-40D5-87F6-B7164B7F5D16}"/>
              </a:ext>
            </a:extLst>
          </p:cNvPr>
          <p:cNvSpPr>
            <a:spLocks xmlns:a="http://schemas.openxmlformats.org/drawingml/2006/main" noGrp="1"/>
          </p:cNvSpPr>
          <p:nvPr/>
        </p:nvSpPr>
        <p:spPr>
          <a:xfrm xmlns:a="http://schemas.openxmlformats.org/drawingml/2006/main">
            <a:off x="6667500" y="4305300"/>
            <a:ext cx="207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Where did it run?</a:t>
            </a:r>
          </a:p>
        </p:txBody>
      </p:sp>
      <p:sp>
        <p:nvSpPr>
          <p:cNvPr id="36" name="">
            <a:extLst xmlns:a="http://schemas.openxmlformats.org/drawingml/2006/main">
              <a:ext uri="{FF2B5EF4-FFF2-40B4-BE49-F238E27FC236}">
                <a16:creationId xmlns:a16="http://schemas.microsoft.com/office/drawing/2014/main" id="{79658B6B-0B9B-410A-B137-021FDD45D38F}"/>
              </a:ext>
            </a:extLst>
          </p:cNvPr>
          <p:cNvSpPr>
            <a:spLocks xmlns:a="http://schemas.openxmlformats.org/drawingml/2006/main" noGrp="1"/>
          </p:cNvSpPr>
          <p:nvPr/>
        </p:nvSpPr>
        <p:spPr>
          <a:xfrm xmlns:a="http://schemas.openxmlformats.org/drawingml/2006/main">
            <a:off x="6667500" y="4705350"/>
            <a:ext cx="2076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a:solidFill>
                  <a:srgbClr val="46515C"/>
                </a:solidFill>
                <a:latin typeface="Roboto"/>
                <a:ea typeface="Roboto"/>
                <a:cs typeface="Roboto"/>
              </a:defRPr>
            </a:pPr>
            <a:r>
              <a:rPr sz="1088" b="0">
                <a:solidFill>
                  <a:srgbClr val="46515C"/>
                </a:solidFill>
                <a:latin typeface="Roboto"/>
                <a:ea typeface="Roboto"/>
                <a:cs typeface="Roboto"/>
              </a:rPr>
              <a:t>Artifact and deployment records</a:t>
            </a:r>
          </a:p>
        </p:txBody>
      </p:sp>
      <p:sp>
        <p:nvSpPr>
          <p:cNvPr id="37" name="">
            <a:extLst xmlns:a="http://schemas.openxmlformats.org/drawingml/2006/main">
              <a:ext uri="{FF2B5EF4-FFF2-40B4-BE49-F238E27FC236}">
                <a16:creationId xmlns:a16="http://schemas.microsoft.com/office/drawing/2014/main" id="{4DB7E218-63B9-4C27-BE5F-86D5C7260E49}"/>
              </a:ext>
            </a:extLst>
          </p:cNvPr>
          <p:cNvSpPr>
            <a:spLocks xmlns:a="http://schemas.openxmlformats.org/drawingml/2006/main" noGrp="1"/>
          </p:cNvSpPr>
          <p:nvPr/>
        </p:nvSpPr>
        <p:spPr>
          <a:xfrm xmlns:a="http://schemas.openxmlformats.org/drawingml/2006/main">
            <a:off x="6057900" y="4305300"/>
            <a:ext cx="0" cy="95250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38" name="">
            <a:extLst xmlns:a="http://schemas.openxmlformats.org/drawingml/2006/main">
              <a:ext uri="{FF2B5EF4-FFF2-40B4-BE49-F238E27FC236}">
                <a16:creationId xmlns:a16="http://schemas.microsoft.com/office/drawing/2014/main" id="{A1F0419F-7398-4A24-BC6A-AB63B6155BB9}"/>
              </a:ext>
            </a:extLst>
          </p:cNvPr>
          <p:cNvSpPr>
            <a:spLocks xmlns:a="http://schemas.openxmlformats.org/drawingml/2006/main" noGrp="1"/>
          </p:cNvSpPr>
          <p:nvPr/>
        </p:nvSpPr>
        <p:spPr>
          <a:xfrm xmlns:a="http://schemas.openxmlformats.org/drawingml/2006/main">
            <a:off x="8953500" y="43815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2F7560"/>
                </a:solidFill>
                <a:latin typeface="Roboto"/>
                <a:ea typeface="Roboto"/>
                <a:cs typeface="Roboto"/>
              </a:defRPr>
            </a:pPr>
            <a:r>
              <a:rPr sz="1350" b="1">
                <a:solidFill>
                  <a:srgbClr val="2F7560"/>
                </a:solidFill>
                <a:latin typeface="Roboto"/>
                <a:ea typeface="Roboto"/>
                <a:cs typeface="Roboto"/>
              </a:rPr>
              <a:t>4</a:t>
            </a:r>
          </a:p>
        </p:txBody>
      </p:sp>
      <p:sp>
        <p:nvSpPr>
          <p:cNvPr id="39" name="">
            <a:extLst xmlns:a="http://schemas.openxmlformats.org/drawingml/2006/main">
              <a:ext uri="{FF2B5EF4-FFF2-40B4-BE49-F238E27FC236}">
                <a16:creationId xmlns:a16="http://schemas.microsoft.com/office/drawing/2014/main" id="{86ECF4AF-B7AA-4BB2-9F25-5F85BEE3A700}"/>
              </a:ext>
            </a:extLst>
          </p:cNvPr>
          <p:cNvSpPr>
            <a:spLocks xmlns:a="http://schemas.openxmlformats.org/drawingml/2006/main" noGrp="1"/>
          </p:cNvSpPr>
          <p:nvPr/>
        </p:nvSpPr>
        <p:spPr>
          <a:xfrm xmlns:a="http://schemas.openxmlformats.org/drawingml/2006/main">
            <a:off x="9391650" y="4305300"/>
            <a:ext cx="207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212B"/>
                </a:solidFill>
                <a:latin typeface="Roboto"/>
                <a:ea typeface="Roboto"/>
                <a:cs typeface="Roboto"/>
              </a:defRPr>
            </a:pPr>
            <a:r>
              <a:rPr sz="1350" b="1">
                <a:solidFill>
                  <a:srgbClr val="17212B"/>
                </a:solidFill>
                <a:latin typeface="Roboto"/>
                <a:ea typeface="Roboto"/>
                <a:cs typeface="Roboto"/>
              </a:rPr>
              <a:t>What happened next?</a:t>
            </a:r>
          </a:p>
        </p:txBody>
      </p:sp>
      <p:sp>
        <p:nvSpPr>
          <p:cNvPr id="40" name="">
            <a:extLst xmlns:a="http://schemas.openxmlformats.org/drawingml/2006/main">
              <a:ext uri="{FF2B5EF4-FFF2-40B4-BE49-F238E27FC236}">
                <a16:creationId xmlns:a16="http://schemas.microsoft.com/office/drawing/2014/main" id="{7176EEEA-1271-450A-9427-FE96EA10F7FD}"/>
              </a:ext>
            </a:extLst>
          </p:cNvPr>
          <p:cNvSpPr>
            <a:spLocks xmlns:a="http://schemas.openxmlformats.org/drawingml/2006/main" noGrp="1"/>
          </p:cNvSpPr>
          <p:nvPr/>
        </p:nvSpPr>
        <p:spPr>
          <a:xfrm xmlns:a="http://schemas.openxmlformats.org/drawingml/2006/main">
            <a:off x="9391650" y="4705350"/>
            <a:ext cx="2076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a:solidFill>
                  <a:srgbClr val="46515C"/>
                </a:solidFill>
                <a:latin typeface="Roboto"/>
                <a:ea typeface="Roboto"/>
                <a:cs typeface="Roboto"/>
              </a:defRPr>
            </a:pPr>
            <a:r>
              <a:rPr sz="1088" b="0">
                <a:solidFill>
                  <a:srgbClr val="46515C"/>
                </a:solidFill>
                <a:latin typeface="Roboto"/>
                <a:ea typeface="Roboto"/>
                <a:cs typeface="Roboto"/>
              </a:rPr>
              <a:t>Process and network activity</a:t>
            </a:r>
          </a:p>
        </p:txBody>
      </p:sp>
      <p:sp>
        <p:nvSpPr>
          <p:cNvPr id="41" name="">
            <a:extLst xmlns:a="http://schemas.openxmlformats.org/drawingml/2006/main">
              <a:ext uri="{FF2B5EF4-FFF2-40B4-BE49-F238E27FC236}">
                <a16:creationId xmlns:a16="http://schemas.microsoft.com/office/drawing/2014/main" id="{AFF89F3C-F785-44C1-80C1-8129AA967335}"/>
              </a:ext>
            </a:extLst>
          </p:cNvPr>
          <p:cNvSpPr>
            <a:spLocks xmlns:a="http://schemas.openxmlformats.org/drawingml/2006/main" noGrp="1"/>
          </p:cNvSpPr>
          <p:nvPr/>
        </p:nvSpPr>
        <p:spPr>
          <a:xfrm xmlns:a="http://schemas.openxmlformats.org/drawingml/2006/main">
            <a:off x="8782050" y="4305300"/>
            <a:ext cx="0" cy="952500"/>
          </a:xfrm>
          <a:prstGeom xmlns:a="http://schemas.openxmlformats.org/drawingml/2006/main" prst="line">
            <a:avLst/>
          </a:prstGeom>
          <a:noFill xmlns:a="http://schemas.openxmlformats.org/drawingml/2006/main"/>
          <a:ln xmlns:a="http://schemas.openxmlformats.org/drawingml/2006/main" w="9525">
            <a:solidFill>
              <a:srgbClr val="C9C5BC"/>
            </a:solidFill>
            <a:prstDash val="solid"/>
          </a:ln>
        </p:spPr>
      </p:sp>
      <p:sp>
        <p:nvSpPr>
          <p:cNvPr id="42" name="">
            <a:extLst xmlns:a="http://schemas.openxmlformats.org/drawingml/2006/main">
              <a:ext uri="{FF2B5EF4-FFF2-40B4-BE49-F238E27FC236}">
                <a16:creationId xmlns:a16="http://schemas.microsoft.com/office/drawing/2014/main" id="{3CC83604-C943-45B0-BD79-B60C1083E3D7}"/>
              </a:ext>
            </a:extLst>
          </p:cNvPr>
          <p:cNvSpPr>
            <a:spLocks xmlns:a="http://schemas.openxmlformats.org/drawingml/2006/main" noGrp="1"/>
          </p:cNvSpPr>
          <p:nvPr/>
        </p:nvSpPr>
        <p:spPr>
          <a:xfrm xmlns:a="http://schemas.openxmlformats.org/drawingml/2006/main">
            <a:off x="781050" y="5905500"/>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77818B"/>
                </a:solidFill>
                <a:latin typeface="Roboto"/>
                <a:ea typeface="Roboto"/>
                <a:cs typeface="Roboto"/>
              </a:defRPr>
            </a:pPr>
            <a:r>
              <a:rPr sz="1050" b="0">
                <a:solidFill>
                  <a:srgbClr val="77818B"/>
                </a:solidFill>
                <a:latin typeface="Roboto"/>
                <a:ea typeface="Roboto"/>
                <a:cs typeface="Roboto"/>
              </a:rPr>
              <a:t>Green marks useful evidence, not a guarantee that the component is safe.</a:t>
            </a:r>
          </a:p>
        </p:txBody>
      </p:sp>
      <p:sp>
        <p:nvSpPr>
          <p:cNvPr id="43" name="">
            <a:extLst xmlns:a="http://schemas.openxmlformats.org/drawingml/2006/main">
              <a:ext uri="{FF2B5EF4-FFF2-40B4-BE49-F238E27FC236}">
                <a16:creationId xmlns:a16="http://schemas.microsoft.com/office/drawing/2014/main" id="{054B7C58-D117-468C-AE33-FEEFC0156D1F}"/>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09</a:t>
            </a:r>
          </a:p>
        </p:txBody>
      </p:sp>
    </p:spTree>
    <p:extLst>
      <p:ext uri="{BB962C8B-B14F-4D97-AF65-F5344CB8AC3E}">
        <p14:creationId xmlns:p14="http://schemas.microsoft.com/office/powerpoint/2010/main" val="1173563728"/>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E0DBC77-AEB2-411E-82DA-C17D440AC7D1}"/>
              </a:ext>
            </a:extLst>
          </p:cNvPr>
          <p:cNvSpPr>
            <a:spLocks xmlns:a="http://schemas.openxmlformats.org/drawingml/2006/main" noGrp="1"/>
          </p:cNvSpPr>
          <p:nvPr/>
        </p:nvSpPr>
        <p:spPr>
          <a:xfrm xmlns:a="http://schemas.openxmlformats.org/drawingml/2006/main">
            <a:off x="685800" y="4381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17212B"/>
                </a:solidFill>
                <a:latin typeface="Roboto"/>
                <a:ea typeface="Roboto"/>
                <a:cs typeface="Roboto"/>
              </a:defRPr>
            </a:pPr>
            <a:r>
              <a:rPr sz="3225" b="1">
                <a:solidFill>
                  <a:srgbClr val="17212B"/>
                </a:solidFill>
                <a:latin typeface="Roboto"/>
                <a:ea typeface="Roboto"/>
                <a:cs typeface="Roboto"/>
              </a:rPr>
              <a:t>Controls along the delivery path</a:t>
            </a:r>
          </a:p>
        </p:txBody>
      </p:sp>
      <p:sp>
        <p:nvSpPr>
          <p:cNvPr id="2" name="">
            <a:extLst xmlns:a="http://schemas.openxmlformats.org/drawingml/2006/main">
              <a:ext uri="{FF2B5EF4-FFF2-40B4-BE49-F238E27FC236}">
                <a16:creationId xmlns:a16="http://schemas.microsoft.com/office/drawing/2014/main" id="{08DE49DB-EF6B-4740-BF1C-531F30CB6F0C}"/>
              </a:ext>
            </a:extLst>
          </p:cNvPr>
          <p:cNvSpPr>
            <a:spLocks xmlns:a="http://schemas.openxmlformats.org/drawingml/2006/main" noGrp="1"/>
          </p:cNvSpPr>
          <p:nvPr/>
        </p:nvSpPr>
        <p:spPr>
          <a:xfrm xmlns:a="http://schemas.openxmlformats.org/drawingml/2006/main">
            <a:off x="704850" y="1076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46515C"/>
                </a:solidFill>
                <a:latin typeface="Roboto"/>
                <a:ea typeface="Roboto"/>
                <a:cs typeface="Roboto"/>
              </a:defRPr>
            </a:pPr>
            <a:r>
              <a:rPr sz="1425" b="0">
                <a:solidFill>
                  <a:srgbClr val="46515C"/>
                </a:solidFill>
                <a:latin typeface="Roboto"/>
                <a:ea typeface="Roboto"/>
                <a:cs typeface="Roboto"/>
              </a:rPr>
              <a:t>Each control protects a specific trust decision or limits the effect of a changed instruction</a:t>
            </a:r>
          </a:p>
        </p:txBody>
      </p:sp>
      <p:sp>
        <p:nvSpPr>
          <p:cNvPr id="3" name="">
            <a:extLst xmlns:a="http://schemas.openxmlformats.org/drawingml/2006/main">
              <a:ext uri="{FF2B5EF4-FFF2-40B4-BE49-F238E27FC236}">
                <a16:creationId xmlns:a16="http://schemas.microsoft.com/office/drawing/2014/main" id="{F0998137-2D04-4F3E-A241-E97DC3646134}"/>
              </a:ext>
            </a:extLst>
          </p:cNvPr>
          <p:cNvSpPr>
            <a:spLocks xmlns:a="http://schemas.openxmlformats.org/drawingml/2006/main" noGrp="1"/>
          </p:cNvSpPr>
          <p:nvPr/>
        </p:nvSpPr>
        <p:spPr>
          <a:xfrm xmlns:a="http://schemas.openxmlformats.org/drawingml/2006/main">
            <a:off x="895350" y="1981200"/>
            <a:ext cx="552450" cy="5524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1</a:t>
            </a:r>
          </a:p>
        </p:txBody>
      </p:sp>
      <p:sp>
        <p:nvSpPr>
          <p:cNvPr id="4" name="">
            <a:extLst xmlns:a="http://schemas.openxmlformats.org/drawingml/2006/main">
              <a:ext uri="{FF2B5EF4-FFF2-40B4-BE49-F238E27FC236}">
                <a16:creationId xmlns:a16="http://schemas.microsoft.com/office/drawing/2014/main" id="{31CAD257-0B6A-4AD7-85BE-B4F0AB7269A7}"/>
              </a:ext>
            </a:extLst>
          </p:cNvPr>
          <p:cNvSpPr>
            <a:spLocks xmlns:a="http://schemas.openxmlformats.org/drawingml/2006/main" noGrp="1"/>
          </p:cNvSpPr>
          <p:nvPr/>
        </p:nvSpPr>
        <p:spPr>
          <a:xfrm xmlns:a="http://schemas.openxmlformats.org/drawingml/2006/main">
            <a:off x="371475" y="2724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13" b="1">
                <a:solidFill>
                  <a:srgbClr val="17212B"/>
                </a:solidFill>
                <a:latin typeface="Roboto"/>
                <a:ea typeface="Roboto"/>
                <a:cs typeface="Roboto"/>
              </a:defRPr>
            </a:pPr>
            <a:r>
              <a:rPr sz="1313" b="1">
                <a:solidFill>
                  <a:srgbClr val="17212B"/>
                </a:solidFill>
                <a:latin typeface="Roboto"/>
                <a:ea typeface="Roboto"/>
                <a:cs typeface="Roboto"/>
              </a:rPr>
              <a:t>Source control</a:t>
            </a:r>
          </a:p>
        </p:txBody>
      </p:sp>
      <p:sp>
        <p:nvSpPr>
          <p:cNvPr id="5" name="">
            <a:extLst xmlns:a="http://schemas.openxmlformats.org/drawingml/2006/main">
              <a:ext uri="{FF2B5EF4-FFF2-40B4-BE49-F238E27FC236}">
                <a16:creationId xmlns:a16="http://schemas.microsoft.com/office/drawing/2014/main" id="{F68D767B-FD50-40F8-94C5-062F35DA158E}"/>
              </a:ext>
            </a:extLst>
          </p:cNvPr>
          <p:cNvSpPr>
            <a:spLocks xmlns:a="http://schemas.openxmlformats.org/drawingml/2006/main" noGrp="1"/>
          </p:cNvSpPr>
          <p:nvPr/>
        </p:nvSpPr>
        <p:spPr>
          <a:xfrm xmlns:a="http://schemas.openxmlformats.org/drawingml/2006/main">
            <a:off x="3105150" y="1981200"/>
            <a:ext cx="552450" cy="5524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2</a:t>
            </a:r>
          </a:p>
        </p:txBody>
      </p:sp>
      <p:sp>
        <p:nvSpPr>
          <p:cNvPr id="6" name="">
            <a:extLst xmlns:a="http://schemas.openxmlformats.org/drawingml/2006/main">
              <a:ext uri="{FF2B5EF4-FFF2-40B4-BE49-F238E27FC236}">
                <a16:creationId xmlns:a16="http://schemas.microsoft.com/office/drawing/2014/main" id="{6F04B203-0F07-4AEA-92DB-865343C3C3EA}"/>
              </a:ext>
            </a:extLst>
          </p:cNvPr>
          <p:cNvSpPr>
            <a:spLocks xmlns:a="http://schemas.openxmlformats.org/drawingml/2006/main" noGrp="1"/>
          </p:cNvSpPr>
          <p:nvPr/>
        </p:nvSpPr>
        <p:spPr>
          <a:xfrm xmlns:a="http://schemas.openxmlformats.org/drawingml/2006/main">
            <a:off x="2581275" y="2724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13" b="1">
                <a:solidFill>
                  <a:srgbClr val="17212B"/>
                </a:solidFill>
                <a:latin typeface="Roboto"/>
                <a:ea typeface="Roboto"/>
                <a:cs typeface="Roboto"/>
              </a:defRPr>
            </a:pPr>
            <a:r>
              <a:rPr sz="1313" b="1">
                <a:solidFill>
                  <a:srgbClr val="17212B"/>
                </a:solidFill>
                <a:latin typeface="Roboto"/>
                <a:ea typeface="Roboto"/>
                <a:cs typeface="Roboto"/>
              </a:rPr>
              <a:t>Pipeline</a:t>
            </a:r>
          </a:p>
        </p:txBody>
      </p:sp>
      <p:cxnSp>
        <p:nvCxnSpPr>
          <p:cNvPr id="45" name=""/>
          <p:cNvCxnSpPr>
            <a:stCxn xmlns:a="http://schemas.openxmlformats.org/drawingml/2006/main" id="3" idx="6"/>
            <a:endCxn xmlns:a="http://schemas.openxmlformats.org/drawingml/2006/main" id="5" idx="2"/>
          </p:cNvCxnSpPr>
          <p:nvPr/>
        </p:nvCxnSpPr>
        <p:spPr>
          <a:xfrm xmlns:a="http://schemas.openxmlformats.org/drawingml/2006/main">
            <a:off x="1447800" y="2257425"/>
            <a:ext cx="16573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8" name="">
            <a:extLst xmlns:a="http://schemas.openxmlformats.org/drawingml/2006/main">
              <a:ext uri="{FF2B5EF4-FFF2-40B4-BE49-F238E27FC236}">
                <a16:creationId xmlns:a16="http://schemas.microsoft.com/office/drawing/2014/main" id="{236F4547-3A33-4397-809A-E8AC3D2D550F}"/>
              </a:ext>
            </a:extLst>
          </p:cNvPr>
          <p:cNvSpPr>
            <a:spLocks xmlns:a="http://schemas.openxmlformats.org/drawingml/2006/main" noGrp="1"/>
          </p:cNvSpPr>
          <p:nvPr/>
        </p:nvSpPr>
        <p:spPr>
          <a:xfrm xmlns:a="http://schemas.openxmlformats.org/drawingml/2006/main">
            <a:off x="5314950" y="1981200"/>
            <a:ext cx="552450" cy="5524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3</a:t>
            </a:r>
          </a:p>
        </p:txBody>
      </p:sp>
      <p:sp>
        <p:nvSpPr>
          <p:cNvPr id="9" name="">
            <a:extLst xmlns:a="http://schemas.openxmlformats.org/drawingml/2006/main">
              <a:ext uri="{FF2B5EF4-FFF2-40B4-BE49-F238E27FC236}">
                <a16:creationId xmlns:a16="http://schemas.microsoft.com/office/drawing/2014/main" id="{7B288CCF-F966-493A-B47D-D9192D26A8A8}"/>
              </a:ext>
            </a:extLst>
          </p:cNvPr>
          <p:cNvSpPr>
            <a:spLocks xmlns:a="http://schemas.openxmlformats.org/drawingml/2006/main" noGrp="1"/>
          </p:cNvSpPr>
          <p:nvPr/>
        </p:nvSpPr>
        <p:spPr>
          <a:xfrm xmlns:a="http://schemas.openxmlformats.org/drawingml/2006/main">
            <a:off x="4791075" y="2724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13" b="1">
                <a:solidFill>
                  <a:srgbClr val="17212B"/>
                </a:solidFill>
                <a:latin typeface="Roboto"/>
                <a:ea typeface="Roboto"/>
                <a:cs typeface="Roboto"/>
              </a:defRPr>
            </a:pPr>
            <a:r>
              <a:rPr sz="1313" b="1">
                <a:solidFill>
                  <a:srgbClr val="17212B"/>
                </a:solidFill>
                <a:latin typeface="Roboto"/>
                <a:ea typeface="Roboto"/>
                <a:cs typeface="Roboto"/>
              </a:rPr>
              <a:t>Artifact</a:t>
            </a:r>
          </a:p>
        </p:txBody>
      </p:sp>
      <p:cxnSp>
        <p:nvCxnSpPr>
          <p:cNvPr id="48" name=""/>
          <p:cNvCxnSpPr>
            <a:stCxn xmlns:a="http://schemas.openxmlformats.org/drawingml/2006/main" id="5" idx="6"/>
            <a:endCxn xmlns:a="http://schemas.openxmlformats.org/drawingml/2006/main" id="8" idx="2"/>
          </p:cNvCxnSpPr>
          <p:nvPr/>
        </p:nvCxnSpPr>
        <p:spPr>
          <a:xfrm xmlns:a="http://schemas.openxmlformats.org/drawingml/2006/main">
            <a:off x="3657600" y="2257425"/>
            <a:ext cx="16573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1" name="">
            <a:extLst xmlns:a="http://schemas.openxmlformats.org/drawingml/2006/main">
              <a:ext uri="{FF2B5EF4-FFF2-40B4-BE49-F238E27FC236}">
                <a16:creationId xmlns:a16="http://schemas.microsoft.com/office/drawing/2014/main" id="{9BE4E9F4-2921-4AF4-A67C-D8CD524A707B}"/>
              </a:ext>
            </a:extLst>
          </p:cNvPr>
          <p:cNvSpPr>
            <a:spLocks xmlns:a="http://schemas.openxmlformats.org/drawingml/2006/main" noGrp="1"/>
          </p:cNvSpPr>
          <p:nvPr/>
        </p:nvSpPr>
        <p:spPr>
          <a:xfrm xmlns:a="http://schemas.openxmlformats.org/drawingml/2006/main">
            <a:off x="7524750" y="1981200"/>
            <a:ext cx="552450" cy="5524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4</a:t>
            </a:r>
          </a:p>
        </p:txBody>
      </p:sp>
      <p:sp>
        <p:nvSpPr>
          <p:cNvPr id="12" name="">
            <a:extLst xmlns:a="http://schemas.openxmlformats.org/drawingml/2006/main">
              <a:ext uri="{FF2B5EF4-FFF2-40B4-BE49-F238E27FC236}">
                <a16:creationId xmlns:a16="http://schemas.microsoft.com/office/drawing/2014/main" id="{02420526-7BF7-4F1E-804B-7D0D28BF660D}"/>
              </a:ext>
            </a:extLst>
          </p:cNvPr>
          <p:cNvSpPr>
            <a:spLocks xmlns:a="http://schemas.openxmlformats.org/drawingml/2006/main" noGrp="1"/>
          </p:cNvSpPr>
          <p:nvPr/>
        </p:nvSpPr>
        <p:spPr>
          <a:xfrm xmlns:a="http://schemas.openxmlformats.org/drawingml/2006/main">
            <a:off x="7000875" y="2724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13" b="1">
                <a:solidFill>
                  <a:srgbClr val="17212B"/>
                </a:solidFill>
                <a:latin typeface="Roboto"/>
                <a:ea typeface="Roboto"/>
                <a:cs typeface="Roboto"/>
              </a:defRPr>
            </a:pPr>
            <a:r>
              <a:rPr sz="1313" b="1">
                <a:solidFill>
                  <a:srgbClr val="17212B"/>
                </a:solidFill>
                <a:latin typeface="Roboto"/>
                <a:ea typeface="Roboto"/>
                <a:cs typeface="Roboto"/>
              </a:rPr>
              <a:t>Deployment</a:t>
            </a:r>
          </a:p>
        </p:txBody>
      </p:sp>
      <p:cxnSp>
        <p:nvCxnSpPr>
          <p:cNvPr id="51" name=""/>
          <p:cNvCxnSpPr>
            <a:stCxn xmlns:a="http://schemas.openxmlformats.org/drawingml/2006/main" id="8" idx="6"/>
            <a:endCxn xmlns:a="http://schemas.openxmlformats.org/drawingml/2006/main" id="11" idx="2"/>
          </p:cNvCxnSpPr>
          <p:nvPr/>
        </p:nvCxnSpPr>
        <p:spPr>
          <a:xfrm xmlns:a="http://schemas.openxmlformats.org/drawingml/2006/main">
            <a:off x="5867400" y="2257425"/>
            <a:ext cx="16573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4" name="">
            <a:extLst xmlns:a="http://schemas.openxmlformats.org/drawingml/2006/main">
              <a:ext uri="{FF2B5EF4-FFF2-40B4-BE49-F238E27FC236}">
                <a16:creationId xmlns:a16="http://schemas.microsoft.com/office/drawing/2014/main" id="{BEB1C85A-1C6E-4342-B2F5-1024360CC28F}"/>
              </a:ext>
            </a:extLst>
          </p:cNvPr>
          <p:cNvSpPr>
            <a:spLocks xmlns:a="http://schemas.openxmlformats.org/drawingml/2006/main" noGrp="1"/>
          </p:cNvSpPr>
          <p:nvPr/>
        </p:nvSpPr>
        <p:spPr>
          <a:xfrm xmlns:a="http://schemas.openxmlformats.org/drawingml/2006/main">
            <a:off x="9734550" y="1981200"/>
            <a:ext cx="552450" cy="552450"/>
          </a:xfrm>
          <a:prstGeom xmlns:a="http://schemas.openxmlformats.org/drawingml/2006/main" prst="ellipse">
            <a:avLst/>
          </a:prstGeom>
          <a:solidFill xmlns:a="http://schemas.openxmlformats.org/drawingml/2006/main">
            <a:srgbClr val="FBFAF6"/>
          </a:solidFill>
          <a:ln xmlns:a="http://schemas.openxmlformats.org/drawingml/2006/main" w="19050">
            <a:solidFill>
              <a:srgbClr val="255D84"/>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200" b="1">
                <a:solidFill>
                  <a:srgbClr val="255D84"/>
                </a:solidFill>
                <a:latin typeface="Roboto"/>
                <a:ea typeface="Roboto"/>
                <a:cs typeface="Roboto"/>
              </a:defRPr>
            </a:pPr>
            <a:r>
              <a:rPr sz="1200" b="1">
                <a:solidFill>
                  <a:srgbClr val="255D84"/>
                </a:solidFill>
                <a:latin typeface="Roboto"/>
                <a:ea typeface="Roboto"/>
                <a:cs typeface="Roboto"/>
              </a:rPr>
              <a:t>5</a:t>
            </a:r>
          </a:p>
        </p:txBody>
      </p:sp>
      <p:sp>
        <p:nvSpPr>
          <p:cNvPr id="15" name="">
            <a:extLst xmlns:a="http://schemas.openxmlformats.org/drawingml/2006/main">
              <a:ext uri="{FF2B5EF4-FFF2-40B4-BE49-F238E27FC236}">
                <a16:creationId xmlns:a16="http://schemas.microsoft.com/office/drawing/2014/main" id="{D3FBC20D-9EEB-48DD-9D4B-1301EEA8125A}"/>
              </a:ext>
            </a:extLst>
          </p:cNvPr>
          <p:cNvSpPr>
            <a:spLocks xmlns:a="http://schemas.openxmlformats.org/drawingml/2006/main" noGrp="1"/>
          </p:cNvSpPr>
          <p:nvPr/>
        </p:nvSpPr>
        <p:spPr>
          <a:xfrm xmlns:a="http://schemas.openxmlformats.org/drawingml/2006/main">
            <a:off x="9210675" y="2724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13" b="1">
                <a:solidFill>
                  <a:srgbClr val="17212B"/>
                </a:solidFill>
                <a:latin typeface="Roboto"/>
                <a:ea typeface="Roboto"/>
                <a:cs typeface="Roboto"/>
              </a:defRPr>
            </a:pPr>
            <a:r>
              <a:rPr sz="1313" b="1">
                <a:solidFill>
                  <a:srgbClr val="17212B"/>
                </a:solidFill>
                <a:latin typeface="Roboto"/>
                <a:ea typeface="Roboto"/>
                <a:cs typeface="Roboto"/>
              </a:rPr>
              <a:t>Runtime</a:t>
            </a:r>
          </a:p>
        </p:txBody>
      </p:sp>
      <p:cxnSp>
        <p:nvCxnSpPr>
          <p:cNvPr id="54" name=""/>
          <p:cNvCxnSpPr>
            <a:stCxn xmlns:a="http://schemas.openxmlformats.org/drawingml/2006/main" id="11" idx="6"/>
            <a:endCxn xmlns:a="http://schemas.openxmlformats.org/drawingml/2006/main" id="14" idx="2"/>
          </p:cNvCxnSpPr>
          <p:nvPr/>
        </p:nvCxnSpPr>
        <p:spPr>
          <a:xfrm xmlns:a="http://schemas.openxmlformats.org/drawingml/2006/main">
            <a:off x="8077200" y="2257425"/>
            <a:ext cx="1657350" cy="0"/>
          </a:xfrm>
          <a:prstGeom xmlns:a="http://schemas.openxmlformats.org/drawingml/2006/main" prst="straightConnector1">
            <a:avLst/>
          </a:prstGeom>
          <a:ln xmlns:a="http://schemas.openxmlformats.org/drawingml/2006/main" w="19050">
            <a:solidFill>
              <a:srgbClr val="255D84"/>
            </a:solidFill>
            <a:prstDash val="solid"/>
            <a:tailEnd type="triangle" w="sm" len="sm"/>
          </a:ln>
        </p:spPr>
      </p:cxnSp>
      <p:sp>
        <p:nvSpPr>
          <p:cNvPr id="17" name="">
            <a:extLst xmlns:a="http://schemas.openxmlformats.org/drawingml/2006/main">
              <a:ext uri="{FF2B5EF4-FFF2-40B4-BE49-F238E27FC236}">
                <a16:creationId xmlns:a16="http://schemas.microsoft.com/office/drawing/2014/main" id="{0EF3AD04-DBE1-426B-B8FC-77A105AF4459}"/>
              </a:ext>
            </a:extLst>
          </p:cNvPr>
          <p:cNvSpPr>
            <a:spLocks xmlns:a="http://schemas.openxmlformats.org/drawingml/2006/main" noGrp="1"/>
          </p:cNvSpPr>
          <p:nvPr/>
        </p:nvSpPr>
        <p:spPr>
          <a:xfrm xmlns:a="http://schemas.openxmlformats.org/drawingml/2006/main">
            <a:off x="1171575" y="3143250"/>
            <a:ext cx="0" cy="45720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18" name="">
            <a:extLst xmlns:a="http://schemas.openxmlformats.org/drawingml/2006/main">
              <a:ext uri="{FF2B5EF4-FFF2-40B4-BE49-F238E27FC236}">
                <a16:creationId xmlns:a16="http://schemas.microsoft.com/office/drawing/2014/main" id="{4E38F2E9-91D0-46E3-A9E0-D384A55BC060}"/>
              </a:ext>
            </a:extLst>
          </p:cNvPr>
          <p:cNvSpPr>
            <a:spLocks xmlns:a="http://schemas.openxmlformats.org/drawingml/2006/main" noGrp="1"/>
          </p:cNvSpPr>
          <p:nvPr/>
        </p:nvSpPr>
        <p:spPr>
          <a:xfrm xmlns:a="http://schemas.openxmlformats.org/drawingml/2006/main">
            <a:off x="1066800" y="3486150"/>
            <a:ext cx="209550" cy="209550"/>
          </a:xfrm>
          <a:prstGeom xmlns:a="http://schemas.openxmlformats.org/drawingml/2006/main" prst="ellipse">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71682E56-7903-4C49-AFFB-28EDAD50517A}"/>
              </a:ext>
            </a:extLst>
          </p:cNvPr>
          <p:cNvSpPr>
            <a:spLocks xmlns:a="http://schemas.openxmlformats.org/drawingml/2006/main" noGrp="1"/>
          </p:cNvSpPr>
          <p:nvPr/>
        </p:nvSpPr>
        <p:spPr>
          <a:xfrm xmlns:a="http://schemas.openxmlformats.org/drawingml/2006/main">
            <a:off x="590550" y="39052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2F7560"/>
                </a:solidFill>
                <a:latin typeface="Roboto"/>
                <a:ea typeface="Roboto"/>
                <a:cs typeface="Roboto"/>
              </a:defRPr>
            </a:pPr>
            <a:r>
              <a:rPr sz="1238" b="1">
                <a:solidFill>
                  <a:srgbClr val="2F7560"/>
                </a:solidFill>
                <a:latin typeface="Roboto"/>
                <a:ea typeface="Roboto"/>
                <a:cs typeface="Roboto"/>
              </a:rPr>
              <a:t>Review sensitive files</a:t>
            </a:r>
          </a:p>
        </p:txBody>
      </p:sp>
      <p:sp>
        <p:nvSpPr>
          <p:cNvPr id="20" name="">
            <a:extLst xmlns:a="http://schemas.openxmlformats.org/drawingml/2006/main">
              <a:ext uri="{FF2B5EF4-FFF2-40B4-BE49-F238E27FC236}">
                <a16:creationId xmlns:a16="http://schemas.microsoft.com/office/drawing/2014/main" id="{E66234A5-F748-4C78-A78D-6FC952840677}"/>
              </a:ext>
            </a:extLst>
          </p:cNvPr>
          <p:cNvSpPr>
            <a:spLocks xmlns:a="http://schemas.openxmlformats.org/drawingml/2006/main" noGrp="1"/>
          </p:cNvSpPr>
          <p:nvPr/>
        </p:nvSpPr>
        <p:spPr>
          <a:xfrm xmlns:a="http://schemas.openxmlformats.org/drawingml/2006/main">
            <a:off x="590550" y="4286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Independent approval for workflow and developer-task files</a:t>
            </a:r>
          </a:p>
        </p:txBody>
      </p:sp>
      <p:sp>
        <p:nvSpPr>
          <p:cNvPr id="21" name="">
            <a:extLst xmlns:a="http://schemas.openxmlformats.org/drawingml/2006/main">
              <a:ext uri="{FF2B5EF4-FFF2-40B4-BE49-F238E27FC236}">
                <a16:creationId xmlns:a16="http://schemas.microsoft.com/office/drawing/2014/main" id="{26AAEDCE-B6F9-4F41-875C-7B2F9ECA998C}"/>
              </a:ext>
            </a:extLst>
          </p:cNvPr>
          <p:cNvSpPr>
            <a:spLocks xmlns:a="http://schemas.openxmlformats.org/drawingml/2006/main" noGrp="1"/>
          </p:cNvSpPr>
          <p:nvPr/>
        </p:nvSpPr>
        <p:spPr>
          <a:xfrm xmlns:a="http://schemas.openxmlformats.org/drawingml/2006/main">
            <a:off x="3381375" y="3143250"/>
            <a:ext cx="0" cy="45720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22" name="">
            <a:extLst xmlns:a="http://schemas.openxmlformats.org/drawingml/2006/main">
              <a:ext uri="{FF2B5EF4-FFF2-40B4-BE49-F238E27FC236}">
                <a16:creationId xmlns:a16="http://schemas.microsoft.com/office/drawing/2014/main" id="{75A3F5E2-9B26-4846-8A12-C329082DD1C9}"/>
              </a:ext>
            </a:extLst>
          </p:cNvPr>
          <p:cNvSpPr>
            <a:spLocks xmlns:a="http://schemas.openxmlformats.org/drawingml/2006/main" noGrp="1"/>
          </p:cNvSpPr>
          <p:nvPr/>
        </p:nvSpPr>
        <p:spPr>
          <a:xfrm xmlns:a="http://schemas.openxmlformats.org/drawingml/2006/main">
            <a:off x="3276600" y="3486150"/>
            <a:ext cx="209550" cy="209550"/>
          </a:xfrm>
          <a:prstGeom xmlns:a="http://schemas.openxmlformats.org/drawingml/2006/main" prst="ellipse">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a:bodyPr>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4B4216D8-DB37-4029-A230-DC11AC53159E}"/>
              </a:ext>
            </a:extLst>
          </p:cNvPr>
          <p:cNvSpPr>
            <a:spLocks xmlns:a="http://schemas.openxmlformats.org/drawingml/2006/main" noGrp="1"/>
          </p:cNvSpPr>
          <p:nvPr/>
        </p:nvSpPr>
        <p:spPr>
          <a:xfrm xmlns:a="http://schemas.openxmlformats.org/drawingml/2006/main">
            <a:off x="2762250" y="39052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2F7560"/>
                </a:solidFill>
                <a:latin typeface="Roboto"/>
                <a:ea typeface="Roboto"/>
                <a:cs typeface="Roboto"/>
              </a:defRPr>
            </a:pPr>
            <a:r>
              <a:rPr sz="1238" b="1">
                <a:solidFill>
                  <a:srgbClr val="2F7560"/>
                </a:solidFill>
                <a:latin typeface="Roboto"/>
                <a:ea typeface="Roboto"/>
                <a:cs typeface="Roboto"/>
              </a:rPr>
              <a:t>Limit credentials</a:t>
            </a:r>
          </a:p>
        </p:txBody>
      </p:sp>
      <p:sp>
        <p:nvSpPr>
          <p:cNvPr id="24" name="">
            <a:extLst xmlns:a="http://schemas.openxmlformats.org/drawingml/2006/main">
              <a:ext uri="{FF2B5EF4-FFF2-40B4-BE49-F238E27FC236}">
                <a16:creationId xmlns:a16="http://schemas.microsoft.com/office/drawing/2014/main" id="{88779C96-668F-4AF3-91D2-CD6C1B22DA95}"/>
              </a:ext>
            </a:extLst>
          </p:cNvPr>
          <p:cNvSpPr>
            <a:spLocks xmlns:a="http://schemas.openxmlformats.org/drawingml/2006/main" noGrp="1"/>
          </p:cNvSpPr>
          <p:nvPr/>
        </p:nvSpPr>
        <p:spPr>
          <a:xfrm xmlns:a="http://schemas.openxmlformats.org/drawingml/2006/main">
            <a:off x="2762250" y="4286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Separate access for each job and environment</a:t>
            </a:r>
          </a:p>
        </p:txBody>
      </p:sp>
      <p:sp>
        <p:nvSpPr>
          <p:cNvPr id="25" name="">
            <a:extLst xmlns:a="http://schemas.openxmlformats.org/drawingml/2006/main">
              <a:ext uri="{FF2B5EF4-FFF2-40B4-BE49-F238E27FC236}">
                <a16:creationId xmlns:a16="http://schemas.microsoft.com/office/drawing/2014/main" id="{B751B8FA-5A0D-4959-9DD5-EF323973EBD7}"/>
              </a:ext>
            </a:extLst>
          </p:cNvPr>
          <p:cNvSpPr>
            <a:spLocks xmlns:a="http://schemas.openxmlformats.org/drawingml/2006/main" noGrp="1"/>
          </p:cNvSpPr>
          <p:nvPr/>
        </p:nvSpPr>
        <p:spPr>
          <a:xfrm xmlns:a="http://schemas.openxmlformats.org/drawingml/2006/main">
            <a:off x="5591175" y="3143250"/>
            <a:ext cx="0" cy="45720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26" name="">
            <a:extLst xmlns:a="http://schemas.openxmlformats.org/drawingml/2006/main">
              <a:ext uri="{FF2B5EF4-FFF2-40B4-BE49-F238E27FC236}">
                <a16:creationId xmlns:a16="http://schemas.microsoft.com/office/drawing/2014/main" id="{4E1B9077-1827-4E8C-BD1B-0EF84905139D}"/>
              </a:ext>
            </a:extLst>
          </p:cNvPr>
          <p:cNvSpPr>
            <a:spLocks xmlns:a="http://schemas.openxmlformats.org/drawingml/2006/main" noGrp="1"/>
          </p:cNvSpPr>
          <p:nvPr/>
        </p:nvSpPr>
        <p:spPr>
          <a:xfrm xmlns:a="http://schemas.openxmlformats.org/drawingml/2006/main">
            <a:off x="5486400" y="3486150"/>
            <a:ext cx="209550" cy="209550"/>
          </a:xfrm>
          <a:prstGeom xmlns:a="http://schemas.openxmlformats.org/drawingml/2006/main" prst="ellipse">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a:bodyPr>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DF118C29-35B5-4D6E-83BE-8DFF7723248D}"/>
              </a:ext>
            </a:extLst>
          </p:cNvPr>
          <p:cNvSpPr>
            <a:spLocks xmlns:a="http://schemas.openxmlformats.org/drawingml/2006/main" noGrp="1"/>
          </p:cNvSpPr>
          <p:nvPr/>
        </p:nvSpPr>
        <p:spPr>
          <a:xfrm xmlns:a="http://schemas.openxmlformats.org/drawingml/2006/main">
            <a:off x="4933950" y="39052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2F7560"/>
                </a:solidFill>
                <a:latin typeface="Roboto"/>
                <a:ea typeface="Roboto"/>
                <a:cs typeface="Roboto"/>
              </a:defRPr>
            </a:pPr>
            <a:r>
              <a:rPr sz="1238" b="1">
                <a:solidFill>
                  <a:srgbClr val="2F7560"/>
                </a:solidFill>
                <a:latin typeface="Roboto"/>
                <a:ea typeface="Roboto"/>
                <a:cs typeface="Roboto"/>
              </a:rPr>
              <a:t>Verify artifacts</a:t>
            </a:r>
          </a:p>
        </p:txBody>
      </p:sp>
      <p:sp>
        <p:nvSpPr>
          <p:cNvPr id="28" name="">
            <a:extLst xmlns:a="http://schemas.openxmlformats.org/drawingml/2006/main">
              <a:ext uri="{FF2B5EF4-FFF2-40B4-BE49-F238E27FC236}">
                <a16:creationId xmlns:a16="http://schemas.microsoft.com/office/drawing/2014/main" id="{923CA607-FEAC-45E8-BB98-6FFCFA390575}"/>
              </a:ext>
            </a:extLst>
          </p:cNvPr>
          <p:cNvSpPr>
            <a:spLocks xmlns:a="http://schemas.openxmlformats.org/drawingml/2006/main" noGrp="1"/>
          </p:cNvSpPr>
          <p:nvPr/>
        </p:nvSpPr>
        <p:spPr>
          <a:xfrm xmlns:a="http://schemas.openxmlformats.org/drawingml/2006/main">
            <a:off x="4933950" y="4286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Check the package before deployment</a:t>
            </a:r>
          </a:p>
        </p:txBody>
      </p:sp>
      <p:sp>
        <p:nvSpPr>
          <p:cNvPr id="29" name="">
            <a:extLst xmlns:a="http://schemas.openxmlformats.org/drawingml/2006/main">
              <a:ext uri="{FF2B5EF4-FFF2-40B4-BE49-F238E27FC236}">
                <a16:creationId xmlns:a16="http://schemas.microsoft.com/office/drawing/2014/main" id="{C154EF5A-D939-43E0-9C55-B2EFD1252641}"/>
              </a:ext>
            </a:extLst>
          </p:cNvPr>
          <p:cNvSpPr>
            <a:spLocks xmlns:a="http://schemas.openxmlformats.org/drawingml/2006/main" noGrp="1"/>
          </p:cNvSpPr>
          <p:nvPr/>
        </p:nvSpPr>
        <p:spPr>
          <a:xfrm xmlns:a="http://schemas.openxmlformats.org/drawingml/2006/main">
            <a:off x="7800975" y="3143250"/>
            <a:ext cx="0" cy="45720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30" name="">
            <a:extLst xmlns:a="http://schemas.openxmlformats.org/drawingml/2006/main">
              <a:ext uri="{FF2B5EF4-FFF2-40B4-BE49-F238E27FC236}">
                <a16:creationId xmlns:a16="http://schemas.microsoft.com/office/drawing/2014/main" id="{F335D060-CE8A-4142-9E87-16CCC1A3C42B}"/>
              </a:ext>
            </a:extLst>
          </p:cNvPr>
          <p:cNvSpPr>
            <a:spLocks xmlns:a="http://schemas.openxmlformats.org/drawingml/2006/main" noGrp="1"/>
          </p:cNvSpPr>
          <p:nvPr/>
        </p:nvSpPr>
        <p:spPr>
          <a:xfrm xmlns:a="http://schemas.openxmlformats.org/drawingml/2006/main">
            <a:off x="7696200" y="3486150"/>
            <a:ext cx="209550" cy="209550"/>
          </a:xfrm>
          <a:prstGeom xmlns:a="http://schemas.openxmlformats.org/drawingml/2006/main" prst="ellipse">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27610A03-A49C-41A8-93FC-6C0C1EEE237D}"/>
              </a:ext>
            </a:extLst>
          </p:cNvPr>
          <p:cNvSpPr>
            <a:spLocks xmlns:a="http://schemas.openxmlformats.org/drawingml/2006/main" noGrp="1"/>
          </p:cNvSpPr>
          <p:nvPr/>
        </p:nvSpPr>
        <p:spPr>
          <a:xfrm xmlns:a="http://schemas.openxmlformats.org/drawingml/2006/main">
            <a:off x="7105650" y="39052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2F7560"/>
                </a:solidFill>
                <a:latin typeface="Roboto"/>
                <a:ea typeface="Roboto"/>
                <a:cs typeface="Roboto"/>
              </a:defRPr>
            </a:pPr>
            <a:r>
              <a:rPr sz="1238" b="1">
                <a:solidFill>
                  <a:srgbClr val="2F7560"/>
                </a:solidFill>
                <a:latin typeface="Roboto"/>
                <a:ea typeface="Roboto"/>
                <a:cs typeface="Roboto"/>
              </a:rPr>
              <a:t>Restrict network paths</a:t>
            </a:r>
          </a:p>
        </p:txBody>
      </p:sp>
      <p:sp>
        <p:nvSpPr>
          <p:cNvPr id="32" name="">
            <a:extLst xmlns:a="http://schemas.openxmlformats.org/drawingml/2006/main">
              <a:ext uri="{FF2B5EF4-FFF2-40B4-BE49-F238E27FC236}">
                <a16:creationId xmlns:a16="http://schemas.microsoft.com/office/drawing/2014/main" id="{9A8A7421-FC8B-449B-B012-964F84664B87}"/>
              </a:ext>
            </a:extLst>
          </p:cNvPr>
          <p:cNvSpPr>
            <a:spLocks xmlns:a="http://schemas.openxmlformats.org/drawingml/2006/main" noGrp="1"/>
          </p:cNvSpPr>
          <p:nvPr/>
        </p:nvSpPr>
        <p:spPr>
          <a:xfrm xmlns:a="http://schemas.openxmlformats.org/drawingml/2006/main">
            <a:off x="7105650" y="4286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Expected destinations for runners and applications</a:t>
            </a:r>
          </a:p>
        </p:txBody>
      </p:sp>
      <p:sp>
        <p:nvSpPr>
          <p:cNvPr id="33" name="">
            <a:extLst xmlns:a="http://schemas.openxmlformats.org/drawingml/2006/main">
              <a:ext uri="{FF2B5EF4-FFF2-40B4-BE49-F238E27FC236}">
                <a16:creationId xmlns:a16="http://schemas.microsoft.com/office/drawing/2014/main" id="{AA13EAFF-DE3A-49FF-9701-E491FB7D84E4}"/>
              </a:ext>
            </a:extLst>
          </p:cNvPr>
          <p:cNvSpPr>
            <a:spLocks xmlns:a="http://schemas.openxmlformats.org/drawingml/2006/main" noGrp="1"/>
          </p:cNvSpPr>
          <p:nvPr/>
        </p:nvSpPr>
        <p:spPr>
          <a:xfrm xmlns:a="http://schemas.openxmlformats.org/drawingml/2006/main">
            <a:off x="10010775" y="3143250"/>
            <a:ext cx="0" cy="45720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34" name="">
            <a:extLst xmlns:a="http://schemas.openxmlformats.org/drawingml/2006/main">
              <a:ext uri="{FF2B5EF4-FFF2-40B4-BE49-F238E27FC236}">
                <a16:creationId xmlns:a16="http://schemas.microsoft.com/office/drawing/2014/main" id="{707BE94B-0405-4841-AE62-D1ACC81908F2}"/>
              </a:ext>
            </a:extLst>
          </p:cNvPr>
          <p:cNvSpPr>
            <a:spLocks xmlns:a="http://schemas.openxmlformats.org/drawingml/2006/main" noGrp="1"/>
          </p:cNvSpPr>
          <p:nvPr/>
        </p:nvSpPr>
        <p:spPr>
          <a:xfrm xmlns:a="http://schemas.openxmlformats.org/drawingml/2006/main">
            <a:off x="9906000" y="3486150"/>
            <a:ext cx="209550" cy="209550"/>
          </a:xfrm>
          <a:prstGeom xmlns:a="http://schemas.openxmlformats.org/drawingml/2006/main" prst="ellipse">
            <a:avLst/>
          </a:prstGeom>
          <a:solidFill xmlns:a="http://schemas.openxmlformats.org/drawingml/2006/main">
            <a:srgbClr val="DCEBE5"/>
          </a:solidFill>
          <a:ln xmlns:a="http://schemas.openxmlformats.org/drawingml/2006/main" w="14288">
            <a:solidFill>
              <a:srgbClr val="2F7560"/>
            </a:solidFill>
            <a:prstDash val="solid"/>
          </a:ln>
        </p:spPr>
        <p:txBody>
          <a:bodyPr xmlns:a="http://schemas.openxmlformats.org/drawingml/2006/main" wrap="square" lIns="76200" tIns="76200" rIns="76200" bIns="76200" anchor="ctr">
            <a:normAutofit/>
          </a:bodyPr>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8C44FB5E-9064-4135-96E6-627EB843E446}"/>
              </a:ext>
            </a:extLst>
          </p:cNvPr>
          <p:cNvSpPr>
            <a:spLocks xmlns:a="http://schemas.openxmlformats.org/drawingml/2006/main" noGrp="1"/>
          </p:cNvSpPr>
          <p:nvPr/>
        </p:nvSpPr>
        <p:spPr>
          <a:xfrm xmlns:a="http://schemas.openxmlformats.org/drawingml/2006/main">
            <a:off x="9277350" y="39052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38" b="1">
                <a:solidFill>
                  <a:srgbClr val="2F7560"/>
                </a:solidFill>
                <a:latin typeface="Roboto"/>
                <a:ea typeface="Roboto"/>
                <a:cs typeface="Roboto"/>
              </a:defRPr>
            </a:pPr>
            <a:r>
              <a:rPr sz="1238" b="1">
                <a:solidFill>
                  <a:srgbClr val="2F7560"/>
                </a:solidFill>
                <a:latin typeface="Roboto"/>
                <a:ea typeface="Roboto"/>
                <a:cs typeface="Roboto"/>
              </a:rPr>
              <a:t>Connect release records</a:t>
            </a:r>
          </a:p>
        </p:txBody>
      </p:sp>
      <p:sp>
        <p:nvSpPr>
          <p:cNvPr id="36" name="">
            <a:extLst xmlns:a="http://schemas.openxmlformats.org/drawingml/2006/main">
              <a:ext uri="{FF2B5EF4-FFF2-40B4-BE49-F238E27FC236}">
                <a16:creationId xmlns:a16="http://schemas.microsoft.com/office/drawing/2014/main" id="{256841C8-A802-45CB-834B-CDDFFFA98965}"/>
              </a:ext>
            </a:extLst>
          </p:cNvPr>
          <p:cNvSpPr>
            <a:spLocks xmlns:a="http://schemas.openxmlformats.org/drawingml/2006/main" noGrp="1"/>
          </p:cNvSpPr>
          <p:nvPr/>
        </p:nvSpPr>
        <p:spPr>
          <a:xfrm xmlns:a="http://schemas.openxmlformats.org/drawingml/2006/main">
            <a:off x="9277350" y="4286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13" b="0">
                <a:solidFill>
                  <a:srgbClr val="46515C"/>
                </a:solidFill>
                <a:latin typeface="Roboto"/>
                <a:ea typeface="Roboto"/>
                <a:cs typeface="Roboto"/>
              </a:defRPr>
            </a:pPr>
            <a:r>
              <a:rPr sz="1013" b="0">
                <a:solidFill>
                  <a:srgbClr val="46515C"/>
                </a:solidFill>
                <a:latin typeface="Roboto"/>
                <a:ea typeface="Roboto"/>
                <a:cs typeface="Roboto"/>
              </a:rPr>
              <a:t>Link the change, build, artifact, and deployment</a:t>
            </a:r>
          </a:p>
        </p:txBody>
      </p:sp>
      <p:sp>
        <p:nvSpPr>
          <p:cNvPr id="37" name="">
            <a:extLst xmlns:a="http://schemas.openxmlformats.org/drawingml/2006/main">
              <a:ext uri="{FF2B5EF4-FFF2-40B4-BE49-F238E27FC236}">
                <a16:creationId xmlns:a16="http://schemas.microsoft.com/office/drawing/2014/main" id="{390632D6-EF6B-4DB4-B7E7-88F23089F469}"/>
              </a:ext>
            </a:extLst>
          </p:cNvPr>
          <p:cNvSpPr>
            <a:spLocks xmlns:a="http://schemas.openxmlformats.org/drawingml/2006/main" noGrp="1"/>
          </p:cNvSpPr>
          <p:nvPr/>
        </p:nvSpPr>
        <p:spPr>
          <a:xfrm xmlns:a="http://schemas.openxmlformats.org/drawingml/2006/main">
            <a:off x="781050" y="6019800"/>
            <a:ext cx="895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7212B"/>
                </a:solidFill>
                <a:latin typeface="Roboto"/>
                <a:ea typeface="Roboto"/>
                <a:cs typeface="Roboto"/>
              </a:defRPr>
            </a:pPr>
            <a:r>
              <a:rPr sz="1200" b="1">
                <a:solidFill>
                  <a:srgbClr val="17212B"/>
                </a:solidFill>
                <a:latin typeface="Roboto"/>
                <a:ea typeface="Roboto"/>
                <a:cs typeface="Roboto"/>
              </a:rPr>
              <a:t>No single control covers source control, build, deployment, runtime, and developer environments.</a:t>
            </a:r>
          </a:p>
        </p:txBody>
      </p:sp>
      <p:sp>
        <p:nvSpPr>
          <p:cNvPr id="38" name="">
            <a:extLst xmlns:a="http://schemas.openxmlformats.org/drawingml/2006/main">
              <a:ext uri="{FF2B5EF4-FFF2-40B4-BE49-F238E27FC236}">
                <a16:creationId xmlns:a16="http://schemas.microsoft.com/office/drawing/2014/main" id="{6F4271FC-3DA1-42CB-99BF-14025CFE6E0F}"/>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10</a:t>
            </a:r>
          </a:p>
        </p:txBody>
      </p:sp>
    </p:spTree>
    <p:extLst>
      <p:ext uri="{BB962C8B-B14F-4D97-AF65-F5344CB8AC3E}">
        <p14:creationId xmlns:p14="http://schemas.microsoft.com/office/powerpoint/2010/main" val="250832283"/>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1DF7FFF-A1CB-4717-8733-0E93F7E09096}"/>
              </a:ext>
            </a:extLst>
          </p:cNvPr>
          <p:cNvSpPr>
            <a:spLocks xmlns:a="http://schemas.openxmlformats.org/drawingml/2006/main" noGrp="1"/>
          </p:cNvSpPr>
          <p:nvPr/>
        </p:nvSpPr>
        <p:spPr>
          <a:xfrm xmlns:a="http://schemas.openxmlformats.org/drawingml/2006/main">
            <a:off x="742950" y="742950"/>
            <a:ext cx="781050" cy="0"/>
          </a:xfrm>
          <a:prstGeom xmlns:a="http://schemas.openxmlformats.org/drawingml/2006/main" prst="line">
            <a:avLst/>
          </a:prstGeom>
          <a:noFill xmlns:a="http://schemas.openxmlformats.org/drawingml/2006/main"/>
          <a:ln xmlns:a="http://schemas.openxmlformats.org/drawingml/2006/main" w="38100">
            <a:solidFill>
              <a:srgbClr val="2F7560"/>
            </a:solidFill>
            <a:prstDash val="solid"/>
          </a:ln>
        </p:spPr>
      </p:sp>
      <p:sp>
        <p:nvSpPr>
          <p:cNvPr id="2" name="">
            <a:extLst xmlns:a="http://schemas.openxmlformats.org/drawingml/2006/main">
              <a:ext uri="{FF2B5EF4-FFF2-40B4-BE49-F238E27FC236}">
                <a16:creationId xmlns:a16="http://schemas.microsoft.com/office/drawing/2014/main" id="{83C37FFE-C873-4CB3-B486-5F038A42A8B0}"/>
              </a:ext>
            </a:extLst>
          </p:cNvPr>
          <p:cNvSpPr>
            <a:spLocks xmlns:a="http://schemas.openxmlformats.org/drawingml/2006/main" noGrp="1"/>
          </p:cNvSpPr>
          <p:nvPr/>
        </p:nvSpPr>
        <p:spPr>
          <a:xfrm xmlns:a="http://schemas.openxmlformats.org/drawingml/2006/main">
            <a:off x="742950" y="1257300"/>
            <a:ext cx="723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525" b="1">
                <a:solidFill>
                  <a:srgbClr val="17212B"/>
                </a:solidFill>
                <a:latin typeface="Roboto"/>
                <a:ea typeface="Roboto"/>
                <a:cs typeface="Roboto"/>
              </a:defRPr>
            </a:pPr>
            <a:r>
              <a:rPr sz="3525" b="1">
                <a:solidFill>
                  <a:srgbClr val="17212B"/>
                </a:solidFill>
                <a:latin typeface="Roboto"/>
                <a:ea typeface="Roboto"/>
                <a:cs typeface="Roboto"/>
              </a:rPr>
              <a:t>Can we connect every</a:t>
            </a:r>
          </a:p>
          <a:p xmlns:a="http://schemas.openxmlformats.org/drawingml/2006/main">
            <a:pPr algn="l">
              <a:lnSpc>
                <a:spcPct val="98000"/>
              </a:lnSpc>
              <a:buNone/>
              <a:defRPr sz="3525" b="1">
                <a:solidFill>
                  <a:srgbClr val="17212B"/>
                </a:solidFill>
                <a:latin typeface="Roboto"/>
                <a:ea typeface="Roboto"/>
                <a:cs typeface="Roboto"/>
              </a:defRPr>
            </a:pPr>
            <a:r>
              <a:rPr sz="3525" b="1">
                <a:solidFill>
                  <a:srgbClr val="17212B"/>
                </a:solidFill>
                <a:latin typeface="Roboto"/>
                <a:ea typeface="Roboto"/>
                <a:cs typeface="Roboto"/>
              </a:rPr>
              <a:t>important release to an</a:t>
            </a:r>
          </a:p>
          <a:p xmlns:a="http://schemas.openxmlformats.org/drawingml/2006/main">
            <a:pPr algn="l">
              <a:lnSpc>
                <a:spcPct val="98000"/>
              </a:lnSpc>
              <a:buNone/>
              <a:defRPr sz="3525" b="1">
                <a:solidFill>
                  <a:srgbClr val="17212B"/>
                </a:solidFill>
                <a:latin typeface="Roboto"/>
                <a:ea typeface="Roboto"/>
                <a:cs typeface="Roboto"/>
              </a:defRPr>
            </a:pPr>
            <a:r>
              <a:rPr sz="3525" b="1">
                <a:solidFill>
                  <a:srgbClr val="17212B"/>
                </a:solidFill>
                <a:latin typeface="Roboto"/>
                <a:ea typeface="Roboto"/>
                <a:cs typeface="Roboto"/>
              </a:rPr>
              <a:t>approved change and a</a:t>
            </a:r>
          </a:p>
          <a:p xmlns:a="http://schemas.openxmlformats.org/drawingml/2006/main">
            <a:pPr algn="l">
              <a:lnSpc>
                <a:spcPct val="98000"/>
              </a:lnSpc>
              <a:buNone/>
              <a:defRPr sz="3525" b="1">
                <a:solidFill>
                  <a:srgbClr val="17212B"/>
                </a:solidFill>
                <a:latin typeface="Roboto"/>
                <a:ea typeface="Roboto"/>
                <a:cs typeface="Roboto"/>
              </a:defRPr>
            </a:pPr>
            <a:r>
              <a:rPr sz="3525" b="1">
                <a:solidFill>
                  <a:srgbClr val="17212B"/>
                </a:solidFill>
                <a:latin typeface="Roboto"/>
                <a:ea typeface="Roboto"/>
                <a:cs typeface="Roboto"/>
              </a:rPr>
              <a:t>trusted build?</a:t>
            </a:r>
          </a:p>
        </p:txBody>
      </p:sp>
      <p:sp>
        <p:nvSpPr>
          <p:cNvPr id="3" name="">
            <a:extLst xmlns:a="http://schemas.openxmlformats.org/drawingml/2006/main">
              <a:ext uri="{FF2B5EF4-FFF2-40B4-BE49-F238E27FC236}">
                <a16:creationId xmlns:a16="http://schemas.microsoft.com/office/drawing/2014/main" id="{CF739F8C-179A-4AB1-A830-B6B58B419D44}"/>
              </a:ext>
            </a:extLst>
          </p:cNvPr>
          <p:cNvSpPr>
            <a:spLocks xmlns:a="http://schemas.openxmlformats.org/drawingml/2006/main" noGrp="1"/>
          </p:cNvSpPr>
          <p:nvPr/>
        </p:nvSpPr>
        <p:spPr>
          <a:xfrm xmlns:a="http://schemas.openxmlformats.org/drawingml/2006/main">
            <a:off x="990600" y="4933950"/>
            <a:ext cx="9620250" cy="0"/>
          </a:xfrm>
          <a:prstGeom xmlns:a="http://schemas.openxmlformats.org/drawingml/2006/main" prst="line">
            <a:avLst/>
          </a:prstGeom>
          <a:noFill xmlns:a="http://schemas.openxmlformats.org/drawingml/2006/main"/>
          <a:ln xmlns:a="http://schemas.openxmlformats.org/drawingml/2006/main" w="28575">
            <a:solidFill>
              <a:srgbClr val="2F7560"/>
            </a:solidFill>
            <a:prstDash val="solid"/>
          </a:ln>
        </p:spPr>
      </p:sp>
      <p:sp>
        <p:nvSpPr>
          <p:cNvPr id="4" name="">
            <a:extLst xmlns:a="http://schemas.openxmlformats.org/drawingml/2006/main">
              <a:ext uri="{FF2B5EF4-FFF2-40B4-BE49-F238E27FC236}">
                <a16:creationId xmlns:a16="http://schemas.microsoft.com/office/drawing/2014/main" id="{DA292979-BA16-46B3-AA81-210D63595FDF}"/>
              </a:ext>
            </a:extLst>
          </p:cNvPr>
          <p:cNvSpPr>
            <a:spLocks xmlns:a="http://schemas.openxmlformats.org/drawingml/2006/main" noGrp="1"/>
          </p:cNvSpPr>
          <p:nvPr/>
        </p:nvSpPr>
        <p:spPr>
          <a:xfrm xmlns:a="http://schemas.openxmlformats.org/drawingml/2006/main">
            <a:off x="819150" y="4695825"/>
            <a:ext cx="476250" cy="47625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125" b="1">
                <a:solidFill>
                  <a:srgbClr val="2F7560"/>
                </a:solidFill>
                <a:latin typeface="Roboto"/>
                <a:ea typeface="Roboto"/>
                <a:cs typeface="Roboto"/>
              </a:defRPr>
            </a:pPr>
            <a:r>
              <a:rPr sz="1125" b="1">
                <a:solidFill>
                  <a:srgbClr val="2F7560"/>
                </a:solidFill>
                <a:latin typeface="Roboto"/>
                <a:ea typeface="Roboto"/>
                <a:cs typeface="Roboto"/>
              </a:rPr>
              <a:t>1</a:t>
            </a:r>
          </a:p>
        </p:txBody>
      </p:sp>
      <p:sp>
        <p:nvSpPr>
          <p:cNvPr id="5" name="">
            <a:extLst xmlns:a="http://schemas.openxmlformats.org/drawingml/2006/main">
              <a:ext uri="{FF2B5EF4-FFF2-40B4-BE49-F238E27FC236}">
                <a16:creationId xmlns:a16="http://schemas.microsoft.com/office/drawing/2014/main" id="{C898464D-0EA7-4EF1-9C9B-EAC4464F513D}"/>
              </a:ext>
            </a:extLst>
          </p:cNvPr>
          <p:cNvSpPr>
            <a:spLocks xmlns:a="http://schemas.openxmlformats.org/drawingml/2006/main" noGrp="1"/>
          </p:cNvSpPr>
          <p:nvPr/>
        </p:nvSpPr>
        <p:spPr>
          <a:xfrm xmlns:a="http://schemas.openxmlformats.org/drawingml/2006/main">
            <a:off x="285750" y="53530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7212B"/>
                </a:solidFill>
                <a:latin typeface="Roboto"/>
                <a:ea typeface="Roboto"/>
                <a:cs typeface="Roboto"/>
              </a:defRPr>
            </a:pPr>
            <a:r>
              <a:rPr sz="1200" b="1">
                <a:solidFill>
                  <a:srgbClr val="17212B"/>
                </a:solidFill>
                <a:latin typeface="Roboto"/>
                <a:ea typeface="Roboto"/>
                <a:cs typeface="Roboto"/>
              </a:rPr>
              <a:t>Approved change</a:t>
            </a:r>
          </a:p>
        </p:txBody>
      </p:sp>
      <p:sp>
        <p:nvSpPr>
          <p:cNvPr id="6" name="">
            <a:extLst xmlns:a="http://schemas.openxmlformats.org/drawingml/2006/main">
              <a:ext uri="{FF2B5EF4-FFF2-40B4-BE49-F238E27FC236}">
                <a16:creationId xmlns:a16="http://schemas.microsoft.com/office/drawing/2014/main" id="{90C54C66-71A7-49E0-B0A4-7FE8375CB9F6}"/>
              </a:ext>
            </a:extLst>
          </p:cNvPr>
          <p:cNvSpPr>
            <a:spLocks xmlns:a="http://schemas.openxmlformats.org/drawingml/2006/main" noGrp="1"/>
          </p:cNvSpPr>
          <p:nvPr/>
        </p:nvSpPr>
        <p:spPr>
          <a:xfrm xmlns:a="http://schemas.openxmlformats.org/drawingml/2006/main">
            <a:off x="3162300" y="4695825"/>
            <a:ext cx="476250" cy="47625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125" b="1">
                <a:solidFill>
                  <a:srgbClr val="2F7560"/>
                </a:solidFill>
                <a:latin typeface="Roboto"/>
                <a:ea typeface="Roboto"/>
                <a:cs typeface="Roboto"/>
              </a:defRPr>
            </a:pPr>
            <a:r>
              <a:rPr sz="1125" b="1">
                <a:solidFill>
                  <a:srgbClr val="2F7560"/>
                </a:solidFill>
                <a:latin typeface="Roboto"/>
                <a:ea typeface="Roboto"/>
                <a:cs typeface="Roboto"/>
              </a:rPr>
              <a:t>2</a:t>
            </a:r>
          </a:p>
        </p:txBody>
      </p:sp>
      <p:sp>
        <p:nvSpPr>
          <p:cNvPr id="7" name="">
            <a:extLst xmlns:a="http://schemas.openxmlformats.org/drawingml/2006/main">
              <a:ext uri="{FF2B5EF4-FFF2-40B4-BE49-F238E27FC236}">
                <a16:creationId xmlns:a16="http://schemas.microsoft.com/office/drawing/2014/main" id="{FB0274C2-A02F-4ED8-BAF1-9D1720C33D5F}"/>
              </a:ext>
            </a:extLst>
          </p:cNvPr>
          <p:cNvSpPr>
            <a:spLocks xmlns:a="http://schemas.openxmlformats.org/drawingml/2006/main" noGrp="1"/>
          </p:cNvSpPr>
          <p:nvPr/>
        </p:nvSpPr>
        <p:spPr>
          <a:xfrm xmlns:a="http://schemas.openxmlformats.org/drawingml/2006/main">
            <a:off x="2628900" y="53530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7212B"/>
                </a:solidFill>
                <a:latin typeface="Roboto"/>
                <a:ea typeface="Roboto"/>
                <a:cs typeface="Roboto"/>
              </a:defRPr>
            </a:pPr>
            <a:r>
              <a:rPr sz="1200" b="1">
                <a:solidFill>
                  <a:srgbClr val="17212B"/>
                </a:solidFill>
                <a:latin typeface="Roboto"/>
                <a:ea typeface="Roboto"/>
                <a:cs typeface="Roboto"/>
              </a:rPr>
              <a:t>Build</a:t>
            </a:r>
          </a:p>
        </p:txBody>
      </p:sp>
      <p:sp>
        <p:nvSpPr>
          <p:cNvPr id="8" name="">
            <a:extLst xmlns:a="http://schemas.openxmlformats.org/drawingml/2006/main">
              <a:ext uri="{FF2B5EF4-FFF2-40B4-BE49-F238E27FC236}">
                <a16:creationId xmlns:a16="http://schemas.microsoft.com/office/drawing/2014/main" id="{F1C0708B-4870-4F52-8601-31275D7E1A8D}"/>
              </a:ext>
            </a:extLst>
          </p:cNvPr>
          <p:cNvSpPr>
            <a:spLocks xmlns:a="http://schemas.openxmlformats.org/drawingml/2006/main" noGrp="1"/>
          </p:cNvSpPr>
          <p:nvPr/>
        </p:nvSpPr>
        <p:spPr>
          <a:xfrm xmlns:a="http://schemas.openxmlformats.org/drawingml/2006/main">
            <a:off x="5505450" y="4695825"/>
            <a:ext cx="476250" cy="47625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125" b="1">
                <a:solidFill>
                  <a:srgbClr val="2F7560"/>
                </a:solidFill>
                <a:latin typeface="Roboto"/>
                <a:ea typeface="Roboto"/>
                <a:cs typeface="Roboto"/>
              </a:defRPr>
            </a:pPr>
            <a:r>
              <a:rPr sz="1125" b="1">
                <a:solidFill>
                  <a:srgbClr val="2F7560"/>
                </a:solidFill>
                <a:latin typeface="Roboto"/>
                <a:ea typeface="Roboto"/>
                <a:cs typeface="Roboto"/>
              </a:rPr>
              <a:t>3</a:t>
            </a:r>
          </a:p>
        </p:txBody>
      </p:sp>
      <p:sp>
        <p:nvSpPr>
          <p:cNvPr id="9" name="">
            <a:extLst xmlns:a="http://schemas.openxmlformats.org/drawingml/2006/main">
              <a:ext uri="{FF2B5EF4-FFF2-40B4-BE49-F238E27FC236}">
                <a16:creationId xmlns:a16="http://schemas.microsoft.com/office/drawing/2014/main" id="{4B667AEA-6758-4F41-BED0-9DE125B76792}"/>
              </a:ext>
            </a:extLst>
          </p:cNvPr>
          <p:cNvSpPr>
            <a:spLocks xmlns:a="http://schemas.openxmlformats.org/drawingml/2006/main" noGrp="1"/>
          </p:cNvSpPr>
          <p:nvPr/>
        </p:nvSpPr>
        <p:spPr>
          <a:xfrm xmlns:a="http://schemas.openxmlformats.org/drawingml/2006/main">
            <a:off x="4972050" y="53530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7212B"/>
                </a:solidFill>
                <a:latin typeface="Roboto"/>
                <a:ea typeface="Roboto"/>
                <a:cs typeface="Roboto"/>
              </a:defRPr>
            </a:pPr>
            <a:r>
              <a:rPr sz="1200" b="1">
                <a:solidFill>
                  <a:srgbClr val="17212B"/>
                </a:solidFill>
                <a:latin typeface="Roboto"/>
                <a:ea typeface="Roboto"/>
                <a:cs typeface="Roboto"/>
              </a:rPr>
              <a:t>Artifact</a:t>
            </a:r>
          </a:p>
        </p:txBody>
      </p:sp>
      <p:sp>
        <p:nvSpPr>
          <p:cNvPr id="10" name="">
            <a:extLst xmlns:a="http://schemas.openxmlformats.org/drawingml/2006/main">
              <a:ext uri="{FF2B5EF4-FFF2-40B4-BE49-F238E27FC236}">
                <a16:creationId xmlns:a16="http://schemas.microsoft.com/office/drawing/2014/main" id="{4C6F4760-5C64-4BAF-ACBC-0402A59298B6}"/>
              </a:ext>
            </a:extLst>
          </p:cNvPr>
          <p:cNvSpPr>
            <a:spLocks xmlns:a="http://schemas.openxmlformats.org/drawingml/2006/main" noGrp="1"/>
          </p:cNvSpPr>
          <p:nvPr/>
        </p:nvSpPr>
        <p:spPr>
          <a:xfrm xmlns:a="http://schemas.openxmlformats.org/drawingml/2006/main">
            <a:off x="7848600" y="4695825"/>
            <a:ext cx="476250" cy="47625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125" b="1">
                <a:solidFill>
                  <a:srgbClr val="2F7560"/>
                </a:solidFill>
                <a:latin typeface="Roboto"/>
                <a:ea typeface="Roboto"/>
                <a:cs typeface="Roboto"/>
              </a:defRPr>
            </a:pPr>
            <a:r>
              <a:rPr sz="1125" b="1">
                <a:solidFill>
                  <a:srgbClr val="2F7560"/>
                </a:solidFill>
                <a:latin typeface="Roboto"/>
                <a:ea typeface="Roboto"/>
                <a:cs typeface="Roboto"/>
              </a:rPr>
              <a:t>4</a:t>
            </a:r>
          </a:p>
        </p:txBody>
      </p:sp>
      <p:sp>
        <p:nvSpPr>
          <p:cNvPr id="11" name="">
            <a:extLst xmlns:a="http://schemas.openxmlformats.org/drawingml/2006/main">
              <a:ext uri="{FF2B5EF4-FFF2-40B4-BE49-F238E27FC236}">
                <a16:creationId xmlns:a16="http://schemas.microsoft.com/office/drawing/2014/main" id="{AF803C4D-EB25-453C-9D06-05AB82C4D137}"/>
              </a:ext>
            </a:extLst>
          </p:cNvPr>
          <p:cNvSpPr>
            <a:spLocks xmlns:a="http://schemas.openxmlformats.org/drawingml/2006/main" noGrp="1"/>
          </p:cNvSpPr>
          <p:nvPr/>
        </p:nvSpPr>
        <p:spPr>
          <a:xfrm xmlns:a="http://schemas.openxmlformats.org/drawingml/2006/main">
            <a:off x="7315200" y="53530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7212B"/>
                </a:solidFill>
                <a:latin typeface="Roboto"/>
                <a:ea typeface="Roboto"/>
                <a:cs typeface="Roboto"/>
              </a:defRPr>
            </a:pPr>
            <a:r>
              <a:rPr sz="1200" b="1">
                <a:solidFill>
                  <a:srgbClr val="17212B"/>
                </a:solidFill>
                <a:latin typeface="Roboto"/>
                <a:ea typeface="Roboto"/>
                <a:cs typeface="Roboto"/>
              </a:rPr>
              <a:t>Deployment</a:t>
            </a:r>
          </a:p>
        </p:txBody>
      </p:sp>
      <p:sp>
        <p:nvSpPr>
          <p:cNvPr id="12" name="">
            <a:extLst xmlns:a="http://schemas.openxmlformats.org/drawingml/2006/main">
              <a:ext uri="{FF2B5EF4-FFF2-40B4-BE49-F238E27FC236}">
                <a16:creationId xmlns:a16="http://schemas.microsoft.com/office/drawing/2014/main" id="{25162D72-94D2-4548-B412-795A90BE63D9}"/>
              </a:ext>
            </a:extLst>
          </p:cNvPr>
          <p:cNvSpPr>
            <a:spLocks xmlns:a="http://schemas.openxmlformats.org/drawingml/2006/main" noGrp="1"/>
          </p:cNvSpPr>
          <p:nvPr/>
        </p:nvSpPr>
        <p:spPr>
          <a:xfrm xmlns:a="http://schemas.openxmlformats.org/drawingml/2006/main">
            <a:off x="10191750" y="4695825"/>
            <a:ext cx="476250" cy="476250"/>
          </a:xfrm>
          <a:prstGeom xmlns:a="http://schemas.openxmlformats.org/drawingml/2006/main" prst="ellipse">
            <a:avLst/>
          </a:prstGeom>
          <a:solidFill xmlns:a="http://schemas.openxmlformats.org/drawingml/2006/main">
            <a:srgbClr val="FBFAF6"/>
          </a:solidFill>
          <a:ln xmlns:a="http://schemas.openxmlformats.org/drawingml/2006/main" w="20955">
            <a:solidFill>
              <a:srgbClr val="2F7560"/>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defRPr sz="1125" b="1">
                <a:solidFill>
                  <a:srgbClr val="2F7560"/>
                </a:solidFill>
                <a:latin typeface="Roboto"/>
                <a:ea typeface="Roboto"/>
                <a:cs typeface="Roboto"/>
              </a:defRPr>
            </a:pPr>
            <a:r>
              <a:rPr sz="1125" b="1">
                <a:solidFill>
                  <a:srgbClr val="2F7560"/>
                </a:solidFill>
                <a:latin typeface="Roboto"/>
                <a:ea typeface="Roboto"/>
                <a:cs typeface="Roboto"/>
              </a:rPr>
              <a:t>5</a:t>
            </a:r>
          </a:p>
        </p:txBody>
      </p:sp>
      <p:sp>
        <p:nvSpPr>
          <p:cNvPr id="13" name="">
            <a:extLst xmlns:a="http://schemas.openxmlformats.org/drawingml/2006/main">
              <a:ext uri="{FF2B5EF4-FFF2-40B4-BE49-F238E27FC236}">
                <a16:creationId xmlns:a16="http://schemas.microsoft.com/office/drawing/2014/main" id="{63A2B19F-779F-4338-9C9F-A922FDF206E0}"/>
              </a:ext>
            </a:extLst>
          </p:cNvPr>
          <p:cNvSpPr>
            <a:spLocks xmlns:a="http://schemas.openxmlformats.org/drawingml/2006/main" noGrp="1"/>
          </p:cNvSpPr>
          <p:nvPr/>
        </p:nvSpPr>
        <p:spPr>
          <a:xfrm xmlns:a="http://schemas.openxmlformats.org/drawingml/2006/main">
            <a:off x="9658350" y="53530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7212B"/>
                </a:solidFill>
                <a:latin typeface="Roboto"/>
                <a:ea typeface="Roboto"/>
                <a:cs typeface="Roboto"/>
              </a:defRPr>
            </a:pPr>
            <a:r>
              <a:rPr sz="1200" b="1">
                <a:solidFill>
                  <a:srgbClr val="17212B"/>
                </a:solidFill>
                <a:latin typeface="Roboto"/>
                <a:ea typeface="Roboto"/>
                <a:cs typeface="Roboto"/>
              </a:rPr>
              <a:t>Running application</a:t>
            </a:r>
          </a:p>
        </p:txBody>
      </p:sp>
      <p:sp>
        <p:nvSpPr>
          <p:cNvPr id="14" name="">
            <a:extLst xmlns:a="http://schemas.openxmlformats.org/drawingml/2006/main">
              <a:ext uri="{FF2B5EF4-FFF2-40B4-BE49-F238E27FC236}">
                <a16:creationId xmlns:a16="http://schemas.microsoft.com/office/drawing/2014/main" id="{09F49AA6-B61B-4D15-B353-4F6890DE7A1C}"/>
              </a:ext>
            </a:extLst>
          </p:cNvPr>
          <p:cNvSpPr>
            <a:spLocks xmlns:a="http://schemas.openxmlformats.org/drawingml/2006/main" noGrp="1"/>
          </p:cNvSpPr>
          <p:nvPr/>
        </p:nvSpPr>
        <p:spPr>
          <a:xfrm xmlns:a="http://schemas.openxmlformats.org/drawingml/2006/main">
            <a:off x="762000" y="609600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46515C"/>
                </a:solidFill>
                <a:latin typeface="Roboto"/>
                <a:ea typeface="Roboto"/>
                <a:cs typeface="Roboto"/>
              </a:defRPr>
            </a:pPr>
            <a:r>
              <a:rPr sz="1125" b="0">
                <a:solidFill>
                  <a:srgbClr val="46515C"/>
                </a:solidFill>
                <a:latin typeface="Roboto"/>
                <a:ea typeface="Roboto"/>
                <a:cs typeface="Roboto"/>
              </a:rPr>
              <a:t>Take-home lab: pipeline, application, and developer scenarios</a:t>
            </a:r>
          </a:p>
        </p:txBody>
      </p:sp>
      <p:sp>
        <p:nvSpPr>
          <p:cNvPr id="15" name="">
            <a:extLst xmlns:a="http://schemas.openxmlformats.org/drawingml/2006/main">
              <a:ext uri="{FF2B5EF4-FFF2-40B4-BE49-F238E27FC236}">
                <a16:creationId xmlns:a16="http://schemas.microsoft.com/office/drawing/2014/main" id="{63924E95-7D5B-4203-8854-9B2E37B26CCA}"/>
              </a:ext>
            </a:extLst>
          </p:cNvPr>
          <p:cNvSpPr>
            <a:spLocks xmlns:a="http://schemas.openxmlformats.org/drawingml/2006/main" noGrp="1"/>
          </p:cNvSpPr>
          <p:nvPr/>
        </p:nvSpPr>
        <p:spPr>
          <a:xfrm xmlns:a="http://schemas.openxmlformats.org/drawingml/2006/main">
            <a:off x="9525000" y="609600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050" b="1">
                <a:solidFill>
                  <a:srgbClr val="77818B"/>
                </a:solidFill>
                <a:latin typeface="Roboto"/>
                <a:ea typeface="Roboto"/>
                <a:cs typeface="Roboto"/>
              </a:defRPr>
            </a:pPr>
            <a:r>
              <a:rPr sz="1050" b="1">
                <a:solidFill>
                  <a:srgbClr val="77818B"/>
                </a:solidFill>
                <a:latin typeface="Roboto"/>
                <a:ea typeface="Roboto"/>
                <a:cs typeface="Roboto"/>
              </a:rPr>
              <a:t>Yair Mentesh</a:t>
            </a:r>
          </a:p>
        </p:txBody>
      </p:sp>
      <p:sp>
        <p:nvSpPr>
          <p:cNvPr id="16" name="">
            <a:extLst xmlns:a="http://schemas.openxmlformats.org/drawingml/2006/main">
              <a:ext uri="{FF2B5EF4-FFF2-40B4-BE49-F238E27FC236}">
                <a16:creationId xmlns:a16="http://schemas.microsoft.com/office/drawing/2014/main" id="{43563200-7E3D-48AF-9198-8F5CA88FDE59}"/>
              </a:ext>
            </a:extLst>
          </p:cNvPr>
          <p:cNvSpPr>
            <a:spLocks xmlns:a="http://schemas.openxmlformats.org/drawingml/2006/main" noGrp="1"/>
          </p:cNvSpPr>
          <p:nvPr/>
        </p:nvSpPr>
        <p:spPr>
          <a:xfrm xmlns:a="http://schemas.openxmlformats.org/drawingml/2006/main">
            <a:off x="11372850" y="6400800"/>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77818B"/>
                </a:solidFill>
                <a:latin typeface="Roboto"/>
                <a:ea typeface="Roboto"/>
                <a:cs typeface="Roboto"/>
              </a:defRPr>
            </a:pPr>
            <a:r>
              <a:rPr sz="900" b="0">
                <a:solidFill>
                  <a:srgbClr val="77818B"/>
                </a:solidFill>
                <a:latin typeface="Roboto"/>
                <a:ea typeface="Roboto"/>
                <a:cs typeface="Roboto"/>
              </a:rPr>
              <a:t>11</a:t>
            </a:r>
          </a:p>
        </p:txBody>
      </p:sp>
    </p:spTree>
    <p:extLst>
      <p:ext uri="{BB962C8B-B14F-4D97-AF65-F5344CB8AC3E}">
        <p14:creationId xmlns:p14="http://schemas.microsoft.com/office/powerpoint/2010/main" val="768633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2026-09-28T10:36:19.8220000Z</dcterms:created>
  <dcterms:modified xsi:type="dcterms:W3CDTF">2026-09-28T10:36:19.8220000Z</dcterms:modified>
</coreProperties>
</file>